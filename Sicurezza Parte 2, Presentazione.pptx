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f49b1ff-53a7-771c-51dc-8aa74d52e135}">
          <p14:sldIdLst>
            <p14:sldId id="256"/>
            <p14:sldId id="257"/>
          </p14:sldIdLst>
        </p14:section>
        <p14:section name="Perché" id="{01c7ba38-c350-436c-a1f0-fec1d94f1889}">
          <p14:sldIdLst>
            <p14:sldId id="258"/>
            <p14:sldId id="259"/>
            <p14:sldId id="260"/>
          </p14:sldIdLst>
        </p14:section>
        <p14:section name="Regole chiave" id="{db4bd647-a6b9-f5cd-2b2c-a51e12adff18}">
          <p14:sldIdLst>
            <p14:sldId id="261"/>
            <p14:sldId id="262"/>
          </p14:sldIdLst>
        </p14:section>
        <p14:section name="Il materiale" id="{87cc3121-158f-712b-a5e1-a83abfb34203}">
          <p14:sldIdLst>
            <p14:sldId id="263"/>
          </p14:sldIdLst>
        </p14:section>
        <p14:section name="Adesso" id="{f8235499-4869-656c-4a00-5072ad1dc1f9}">
          <p14:sldIdLst>
            <p14:sldId id="264"/>
            <p14:sldId id="265"/>
          </p14:sldIdLst>
        </p14:section>
        <p14:section name="Chiusura" id="{ebbb62ff-4e57-4eed-5d01-fcbcc80aabc9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Parte 1 riguardava te come persona. La Parte 2 riguarda il lavoro: le regole uguali per tutti in azienda e cosa fare quando succede qualcosa. È obbligatoria per tutti, collaboratori esterni compresi. Anche qui: oggi l’introduzione, il dettaglio è nel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blocchi. Le regole sono poche e pratiche. I processi dicono cosa fare passo per passo, così nessuno improvvisa. Le policy sono la versione formale, da leggere e firmare. Tutto allineato alla norma ISO 27001 e alla nuova legge svizzera sulla protezione dei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della Parte 2. Ogni truffa aziendale ha due ingredienti: una persona sola e la fretta. Le regole tolgono entrambi: una seconda persona che approva e una verifica su un canale diverso. Così, sotto pressione, non devi decidere tu: segui la regola.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sinistra il perimetro che gestiscono i tecnici: server, posta aziendale, backup. A destra il tuo: telefono, password, cosa clicchi, cosa dici al telefono. Si incontrano nel tuo account aziendale, e le chiavi le hai tu. Attenzione: per la nuova legge sulla protezione dei dati la multa, fino a 250’000 franchi, colpisce di regola la persona responsabile, per violazioni intenzionali.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Arup è una grande società di ingegneria. Il dipendente aveva sospettato qualcosa, ma vedere in video persone che conosceva lo ha convinto. Con l’AI oggi si falsificano voce e volto. Per questo la regola non si basa su chi vedi o senti, ma su una verifica fatta da te, su un canale che controlli tu, più una seconda 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regola da ricordare oggi: ogni dato ha un livello e il livello decide dove può andare. Un annuncio pubblicato va ovunque. Un contratto va solo a chi serve, per nome. Una password o un documento d’identità non va mai su WhatsApp né in un’AI. Se non sai il livello, trattalo come Confidenziale.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succede qualcosa: stop, stacca, non spegnere, segnala. In quest’ordine, subito, senza vergogna. Non spegnere sembra strano, ma la memoria del computer contiene le tracce di cosa è successo. L’unica eccezione è un ransomware in corso, cioè file che cambiano nome davanti a voi: lì ogni secondo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Sezione A: le regole, per argomento. Sezione B: i processi, cioè cosa fare se succede, il setup guidato dei dispositivi con 12 guide per Mac, Windows, iPhone e Android, e cosa cambia quando si entra, si cambia ruolo o si esce. Sezione C: policy,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 concrete, adesso. Il numero del referente IT serve nel momento peggiore, quando il computer potrebbe non funzionare: per questo va nel telefono. La regola della richiamata ferma la maggior parte delle truffe su pagamenti e cambi di IBAN. La classificazione si impara facendola.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Le regole sono uguali per tutti e servono a non decidere da soli sotto pressione. Se succede qualcosa, segnalare subito è sempre giusto.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 · Regole e processi aziendali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verizon.com/business/resources/T161/reports/2026-dbir-data-breach-investigations-report.pdf" TargetMode="External"/><Relationship Id="rId2" Type="http://schemas.openxmlformats.org/officeDocument/2006/relationships/hyperlink" Target="https://www.fedlex.admin.ch/eli/cc/2022/491/it" TargetMode="External"/><Relationship Id="rId3" Type="http://schemas.openxmlformats.org/officeDocument/2006/relationships/hyperlink" Target="https://www.cnn.com/2024/05/16/tech/arup-deepfake-scam-loss-hong-kong-intl-hnk" TargetMode="External"/><Relationship Id="rId4" Type="http://schemas.openxmlformats.org/officeDocument/2006/relationships/hyperlink" Target="https://www.dezeen.com/2024/05/17/arup-victim-deepfake-video-scam/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Regole e processi aziendali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 comuni per proteggere dati, soldi e persone. E cosa fare quando qualcosa va storto.</a:t>
            </a:r>
            <a:endParaRPr lang="en-US" sz="2000" dirty="0"/>
          </a:p>
        </p:txBody>
      </p:sp>
      <p:sp>
        <p:nvSpPr>
          <p:cNvPr id="5" name="pill Per tutti, obbligatorio"/>
          <p:cNvSpPr/>
          <p:nvPr/>
        </p:nvSpPr>
        <p:spPr>
          <a:xfrm>
            <a:off x="685800" y="4892040"/>
            <a:ext cx="2455164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, obbligatorio"/>
          <p:cNvSpPr txBox="1"/>
          <p:nvPr/>
        </p:nvSpPr>
        <p:spPr>
          <a:xfrm>
            <a:off x="685800" y="4892040"/>
            <a:ext cx="24551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obbligatorio</a:t>
            </a:r>
            <a:endParaRPr lang="en-US" sz="1300" dirty="0"/>
          </a:p>
        </p:txBody>
      </p:sp>
      <p:sp>
        <p:nvSpPr>
          <p:cNvPr id="7" name="pill Prima: Parte 1, livello 1"/>
          <p:cNvSpPr/>
          <p:nvPr/>
        </p:nvSpPr>
        <p:spPr>
          <a:xfrm>
            <a:off x="3278124" y="4892040"/>
            <a:ext cx="262890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Prima: Parte 1, livello 1"/>
          <p:cNvSpPr txBox="1"/>
          <p:nvPr/>
        </p:nvSpPr>
        <p:spPr>
          <a:xfrm>
            <a:off x="3278124" y="4892040"/>
            <a:ext cx="26289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Prima: Parte 1, livello 1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685800" y="544068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685800" y="544068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12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16" name="Dato testo 12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aziendali, in breve</a:t>
            </a:r>
            <a:endParaRPr lang="en-US" sz="1400" dirty="0"/>
          </a:p>
        </p:txBody>
      </p:sp>
      <p:sp>
        <p:nvSpPr>
          <p:cNvPr id="17" name="Dato 8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18" name="Dato testo 8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playbook: cosa fare se succede</a:t>
            </a:r>
            <a:endParaRPr lang="en-US" sz="1400" dirty="0"/>
          </a:p>
        </p:txBody>
      </p:sp>
      <p:sp>
        <p:nvSpPr>
          <p:cNvPr id="19" name="Dato 12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400" dirty="0"/>
          </a:p>
        </p:txBody>
      </p:sp>
      <p:sp>
        <p:nvSpPr>
          <p:cNvPr id="20" name="Dato testo 12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passo passo per il setup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Le regol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Le regol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Le rego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Le regol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regole</a:t>
            </a:r>
            <a:endParaRPr lang="en-US" sz="2100" dirty="0"/>
          </a:p>
        </p:txBody>
      </p:sp>
      <p:sp>
        <p:nvSpPr>
          <p:cNvPr id="8" name="Testo Le regol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email, pagamenti, dispositivi, dati e AI: cosa si fa e cosa no.</a:t>
            </a:r>
            <a:endParaRPr lang="en-US" sz="1600" dirty="0"/>
          </a:p>
        </p:txBody>
      </p:sp>
      <p:sp>
        <p:nvSpPr>
          <p:cNvPr id="9" name="Scheda I processi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I processi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I process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I processi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processi</a:t>
            </a:r>
            <a:endParaRPr lang="en-US" sz="2100" dirty="0"/>
          </a:p>
        </p:txBody>
      </p:sp>
      <p:sp>
        <p:nvSpPr>
          <p:cNvPr id="13" name="Testo I processi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fare se succede qualcosa, come configurare i dispositivi, cosa cambia quando entri o esci.</a:t>
            </a:r>
            <a:endParaRPr lang="en-US" sz="1600" dirty="0"/>
          </a:p>
        </p:txBody>
      </p:sp>
      <p:sp>
        <p:nvSpPr>
          <p:cNvPr id="14" name="Scheda Le policy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Le policy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Le polic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Le policy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policy</a:t>
            </a:r>
            <a:endParaRPr lang="en-US" sz="2100" dirty="0"/>
          </a:p>
        </p:txBody>
      </p:sp>
      <p:sp>
        <p:nvSpPr>
          <p:cNvPr id="18" name="Testo Le policy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aziendali in breve, allineate a ISO 27001 e alla legge sulla protezione dei dati.</a:t>
            </a:r>
            <a:endParaRPr lang="en-US" sz="1600" dirty="0"/>
          </a:p>
        </p:txBody>
      </p:sp>
      <p:sp>
        <p:nvSpPr>
          <p:cNvPr id="19" name="nota Valgono per tutti allo stesso modo,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Valgono per tutti allo stesso modo,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collaboratori esterni compresi. Non servono a controllarti: servono a proteggerti.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truffe funzionano quando decidi da solo e di fretta.</a:t>
            </a:r>
            <a:endParaRPr lang="en-US" sz="3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 le regole non decidi mai da solo, né di fretta.</a:t>
            </a:r>
            <a:endParaRPr lang="en-US" sz="32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3459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una regola chiara non improvvisi: se qualcuno ti mette fretta, la risposta è già scritta.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persone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4087368" y="4800600"/>
            <a:ext cx="714420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firmano ogni pagamento. Se la richiesta è nuova, urgente o insolita, prima si richiama a un numero già noto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L’azienda ha due perimetri. Uno sei tu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04110"/>
            <a:ext cx="6766560" cy="310134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7863840" y="1828800"/>
            <a:ext cx="3642055" cy="4251960"/>
          </a:xfrm>
          <a:prstGeom prst="roundRect">
            <a:avLst>
              <a:gd name="adj" fmla="val 3515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48% · ransomware"/>
          <p:cNvSpPr txBox="1"/>
          <p:nvPr/>
        </p:nvSpPr>
        <p:spPr>
          <a:xfrm>
            <a:off x="8138160" y="214884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ransomware</a:t>
            </a:r>
            <a:endParaRPr lang="en-US" sz="1800" dirty="0"/>
          </a:p>
        </p:txBody>
      </p:sp>
      <p:sp>
        <p:nvSpPr>
          <p:cNvPr id="7" name="Testo 48% · ransomware"/>
          <p:cNvSpPr txBox="1"/>
          <p:nvPr/>
        </p:nvSpPr>
        <p:spPr>
          <a:xfrm>
            <a:off x="8138160" y="2555748"/>
            <a:ext cx="309341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violazione su due coinvolge un ransomware: file bloccati o rubati e un riscatto (Verizon DBIR 2026).</a:t>
            </a:r>
            <a:endParaRPr lang="en-US" sz="1500" dirty="0"/>
          </a:p>
        </p:txBody>
      </p:sp>
      <p:sp>
        <p:nvSpPr>
          <p:cNvPr id="8" name="Punto 48% · fornitori"/>
          <p:cNvSpPr txBox="1"/>
          <p:nvPr/>
        </p:nvSpPr>
        <p:spPr>
          <a:xfrm>
            <a:off x="8138160" y="3832860"/>
            <a:ext cx="309341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· fornitori</a:t>
            </a:r>
            <a:endParaRPr lang="en-US" sz="1800" dirty="0"/>
          </a:p>
        </p:txBody>
      </p:sp>
      <p:sp>
        <p:nvSpPr>
          <p:cNvPr id="9" name="Testo 48% · fornitori"/>
          <p:cNvSpPr txBox="1"/>
          <p:nvPr/>
        </p:nvSpPr>
        <p:spPr>
          <a:xfrm>
            <a:off x="8138160" y="4239768"/>
            <a:ext cx="309341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Quasi una su due passa da un fornitore o un partner, in forte aumento (Verizon DBIR 2026).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capitolo 1: “Perché riguarda te”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videochiamata da 25 milioni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Gennaio 2024, Hong Kong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Gennaio 2024, Hong Kong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GENNAIO 2024, HONG KONG</a:t>
            </a:r>
            <a:endParaRPr lang="en-US" sz="1200" dirty="0"/>
          </a:p>
        </p:txBody>
      </p:sp>
      <p:sp>
        <p:nvSpPr>
          <p:cNvPr id="7" name="Fatto Gennaio 2024, Hong Kong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dipendente di Arup riceve un messaggio che sembra del direttore finanziario: serve un’operazione riservata.</a:t>
            </a:r>
            <a:endParaRPr lang="en-US" sz="1700" dirty="0"/>
          </a:p>
        </p:txBody>
      </p:sp>
      <p:sp>
        <p:nvSpPr>
          <p:cNvPr id="8" name="Punto La videochiamata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La videochiamata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VIDEOCHIAMATA</a:t>
            </a:r>
            <a:endParaRPr lang="en-US" sz="1200" dirty="0"/>
          </a:p>
        </p:txBody>
      </p:sp>
      <p:sp>
        <p:nvSpPr>
          <p:cNvPr id="10" name="Fatto La videochiamata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Sospetta, ma in video vede il direttore e alcuni colleghi. Facce e voci giuste. Sono tutti falsi, creati con l’AI.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5 conti: 200 milioni di dollari di Hong Kong, circa 25 milioni di dollari americani.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l’avrebbe fermato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Richiamare il direttore a un numero già noto e far approvare il pagamento da una seconda persona. È la regola dei 4 occhi.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regola dei 4 occhi passo per passo: capitolo 3. Se un pagamento è già partito: playbook nel capitolo 9.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Fonti: CNN, 16.05.2024 · Dezeen, 17.05.2024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REGOLA CHIAVE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Ogni dato ha un livello</a:t>
            </a:r>
            <a:endParaRPr lang="en-US" sz="3400" dirty="0"/>
          </a:p>
        </p:txBody>
      </p:sp>
      <p:sp>
        <p:nvSpPr>
          <p:cNvPr id="4" name="Livello Pubblico"/>
          <p:cNvSpPr/>
          <p:nvPr/>
        </p:nvSpPr>
        <p:spPr>
          <a:xfrm>
            <a:off x="685800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Livello testata"/>
          <p:cNvSpPr/>
          <p:nvPr/>
        </p:nvSpPr>
        <p:spPr>
          <a:xfrm>
            <a:off x="777240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6" name="Nome Pubblico"/>
          <p:cNvSpPr txBox="1"/>
          <p:nvPr/>
        </p:nvSpPr>
        <p:spPr>
          <a:xfrm>
            <a:off x="960120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</a:t>
            </a:r>
            <a:endParaRPr lang="en-US" sz="1900" dirty="0"/>
          </a:p>
        </p:txBody>
      </p:sp>
      <p:sp>
        <p:nvSpPr>
          <p:cNvPr id="7" name="Definizione Pubblico"/>
          <p:cNvSpPr txBox="1"/>
          <p:nvPr/>
        </p:nvSpPr>
        <p:spPr>
          <a:xfrm>
            <a:off x="960120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Fatto per essere visto da tutti</a:t>
            </a:r>
            <a:endParaRPr lang="en-US" sz="1500" dirty="0"/>
          </a:p>
        </p:txBody>
      </p:sp>
      <p:sp>
        <p:nvSpPr>
          <p:cNvPr id="8" name="Esempi Pubblico"/>
          <p:cNvSpPr txBox="1"/>
          <p:nvPr/>
        </p:nvSpPr>
        <p:spPr>
          <a:xfrm>
            <a:off x="960120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web, brochure, annunci pubblicati</a:t>
            </a:r>
            <a:endParaRPr lang="en-US" sz="1400" dirty="0"/>
          </a:p>
        </p:txBody>
      </p:sp>
      <p:sp>
        <p:nvSpPr>
          <p:cNvPr id="9" name="Livello Interno"/>
          <p:cNvSpPr/>
          <p:nvPr/>
        </p:nvSpPr>
        <p:spPr>
          <a:xfrm>
            <a:off x="3447974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Livello testata"/>
          <p:cNvSpPr/>
          <p:nvPr/>
        </p:nvSpPr>
        <p:spPr>
          <a:xfrm>
            <a:off x="3539414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1" name="Nome Interno"/>
          <p:cNvSpPr txBox="1"/>
          <p:nvPr/>
        </p:nvSpPr>
        <p:spPr>
          <a:xfrm>
            <a:off x="3722294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</a:t>
            </a:r>
            <a:endParaRPr lang="en-US" sz="1900" dirty="0"/>
          </a:p>
        </p:txBody>
      </p:sp>
      <p:sp>
        <p:nvSpPr>
          <p:cNvPr id="12" name="Definizione Interno"/>
          <p:cNvSpPr txBox="1"/>
          <p:nvPr/>
        </p:nvSpPr>
        <p:spPr>
          <a:xfrm>
            <a:off x="3722294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 colleghi, danno limitato se esce</a:t>
            </a:r>
            <a:endParaRPr lang="en-US" sz="1500" dirty="0"/>
          </a:p>
        </p:txBody>
      </p:sp>
      <p:sp>
        <p:nvSpPr>
          <p:cNvPr id="13" name="Esempi Interno"/>
          <p:cNvSpPr txBox="1"/>
          <p:nvPr/>
        </p:nvSpPr>
        <p:spPr>
          <a:xfrm>
            <a:off x="3722294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procedure, organigramma, calendario interno</a:t>
            </a:r>
            <a:endParaRPr lang="en-US" sz="1400" dirty="0"/>
          </a:p>
        </p:txBody>
      </p:sp>
      <p:sp>
        <p:nvSpPr>
          <p:cNvPr id="14" name="Livello Confidenziale"/>
          <p:cNvSpPr/>
          <p:nvPr/>
        </p:nvSpPr>
        <p:spPr>
          <a:xfrm>
            <a:off x="6210148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Livello testata"/>
          <p:cNvSpPr/>
          <p:nvPr/>
        </p:nvSpPr>
        <p:spPr>
          <a:xfrm>
            <a:off x="6301588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sp>
        <p:nvSpPr>
          <p:cNvPr id="16" name="Nome Confidenziale"/>
          <p:cNvSpPr txBox="1"/>
          <p:nvPr/>
        </p:nvSpPr>
        <p:spPr>
          <a:xfrm>
            <a:off x="6484468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Confidenziale</a:t>
            </a:r>
            <a:endParaRPr lang="en-US" sz="1900" dirty="0"/>
          </a:p>
        </p:txBody>
      </p:sp>
      <p:sp>
        <p:nvSpPr>
          <p:cNvPr id="17" name="Definizione Confidenziale"/>
          <p:cNvSpPr txBox="1"/>
          <p:nvPr/>
        </p:nvSpPr>
        <p:spPr>
          <a:xfrm>
            <a:off x="6484468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per chi ne ha bisogno, per nome</a:t>
            </a:r>
            <a:endParaRPr lang="en-US" sz="1500" dirty="0"/>
          </a:p>
        </p:txBody>
      </p:sp>
      <p:sp>
        <p:nvSpPr>
          <p:cNvPr id="18" name="Esempi Confidenziale"/>
          <p:cNvSpPr txBox="1"/>
          <p:nvPr/>
        </p:nvSpPr>
        <p:spPr>
          <a:xfrm>
            <a:off x="6484468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contratti, offerte, dati clienti, finanze</a:t>
            </a:r>
            <a:endParaRPr lang="en-US" sz="1400" dirty="0"/>
          </a:p>
        </p:txBody>
      </p:sp>
      <p:sp>
        <p:nvSpPr>
          <p:cNvPr id="19" name="Livello Segreto"/>
          <p:cNvSpPr/>
          <p:nvPr/>
        </p:nvSpPr>
        <p:spPr>
          <a:xfrm>
            <a:off x="8972321" y="1828800"/>
            <a:ext cx="2533574" cy="288036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Livello testata"/>
          <p:cNvSpPr/>
          <p:nvPr/>
        </p:nvSpPr>
        <p:spPr>
          <a:xfrm>
            <a:off x="9063761" y="1920240"/>
            <a:ext cx="2350694" cy="566928"/>
          </a:xfrm>
          <a:prstGeom prst="roundRect">
            <a:avLst>
              <a:gd name="adj" fmla="val 16129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21" name="Nome Segreto"/>
          <p:cNvSpPr txBox="1"/>
          <p:nvPr/>
        </p:nvSpPr>
        <p:spPr>
          <a:xfrm>
            <a:off x="9246641" y="1920240"/>
            <a:ext cx="19849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Segreto</a:t>
            </a:r>
            <a:endParaRPr lang="en-US" sz="1900" dirty="0"/>
          </a:p>
        </p:txBody>
      </p:sp>
      <p:sp>
        <p:nvSpPr>
          <p:cNvPr id="22" name="Definizione Segreto"/>
          <p:cNvSpPr txBox="1"/>
          <p:nvPr/>
        </p:nvSpPr>
        <p:spPr>
          <a:xfrm>
            <a:off x="9246641" y="2697480"/>
            <a:ext cx="19849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Accesso minimo, sempre cifrato</a:t>
            </a:r>
            <a:endParaRPr lang="en-US" sz="1500" dirty="0"/>
          </a:p>
        </p:txBody>
      </p:sp>
      <p:sp>
        <p:nvSpPr>
          <p:cNvPr id="23" name="Esempi Segreto"/>
          <p:cNvSpPr txBox="1"/>
          <p:nvPr/>
        </p:nvSpPr>
        <p:spPr>
          <a:xfrm>
            <a:off x="9246641" y="3520440"/>
            <a:ext cx="19849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Esempi: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credenziali, dati bancari, documenti d’identità, salute</a:t>
            </a:r>
            <a:endParaRPr lang="en-US" sz="1400" dirty="0"/>
          </a:p>
        </p:txBody>
      </p:sp>
      <p:sp>
        <p:nvSpPr>
          <p:cNvPr id="24" name="nota Il livello decide dove può andare."/>
          <p:cNvSpPr/>
          <p:nvPr/>
        </p:nvSpPr>
        <p:spPr>
          <a:xfrm>
            <a:off x="685800" y="4983480"/>
            <a:ext cx="10820095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1788"/>
            <a:ext cx="329184" cy="329184"/>
          </a:xfrm>
          <a:prstGeom prst="rect">
            <a:avLst/>
          </a:prstGeom>
        </p:spPr>
      </p:pic>
      <p:sp>
        <p:nvSpPr>
          <p:cNvPr id="26" name="nota testo"/>
          <p:cNvSpPr txBox="1"/>
          <p:nvPr/>
        </p:nvSpPr>
        <p:spPr>
          <a:xfrm>
            <a:off x="1417320" y="49834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livello decide dove può andare.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Drive, WhatsApp, AI, chiavetta: la tabella completa è nel capitolo sui dati. Nel dubbio, Confidenziale.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Quattro passi, in quest’ordine</a:t>
            </a:r>
            <a:endParaRPr lang="en-US" sz="3400" dirty="0"/>
          </a:p>
        </p:txBody>
      </p:sp>
      <p:sp>
        <p:nvSpPr>
          <p:cNvPr id="4" name="Passo Stop"/>
          <p:cNvSpPr/>
          <p:nvPr/>
        </p:nvSpPr>
        <p:spPr>
          <a:xfrm>
            <a:off x="685800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5" name="numero 1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numero testo 1"/>
          <p:cNvSpPr txBox="1"/>
          <p:nvPr/>
        </p:nvSpPr>
        <p:spPr>
          <a:xfrm>
            <a:off x="9601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cona S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414" y="2148840"/>
            <a:ext cx="411480" cy="411480"/>
          </a:xfrm>
          <a:prstGeom prst="rect">
            <a:avLst/>
          </a:prstGeom>
        </p:spPr>
      </p:pic>
      <p:sp>
        <p:nvSpPr>
          <p:cNvPr id="8" name="Titolo Stop"/>
          <p:cNvSpPr txBox="1"/>
          <p:nvPr/>
        </p:nvSpPr>
        <p:spPr>
          <a:xfrm>
            <a:off x="960120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9" name="Testo Stop"/>
          <p:cNvSpPr txBox="1"/>
          <p:nvPr/>
        </p:nvSpPr>
        <p:spPr>
          <a:xfrm>
            <a:off x="960120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cliccare altro, non cancellare niente.</a:t>
            </a:r>
            <a:endParaRPr lang="en-US" sz="1500" dirty="0"/>
          </a:p>
        </p:txBody>
      </p:sp>
      <p:pic>
        <p:nvPicPr>
          <p:cNvPr id="10" name="Frecci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934" y="2926080"/>
            <a:ext cx="320040" cy="320040"/>
          </a:xfrm>
          <a:prstGeom prst="rect">
            <a:avLst/>
          </a:prstGeom>
        </p:spPr>
      </p:pic>
      <p:sp>
        <p:nvSpPr>
          <p:cNvPr id="11" name="Passo Stacca dalla rete"/>
          <p:cNvSpPr/>
          <p:nvPr/>
        </p:nvSpPr>
        <p:spPr>
          <a:xfrm>
            <a:off x="3493694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numero 2"/>
          <p:cNvSpPr/>
          <p:nvPr/>
        </p:nvSpPr>
        <p:spPr>
          <a:xfrm>
            <a:off x="3768014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3" name="numero testo 2"/>
          <p:cNvSpPr txBox="1"/>
          <p:nvPr/>
        </p:nvSpPr>
        <p:spPr>
          <a:xfrm>
            <a:off x="3768014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pic>
        <p:nvPicPr>
          <p:cNvPr id="14" name="Icona Stacca dalla re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308" y="2148840"/>
            <a:ext cx="411480" cy="411480"/>
          </a:xfrm>
          <a:prstGeom prst="rect">
            <a:avLst/>
          </a:prstGeom>
        </p:spPr>
      </p:pic>
      <p:sp>
        <p:nvSpPr>
          <p:cNvPr id="15" name="Titolo Stacca dalla rete"/>
          <p:cNvSpPr txBox="1"/>
          <p:nvPr/>
        </p:nvSpPr>
        <p:spPr>
          <a:xfrm>
            <a:off x="3768014" y="2788920"/>
            <a:ext cx="1847774" cy="674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Stacca dalla rete</a:t>
            </a:r>
            <a:endParaRPr lang="en-US" sz="2000" dirty="0"/>
          </a:p>
        </p:txBody>
      </p:sp>
      <p:sp>
        <p:nvSpPr>
          <p:cNvPr id="16" name="Testo Stacca dalla rete"/>
          <p:cNvSpPr txBox="1"/>
          <p:nvPr/>
        </p:nvSpPr>
        <p:spPr>
          <a:xfrm>
            <a:off x="3768014" y="3509264"/>
            <a:ext cx="1847774" cy="74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spento, cavo scollegato.</a:t>
            </a:r>
            <a:endParaRPr lang="en-US" sz="1500" dirty="0"/>
          </a:p>
        </p:txBody>
      </p:sp>
      <p:pic>
        <p:nvPicPr>
          <p:cNvPr id="17" name="Frecci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828" y="2926080"/>
            <a:ext cx="320040" cy="320040"/>
          </a:xfrm>
          <a:prstGeom prst="rect">
            <a:avLst/>
          </a:prstGeom>
        </p:spPr>
      </p:pic>
      <p:sp>
        <p:nvSpPr>
          <p:cNvPr id="18" name="Passo Non spegnere"/>
          <p:cNvSpPr/>
          <p:nvPr/>
        </p:nvSpPr>
        <p:spPr>
          <a:xfrm>
            <a:off x="6301588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numero 3"/>
          <p:cNvSpPr/>
          <p:nvPr/>
        </p:nvSpPr>
        <p:spPr>
          <a:xfrm>
            <a:off x="6575908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0" name="numero testo 3"/>
          <p:cNvSpPr txBox="1"/>
          <p:nvPr/>
        </p:nvSpPr>
        <p:spPr>
          <a:xfrm>
            <a:off x="6575908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pic>
        <p:nvPicPr>
          <p:cNvPr id="21" name="Icona Non spegner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2201" y="2148840"/>
            <a:ext cx="411480" cy="411480"/>
          </a:xfrm>
          <a:prstGeom prst="rect">
            <a:avLst/>
          </a:prstGeom>
        </p:spPr>
      </p:pic>
      <p:sp>
        <p:nvSpPr>
          <p:cNvPr id="22" name="Titolo Non spegnere"/>
          <p:cNvSpPr txBox="1"/>
          <p:nvPr/>
        </p:nvSpPr>
        <p:spPr>
          <a:xfrm>
            <a:off x="6575908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spegnere</a:t>
            </a:r>
            <a:endParaRPr lang="en-US" sz="2000" dirty="0"/>
          </a:p>
        </p:txBody>
      </p:sp>
      <p:sp>
        <p:nvSpPr>
          <p:cNvPr id="23" name="Testo Non spegnere"/>
          <p:cNvSpPr txBox="1"/>
          <p:nvPr/>
        </p:nvSpPr>
        <p:spPr>
          <a:xfrm>
            <a:off x="6575908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memoria contiene le prove di cosa è stato preso.</a:t>
            </a:r>
            <a:endParaRPr lang="en-US" sz="1500" dirty="0"/>
          </a:p>
        </p:txBody>
      </p:sp>
      <p:pic>
        <p:nvPicPr>
          <p:cNvPr id="24" name="Frecci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721" y="2926080"/>
            <a:ext cx="320040" cy="320040"/>
          </a:xfrm>
          <a:prstGeom prst="rect">
            <a:avLst/>
          </a:prstGeom>
        </p:spPr>
      </p:pic>
      <p:sp>
        <p:nvSpPr>
          <p:cNvPr id="25" name="Passo Segnala"/>
          <p:cNvSpPr/>
          <p:nvPr/>
        </p:nvSpPr>
        <p:spPr>
          <a:xfrm>
            <a:off x="9109481" y="1828800"/>
            <a:ext cx="2396414" cy="2514600"/>
          </a:xfrm>
          <a:prstGeom prst="roundRect">
            <a:avLst>
              <a:gd name="adj" fmla="val 5342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numero 4"/>
          <p:cNvSpPr/>
          <p:nvPr/>
        </p:nvSpPr>
        <p:spPr>
          <a:xfrm>
            <a:off x="9383801" y="2103120"/>
            <a:ext cx="502920" cy="502920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7" name="numero testo 4"/>
          <p:cNvSpPr txBox="1"/>
          <p:nvPr/>
        </p:nvSpPr>
        <p:spPr>
          <a:xfrm>
            <a:off x="9383801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pic>
        <p:nvPicPr>
          <p:cNvPr id="28" name="Icona Segnal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095" y="2148840"/>
            <a:ext cx="411480" cy="411480"/>
          </a:xfrm>
          <a:prstGeom prst="rect">
            <a:avLst/>
          </a:prstGeom>
        </p:spPr>
      </p:pic>
      <p:sp>
        <p:nvSpPr>
          <p:cNvPr id="29" name="Titolo Segnala"/>
          <p:cNvSpPr txBox="1"/>
          <p:nvPr/>
        </p:nvSpPr>
        <p:spPr>
          <a:xfrm>
            <a:off x="9383801" y="2788920"/>
            <a:ext cx="1847774" cy="364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</a:t>
            </a:r>
            <a:endParaRPr lang="en-US" sz="2000" dirty="0"/>
          </a:p>
        </p:txBody>
      </p:sp>
      <p:sp>
        <p:nvSpPr>
          <p:cNvPr id="30" name="Testo Segnala"/>
          <p:cNvSpPr txBox="1"/>
          <p:nvPr/>
        </p:nvSpPr>
        <p:spPr>
          <a:xfrm>
            <a:off x="9383801" y="3199384"/>
            <a:ext cx="1847774" cy="105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referente IT: cosa, quando, foto dello schermo con il telefono.</a:t>
            </a:r>
            <a:endParaRPr lang="en-US" sz="1500" dirty="0"/>
          </a:p>
        </p:txBody>
      </p:sp>
      <p:sp>
        <p:nvSpPr>
          <p:cNvPr id="31" name="nota Unica eccezione:"/>
          <p:cNvSpPr/>
          <p:nvPr/>
        </p:nvSpPr>
        <p:spPr>
          <a:xfrm>
            <a:off x="685800" y="461772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32" name="nota icona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773168"/>
            <a:ext cx="329184" cy="329184"/>
          </a:xfrm>
          <a:prstGeom prst="rect">
            <a:avLst/>
          </a:prstGeom>
        </p:spPr>
      </p:pic>
      <p:sp>
        <p:nvSpPr>
          <p:cNvPr id="33" name="nota testo"/>
          <p:cNvSpPr txBox="1"/>
          <p:nvPr/>
        </p:nvSpPr>
        <p:spPr>
          <a:xfrm>
            <a:off x="1417320" y="461772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 eccezione: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che cambiano nome sotto i tuoi occhi. Stacca la rete e, se continua, spegni.</a:t>
            </a:r>
            <a:endParaRPr lang="en-US" sz="1600" dirty="0"/>
          </a:p>
        </p:txBody>
      </p:sp>
      <p:sp>
        <p:nvSpPr>
          <p:cNvPr id="34" name="nota Nel materiale, capitolo 9: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35" name="nota icona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550408"/>
            <a:ext cx="329184" cy="329184"/>
          </a:xfrm>
          <a:prstGeom prst="rect">
            <a:avLst/>
          </a:prstGeom>
        </p:spPr>
      </p:pic>
      <p:sp>
        <p:nvSpPr>
          <p:cNvPr id="36" name="nota testo"/>
          <p:cNvSpPr txBox="1"/>
          <p:nvPr/>
        </p:nvSpPr>
        <p:spPr>
          <a:xfrm>
            <a:off x="1417320" y="5394960"/>
            <a:ext cx="9859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materiale, capitolo 9: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playbook, uno per ogni caso: link cliccato, account rubato, pagamento partito, telefono perso e altri.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nella Parte 2</a:t>
            </a:r>
            <a:endParaRPr lang="en-US" sz="3400" dirty="0"/>
          </a:p>
        </p:txBody>
      </p:sp>
      <p:sp>
        <p:nvSpPr>
          <p:cNvPr id="4" name="Sezione Regole"/>
          <p:cNvSpPr/>
          <p:nvPr/>
        </p:nvSpPr>
        <p:spPr>
          <a:xfrm>
            <a:off x="685800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Etichetta Regole"/>
          <p:cNvSpPr txBox="1"/>
          <p:nvPr/>
        </p:nvSpPr>
        <p:spPr>
          <a:xfrm>
            <a:off x="941832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egole"/>
          <p:cNvSpPr txBox="1"/>
          <p:nvPr/>
        </p:nvSpPr>
        <p:spPr>
          <a:xfrm>
            <a:off x="941832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Regole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Perché riguarda te"/>
          <p:cNvSpPr txBox="1"/>
          <p:nvPr/>
        </p:nvSpPr>
        <p:spPr>
          <a:xfrm>
            <a:off x="1307592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Perché riguarda te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Account, password e 2FA: le regole"/>
          <p:cNvSpPr txBox="1"/>
          <p:nvPr/>
        </p:nvSpPr>
        <p:spPr>
          <a:xfrm>
            <a:off x="1307592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password e 2FA: le regole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Email, telefono e pagamenti: le regole"/>
          <p:cNvSpPr txBox="1"/>
          <p:nvPr/>
        </p:nvSpPr>
        <p:spPr>
          <a:xfrm>
            <a:off x="1307592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telefono e pagamenti: le regole</a:t>
            </a:r>
            <a:endParaRPr lang="en-US" sz="1400" dirty="0"/>
          </a:p>
        </p:txBody>
      </p:sp>
      <p:sp>
        <p:nvSpPr>
          <p:cNvPr id="13" name="Cap 4"/>
          <p:cNvSpPr txBox="1"/>
          <p:nvPr/>
        </p:nvSpPr>
        <p:spPr>
          <a:xfrm>
            <a:off x="941832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Capitolo Dispositivi, casa e viaggio"/>
          <p:cNvSpPr txBox="1"/>
          <p:nvPr/>
        </p:nvSpPr>
        <p:spPr>
          <a:xfrm>
            <a:off x="1307592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Dispositivi, casa e viaggio</a:t>
            </a:r>
            <a:endParaRPr lang="en-US" sz="1400" dirty="0"/>
          </a:p>
        </p:txBody>
      </p:sp>
      <p:sp>
        <p:nvSpPr>
          <p:cNvPr id="15" name="Cap 5"/>
          <p:cNvSpPr txBox="1"/>
          <p:nvPr/>
        </p:nvSpPr>
        <p:spPr>
          <a:xfrm>
            <a:off x="321009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Capitolo Dati: classificazione e condivisione"/>
          <p:cNvSpPr txBox="1"/>
          <p:nvPr/>
        </p:nvSpPr>
        <p:spPr>
          <a:xfrm>
            <a:off x="357585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Dati: classificazione e condivisione</a:t>
            </a:r>
            <a:endParaRPr lang="en-US" sz="1400" dirty="0"/>
          </a:p>
        </p:txBody>
      </p:sp>
      <p:sp>
        <p:nvSpPr>
          <p:cNvPr id="17" name="Cap 6"/>
          <p:cNvSpPr txBox="1"/>
          <p:nvPr/>
        </p:nvSpPr>
        <p:spPr>
          <a:xfrm>
            <a:off x="321009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8" name="Capitolo Ufficio e sicurezza fisica"/>
          <p:cNvSpPr txBox="1"/>
          <p:nvPr/>
        </p:nvSpPr>
        <p:spPr>
          <a:xfrm>
            <a:off x="357585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Ufficio e sicurezza fisica</a:t>
            </a:r>
            <a:endParaRPr lang="en-US" sz="1400" dirty="0"/>
          </a:p>
        </p:txBody>
      </p:sp>
      <p:sp>
        <p:nvSpPr>
          <p:cNvPr id="19" name="Cap 7"/>
          <p:cNvSpPr txBox="1"/>
          <p:nvPr/>
        </p:nvSpPr>
        <p:spPr>
          <a:xfrm>
            <a:off x="321009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0" name="Capitolo Software, social e AI"/>
          <p:cNvSpPr txBox="1"/>
          <p:nvPr/>
        </p:nvSpPr>
        <p:spPr>
          <a:xfrm>
            <a:off x="357585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Software, social e AI</a:t>
            </a:r>
            <a:endParaRPr lang="en-US" sz="1400" dirty="0"/>
          </a:p>
        </p:txBody>
      </p:sp>
      <p:sp>
        <p:nvSpPr>
          <p:cNvPr id="21" name="Cap 8"/>
          <p:cNvSpPr txBox="1"/>
          <p:nvPr/>
        </p:nvSpPr>
        <p:spPr>
          <a:xfrm>
            <a:off x="321009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2" name="Capitolo Privacy e legge (nLPD)"/>
          <p:cNvSpPr txBox="1"/>
          <p:nvPr/>
        </p:nvSpPr>
        <p:spPr>
          <a:xfrm>
            <a:off x="357585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e legge (nLPD)</a:t>
            </a:r>
            <a:endParaRPr lang="en-US" sz="1400" dirty="0"/>
          </a:p>
        </p:txBody>
      </p:sp>
      <p:sp>
        <p:nvSpPr>
          <p:cNvPr id="23" name="Sezione Processi e setup"/>
          <p:cNvSpPr/>
          <p:nvPr/>
        </p:nvSpPr>
        <p:spPr>
          <a:xfrm>
            <a:off x="596299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4" name="Etichetta Processi e setup"/>
          <p:cNvSpPr txBox="1"/>
          <p:nvPr/>
        </p:nvSpPr>
        <p:spPr>
          <a:xfrm>
            <a:off x="621902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25" name="Nome Processi e setup"/>
          <p:cNvSpPr txBox="1"/>
          <p:nvPr/>
        </p:nvSpPr>
        <p:spPr>
          <a:xfrm>
            <a:off x="621902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 e setup</a:t>
            </a:r>
            <a:endParaRPr lang="en-US" sz="1800" dirty="0"/>
          </a:p>
        </p:txBody>
      </p:sp>
      <p:sp>
        <p:nvSpPr>
          <p:cNvPr id="26" name="Cap 9"/>
          <p:cNvSpPr txBox="1"/>
          <p:nvPr/>
        </p:nvSpPr>
        <p:spPr>
          <a:xfrm>
            <a:off x="621902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Incidenti: cosa fare"/>
          <p:cNvSpPr txBox="1"/>
          <p:nvPr/>
        </p:nvSpPr>
        <p:spPr>
          <a:xfrm>
            <a:off x="658478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Incidenti: cosa fare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21902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Setup guidato"/>
          <p:cNvSpPr txBox="1"/>
          <p:nvPr/>
        </p:nvSpPr>
        <p:spPr>
          <a:xfrm>
            <a:off x="658478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21902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Entrata, cambio ruolo, uscita"/>
          <p:cNvSpPr txBox="1"/>
          <p:nvPr/>
        </p:nvSpPr>
        <p:spPr>
          <a:xfrm>
            <a:off x="658478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Entrata, cambio ruolo, uscita</a:t>
            </a:r>
            <a:endParaRPr lang="en-US" sz="1400" dirty="0"/>
          </a:p>
        </p:txBody>
      </p:sp>
      <p:sp>
        <p:nvSpPr>
          <p:cNvPr id="32" name="Sezione Policy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3" name="Etichetta Policy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4" name="Nome Policy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 verifica</a:t>
            </a:r>
            <a:endParaRPr lang="en-US" sz="1800" dirty="0"/>
          </a:p>
        </p:txBody>
      </p:sp>
      <p:sp>
        <p:nvSpPr>
          <p:cNvPr id="35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6" name="Capitolo Le 12 policy in brev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12 policy in breve</a:t>
            </a:r>
            <a:endParaRPr lang="en-US" sz="1400" dirty="0"/>
          </a:p>
        </p:txBody>
      </p:sp>
      <p:sp>
        <p:nvSpPr>
          <p:cNvPr id="37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8" name="Capitolo Tech stack aziendale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aziendale</a:t>
            </a:r>
            <a:endParaRPr lang="en-US" sz="1400" dirty="0"/>
          </a:p>
        </p:txBody>
      </p:sp>
      <p:sp>
        <p:nvSpPr>
          <p:cNvPr id="39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0" name="Capitolo Checklist obbligatori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obbligatoria</a:t>
            </a:r>
            <a:endParaRPr lang="en-US" sz="1400" dirty="0"/>
          </a:p>
        </p:txBody>
      </p:sp>
      <p:sp>
        <p:nvSpPr>
          <p:cNvPr id="41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2" name="Capitolo Test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43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4" name="Capitolo Fonti e approfondime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 e approfondimenti</a:t>
            </a:r>
            <a:endParaRPr lang="en-US" sz="1400" dirty="0"/>
          </a:p>
        </p:txBody>
      </p:sp>
      <p:sp>
        <p:nvSpPr>
          <p:cNvPr id="45" name="nota Obbligatorio per tutti: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6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7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Obbligatorio per tutti: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da 10 domande e le 12 policy.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 nel telefono nome e numero del referente IT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Quello della tua azienda. Se non risponde entro 15 minuti, chiami la direzione.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 tua la regola della richiamata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Richiesta nuova, urgente o insolita di soldi, dati o accessi? Richiami tu, a un numero che avevi già.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un documento che hai usato oggi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Pubblico, Interno, Confidenziale o Segreto? Nel dubbio, Confidenziale.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la Parte 2. Circa 45 minuti.</a:t>
            </a:r>
            <a:endParaRPr lang="en-US" sz="1500" dirty="0"/>
          </a:p>
        </p:txBody>
      </p:sp>
      <p:sp>
        <p:nvSpPr>
          <p:cNvPr id="23" name="Punto Entro tr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tr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tre settimane</a:t>
            </a:r>
            <a:endParaRPr lang="en-US" sz="1600" dirty="0"/>
          </a:p>
        </p:txBody>
      </p:sp>
      <p:sp>
        <p:nvSpPr>
          <p:cNvPr id="25" name="Cosa Entro tr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guidato dei dispositivi con il referente IT. Circa 2-3 ore.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da 20 punti, test e le 12 policy. Dopo, AI Parte 1: AI al lavoro.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Soldi, dati o accessi: mai su richiesta arrivata da un solo canale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dato ha un livello. Nel dubbio, Confidenziale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succede: stop, stacca, non spegnere, segnala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ti succede qualcosa: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Verizon DBIR 2026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ransomware, 48% fornitori, 62% fattore umano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5" name="Fonte nLPD, Legge federale sulla protezione dei dati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nLPD, Legge federale sulla protezione dei dati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multa fino a CHF 250’000 alla persona, art. 60 ss.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fedlex.admin.ch</a:t>
            </a:r>
            <a:endParaRPr lang="en-US" sz="1300" dirty="0"/>
          </a:p>
        </p:txBody>
      </p:sp>
      <p:sp>
        <p:nvSpPr>
          <p:cNvPr id="6" name="Fonte CNN, 16.05.2024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CNN, 16.05.2024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Arup, 25 milioni di dollari persi con un deepfake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cnn.com</a:t>
            </a:r>
            <a:endParaRPr lang="en-US" sz="1300" dirty="0"/>
          </a:p>
        </p:txBody>
      </p:sp>
      <p:sp>
        <p:nvSpPr>
          <p:cNvPr id="7" name="Fonte Dezeen, 17.05.2024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Dezeen, 17.05.2024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bonifici su cinque conti, gennaio 2024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dezeen.com</a:t>
            </a:r>
            <a:endParaRPr lang="en-US" sz="1300" dirty="0"/>
          </a:p>
        </p:txBody>
      </p:sp>
      <p:sp>
        <p:nvSpPr>
          <p:cNvPr id="8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9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2 · Regole e processi aziendali</dc:title>
  <dc:subject>PptxGenJS Presentation</dc:subject>
  <dc:creator>Aron Clementi</dc:creator>
  <cp:lastModifiedBy>Aron Clementi</cp:lastModifiedBy>
  <cp:revision>1</cp:revision>
  <dcterms:created xsi:type="dcterms:W3CDTF">2026-10-26T22:21:03Z</dcterms:created>
  <dcterms:modified xsi:type="dcterms:W3CDTF">2026-10-26T22:21:03Z</dcterms:modified>
</cp:coreProperties>
</file>