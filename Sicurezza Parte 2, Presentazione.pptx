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214a79a6-680b-6c97-cb48-142c179c2961}">
          <p14:sldIdLst>
            <p14:sldId id="256"/>
            <p14:sldId id="257"/>
          </p14:sldIdLst>
        </p14:section>
        <p14:section name="Perché" id="{3d45f41f-a15a-655b-cc9b-53642dc29121}">
          <p14:sldIdLst>
            <p14:sldId id="258"/>
            <p14:sldId id="259"/>
            <p14:sldId id="260"/>
          </p14:sldIdLst>
        </p14:section>
        <p14:section name="Regole chiave" id="{4f8257b0-034e-25b4-e522-f7cf4ad64d95}">
          <p14:sldIdLst>
            <p14:sldId id="261"/>
            <p14:sldId id="262"/>
          </p14:sldIdLst>
        </p14:section>
        <p14:section name="Il materiale" id="{be58ed6c-00b9-bdcf-7477-090fa28b55b6}">
          <p14:sldIdLst>
            <p14:sldId id="263"/>
          </p14:sldIdLst>
        </p14:section>
        <p14:section name="Adesso" id="{87526afb-8d57-087e-b7d7-102daaf276cf}">
          <p14:sldIdLst>
            <p14:sldId id="264"/>
            <p14:sldId id="265"/>
          </p14:sldIdLst>
        </p14:section>
        <p14:section name="Chiusura" id="{ce1a4a39-b1a0-bdfa-7688-bce2b471272c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Parte 1 riguardava te come persona. La Parte 2 riguarda il lavoro: le regole uguali per tutti in azienda e cosa fare quando succede qualcosa. È obbligatoria per tutti, collaboratori esterni compresi. Anche qui: oggi l’introduzione, il dettaglio è nel materiale.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blocchi. Le regole sono poche e pratiche. I processi dicono cosa fare passo per passo, così nessuno improvvisa. Le policy sono la versione formale, da leggere e firmare. Tutto allineato alla norma ISO 27001 e alla nuova legge svizzera sulla protezione dei dati.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messaggio della Parte 2. Ogni truffa aziendale ha due ingredienti: una persona sola e la fretta. Le regole tolgono entrambi: una seconda persona che approva e una verifica su un canale diverso. Così, sotto pressione, non devi decidere tu: segui la regola.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sinistra il perimetro che gestiscono i tecnici: server, posta aziendale, backup. A destra il tuo: telefono, password, cosa clicchi, cosa dici al telefono. Si incontrano nel tuo account aziendale, e le chiavi le hai tu. Attenzione: per la nuova legge sulla protezione dei dati la multa, fino a 250’000 franchi, colpisce di regola la persona responsabile, per violazioni intenzionali.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Arup è una grande società di ingegneria. Il dipendente aveva sospettato qualcosa, ma vedere in video persone che conosceva lo ha convinto. Con l’AI oggi si falsificano voce e volto. Per questo la regola non si basa su chi vedi o senti, ma su una verifica fatta da te, su un canale che controlli tu, più una seconda firma.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sola regola da ricordare oggi: ogni dato ha un livello e il livello decide dove può andare. Un annuncio pubblicato va ovunque. Un contratto va solo a chi serve, per nome. Una password o un documento d’identità non va mai su WhatsApp né in un’AI. Se non sai il livello, trattalo come Confidenziale.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succede qualcosa: stop, stacca, non spegnere, segnala. In quest’ordine, subito, senza vergogna. Non spegnere sembra strano, ma la memoria del computer contiene le tracce di cosa è successo. L’unica eccezione è un ransomware in corso, cioè file che cambiano nome davanti a voi: lì ogni secondo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Sezione A: le regole, per argomento. Sezione B: i processi, cioè cosa fare se succede, il setup guidato dei dispositivi con 12 guide per Mac, Windows, iPhone e Android, e cosa cambia quando si entra, si cambia ruolo o si esce. Sezione C: policy, checklist 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azioni concrete, adesso. Il numero del referente IT serve nel momento peggiore, quando il computer potrebbe non funzionare: per questo va nel telefono. La regola della richiamata ferma la maggior parte delle truffe su pagamenti e cambi di IBAN. La classificazione si impara facendola.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materiale si apre da un link nel browser, anche dal telefono, e non serve nessun account. Mostrate dal vivo dove sono l’interruttore della lingua, il menu dei capitoli e la checklist. Il programma è indicativo: decidetelo con il vostro responsabile.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frasi da ricordare. Le regole sono uguali per tutti e servono a non decidere da soli sotto pressione. Se succede qualcosa, segnalare subito è sempre giusto.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fonti dei numeri e dei casi citati. Tutte verificabili, con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828800"/>
            <a:ext cx="667512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611880"/>
            <a:ext cx="64922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685800" y="63825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Sicurezza · Parte 2 · Regole e processi aziendali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200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/>
        </p:nvSpPr>
        <p:spPr>
          <a:xfrm>
            <a:off x="685800" y="63825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Sicurezza · Parte 2 · Regole e processi aziendali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erizon.com/business/resources/T161/reports/2026-dbir-data-breach-investigations-report.pdf" TargetMode="External"/><Relationship Id="rId2" Type="http://schemas.openxmlformats.org/officeDocument/2006/relationships/hyperlink" Target="https://www.fedlex.admin.ch/eli/cc/2022/491/it" TargetMode="External"/><Relationship Id="rId3" Type="http://schemas.openxmlformats.org/officeDocument/2006/relationships/hyperlink" Target="https://www.cnn.com/2024/05/16/tech/arup-deepfake-scam-loss-hong-kong-intl-hnk" TargetMode="External"/><Relationship Id="rId4" Type="http://schemas.openxmlformats.org/officeDocument/2006/relationships/hyperlink" Target="https://www.dezeen.com/2024/05/17/arup-victim-deepfake-video-scam/" TargetMode="Externa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chetta"/>
          <p:cNvSpPr txBox="1"/>
          <p:nvPr/>
        </p:nvSpPr>
        <p:spPr>
          <a:xfrm>
            <a:off x="685800" y="13533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SICUREZZA · PARTE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1828800"/>
            <a:ext cx="6675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Regole e processi aziendali</a:t>
            </a:r>
            <a:endParaRPr lang="en-US" sz="5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85800" y="361188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regole comuni per proteggere dati, soldi e persone. E cosa fare quando qualcosa va storto.</a:t>
            </a:r>
            <a:endParaRPr lang="en-US" sz="2000" dirty="0"/>
          </a:p>
        </p:txBody>
      </p:sp>
      <p:sp>
        <p:nvSpPr>
          <p:cNvPr id="5" name="pill Per tutti, obbligatorio"/>
          <p:cNvSpPr/>
          <p:nvPr/>
        </p:nvSpPr>
        <p:spPr>
          <a:xfrm>
            <a:off x="685800" y="4892040"/>
            <a:ext cx="2455164" cy="402336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" name="pill testo Per tutti, obbligatorio"/>
          <p:cNvSpPr txBox="1"/>
          <p:nvPr/>
        </p:nvSpPr>
        <p:spPr>
          <a:xfrm>
            <a:off x="685800" y="4892040"/>
            <a:ext cx="2455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tutti, obbligatorio</a:t>
            </a:r>
            <a:endParaRPr lang="en-US" sz="1300" dirty="0"/>
          </a:p>
        </p:txBody>
      </p:sp>
      <p:sp>
        <p:nvSpPr>
          <p:cNvPr id="7" name="pill Prima: Parte 1, livello 1"/>
          <p:cNvSpPr/>
          <p:nvPr/>
        </p:nvSpPr>
        <p:spPr>
          <a:xfrm>
            <a:off x="3278124" y="4892040"/>
            <a:ext cx="2628900" cy="402336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8" name="pill testo Prima: Parte 1, livello 1"/>
          <p:cNvSpPr txBox="1"/>
          <p:nvPr/>
        </p:nvSpPr>
        <p:spPr>
          <a:xfrm>
            <a:off x="3278124" y="4892040"/>
            <a:ext cx="2628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Prima: Parte 1, livello 1</a:t>
            </a:r>
            <a:endParaRPr lang="en-US" sz="1300" dirty="0"/>
          </a:p>
        </p:txBody>
      </p:sp>
      <p:sp>
        <p:nvSpPr>
          <p:cNvPr id="9" name="pill 25 minuti + domande"/>
          <p:cNvSpPr/>
          <p:nvPr/>
        </p:nvSpPr>
        <p:spPr>
          <a:xfrm>
            <a:off x="685800" y="5440680"/>
            <a:ext cx="2107692" cy="402336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0" name="pill testo 25 minuti + domande"/>
          <p:cNvSpPr txBox="1"/>
          <p:nvPr/>
        </p:nvSpPr>
        <p:spPr>
          <a:xfrm>
            <a:off x="685800" y="5440680"/>
            <a:ext cx="21076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minuti + domande</a:t>
            </a:r>
            <a:endParaRPr lang="en-US" sz="1300" dirty="0"/>
          </a:p>
        </p:txBody>
      </p:sp>
      <p:sp>
        <p:nvSpPr>
          <p:cNvPr id="11" name="Firma"/>
          <p:cNvSpPr txBox="1"/>
          <p:nvPr/>
        </p:nvSpPr>
        <p:spPr>
          <a:xfrm>
            <a:off x="685800" y="61722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percorso completo: Sicurezza e AI · materiale da leggere dopo l’incontro</a:t>
            </a:r>
            <a:endParaRPr lang="en-US" sz="1100" dirty="0"/>
          </a:p>
        </p:txBody>
      </p:sp>
      <p:sp>
        <p:nvSpPr>
          <p:cNvPr id="12" name="Pannello"/>
          <p:cNvSpPr/>
          <p:nvPr/>
        </p:nvSpPr>
        <p:spPr>
          <a:xfrm>
            <a:off x="7818120" y="685800"/>
            <a:ext cx="3685032" cy="5486400"/>
          </a:xfrm>
          <a:prstGeom prst="roundRect">
            <a:avLst>
              <a:gd name="adj" fmla="val 3474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13" name="Icona copertina fondo"/>
          <p:cNvSpPr/>
          <p:nvPr/>
        </p:nvSpPr>
        <p:spPr>
          <a:xfrm>
            <a:off x="8275320" y="109728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cona coperti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7694" y="1349654"/>
            <a:ext cx="546811" cy="546811"/>
          </a:xfrm>
          <a:prstGeom prst="rect">
            <a:avLst/>
          </a:prstGeom>
        </p:spPr>
      </p:pic>
      <p:sp>
        <p:nvSpPr>
          <p:cNvPr id="15" name="Dato 12"/>
          <p:cNvSpPr txBox="1"/>
          <p:nvPr/>
        </p:nvSpPr>
        <p:spPr>
          <a:xfrm>
            <a:off x="8275320" y="25146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400" dirty="0"/>
          </a:p>
        </p:txBody>
      </p:sp>
      <p:sp>
        <p:nvSpPr>
          <p:cNvPr id="16" name="Dato testo 12"/>
          <p:cNvSpPr txBox="1"/>
          <p:nvPr/>
        </p:nvSpPr>
        <p:spPr>
          <a:xfrm>
            <a:off x="8275320" y="3081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aziendali, in breve</a:t>
            </a:r>
            <a:endParaRPr lang="en-US" sz="1400" dirty="0"/>
          </a:p>
        </p:txBody>
      </p:sp>
      <p:sp>
        <p:nvSpPr>
          <p:cNvPr id="17" name="Dato 8"/>
          <p:cNvSpPr txBox="1"/>
          <p:nvPr/>
        </p:nvSpPr>
        <p:spPr>
          <a:xfrm>
            <a:off x="8275320" y="37033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400" dirty="0"/>
          </a:p>
        </p:txBody>
      </p:sp>
      <p:sp>
        <p:nvSpPr>
          <p:cNvPr id="18" name="Dato testo 8"/>
          <p:cNvSpPr txBox="1"/>
          <p:nvPr/>
        </p:nvSpPr>
        <p:spPr>
          <a:xfrm>
            <a:off x="8275320" y="4270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playbook: cosa fare se succede</a:t>
            </a:r>
            <a:endParaRPr lang="en-US" sz="1400" dirty="0"/>
          </a:p>
        </p:txBody>
      </p:sp>
      <p:sp>
        <p:nvSpPr>
          <p:cNvPr id="19" name="Dato 12"/>
          <p:cNvSpPr txBox="1"/>
          <p:nvPr/>
        </p:nvSpPr>
        <p:spPr>
          <a:xfrm>
            <a:off x="8275320" y="48920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400" dirty="0"/>
          </a:p>
        </p:txBody>
      </p:sp>
      <p:sp>
        <p:nvSpPr>
          <p:cNvPr id="20" name="Dato testo 12"/>
          <p:cNvSpPr txBox="1"/>
          <p:nvPr/>
        </p:nvSpPr>
        <p:spPr>
          <a:xfrm>
            <a:off x="8275320" y="5458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passo passo per il setup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INTRODUZIONE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 cosa parliamo oggi</a:t>
            </a:r>
            <a:endParaRPr lang="en-US" sz="3400" dirty="0"/>
          </a:p>
        </p:txBody>
      </p:sp>
      <p:sp>
        <p:nvSpPr>
          <p:cNvPr id="4" name="Scheda Le regole"/>
          <p:cNvSpPr/>
          <p:nvPr/>
        </p:nvSpPr>
        <p:spPr>
          <a:xfrm>
            <a:off x="685800" y="1828800"/>
            <a:ext cx="3423818" cy="3063240"/>
          </a:xfrm>
          <a:prstGeom prst="roundRect">
            <a:avLst>
              <a:gd name="adj" fmla="val 417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Icona Le regole fondo"/>
          <p:cNvSpPr/>
          <p:nvPr/>
        </p:nvSpPr>
        <p:spPr>
          <a:xfrm>
            <a:off x="1005840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6" name="Icona Le rego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313432"/>
            <a:ext cx="356616" cy="356616"/>
          </a:xfrm>
          <a:prstGeom prst="rect">
            <a:avLst/>
          </a:prstGeom>
        </p:spPr>
      </p:pic>
      <p:sp>
        <p:nvSpPr>
          <p:cNvPr id="7" name="Titolo Le regole"/>
          <p:cNvSpPr txBox="1"/>
          <p:nvPr/>
        </p:nvSpPr>
        <p:spPr>
          <a:xfrm>
            <a:off x="1005840" y="3017520"/>
            <a:ext cx="2783738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regole</a:t>
            </a:r>
            <a:endParaRPr lang="en-US" sz="2100" dirty="0"/>
          </a:p>
        </p:txBody>
      </p:sp>
      <p:sp>
        <p:nvSpPr>
          <p:cNvPr id="8" name="Testo Le regole"/>
          <p:cNvSpPr txBox="1"/>
          <p:nvPr/>
        </p:nvSpPr>
        <p:spPr>
          <a:xfrm>
            <a:off x="1005840" y="3470910"/>
            <a:ext cx="2783738" cy="135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Account, email, pagamenti, dispositivi, dati e AI: cosa si fa e cosa no.</a:t>
            </a:r>
            <a:endParaRPr lang="en-US" sz="1600" dirty="0"/>
          </a:p>
        </p:txBody>
      </p:sp>
      <p:sp>
        <p:nvSpPr>
          <p:cNvPr id="9" name="Scheda I processi"/>
          <p:cNvSpPr/>
          <p:nvPr/>
        </p:nvSpPr>
        <p:spPr>
          <a:xfrm>
            <a:off x="4383938" y="1828800"/>
            <a:ext cx="3423818" cy="3063240"/>
          </a:xfrm>
          <a:prstGeom prst="roundRect">
            <a:avLst>
              <a:gd name="adj" fmla="val 417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0" name="Icona I processi fondo"/>
          <p:cNvSpPr/>
          <p:nvPr/>
        </p:nvSpPr>
        <p:spPr>
          <a:xfrm>
            <a:off x="4703978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1" name="Icona I process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570" y="2313432"/>
            <a:ext cx="356616" cy="356616"/>
          </a:xfrm>
          <a:prstGeom prst="rect">
            <a:avLst/>
          </a:prstGeom>
        </p:spPr>
      </p:pic>
      <p:sp>
        <p:nvSpPr>
          <p:cNvPr id="12" name="Titolo I processi"/>
          <p:cNvSpPr txBox="1"/>
          <p:nvPr/>
        </p:nvSpPr>
        <p:spPr>
          <a:xfrm>
            <a:off x="4703978" y="3017520"/>
            <a:ext cx="2783738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processi</a:t>
            </a:r>
            <a:endParaRPr lang="en-US" sz="2100" dirty="0"/>
          </a:p>
        </p:txBody>
      </p:sp>
      <p:sp>
        <p:nvSpPr>
          <p:cNvPr id="13" name="Testo I processi"/>
          <p:cNvSpPr txBox="1"/>
          <p:nvPr/>
        </p:nvSpPr>
        <p:spPr>
          <a:xfrm>
            <a:off x="4703978" y="3470910"/>
            <a:ext cx="2783738" cy="135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fare se succede qualcosa, come configurare i dispositivi, cosa cambia quando entri o esci.</a:t>
            </a:r>
            <a:endParaRPr lang="en-US" sz="1600" dirty="0"/>
          </a:p>
        </p:txBody>
      </p:sp>
      <p:sp>
        <p:nvSpPr>
          <p:cNvPr id="14" name="Scheda Le policy"/>
          <p:cNvSpPr/>
          <p:nvPr/>
        </p:nvSpPr>
        <p:spPr>
          <a:xfrm>
            <a:off x="8082077" y="1828800"/>
            <a:ext cx="3423818" cy="3063240"/>
          </a:xfrm>
          <a:prstGeom prst="roundRect">
            <a:avLst>
              <a:gd name="adj" fmla="val 417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5" name="Icona Le policy fondo"/>
          <p:cNvSpPr/>
          <p:nvPr/>
        </p:nvSpPr>
        <p:spPr>
          <a:xfrm>
            <a:off x="8402117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6" name="Icona Le polic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2313432"/>
            <a:ext cx="356616" cy="356616"/>
          </a:xfrm>
          <a:prstGeom prst="rect">
            <a:avLst/>
          </a:prstGeom>
        </p:spPr>
      </p:pic>
      <p:sp>
        <p:nvSpPr>
          <p:cNvPr id="17" name="Titolo Le policy"/>
          <p:cNvSpPr txBox="1"/>
          <p:nvPr/>
        </p:nvSpPr>
        <p:spPr>
          <a:xfrm>
            <a:off x="8402117" y="3017520"/>
            <a:ext cx="2783738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policy</a:t>
            </a:r>
            <a:endParaRPr lang="en-US" sz="2100" dirty="0"/>
          </a:p>
        </p:txBody>
      </p:sp>
      <p:sp>
        <p:nvSpPr>
          <p:cNvPr id="18" name="Testo Le policy"/>
          <p:cNvSpPr txBox="1"/>
          <p:nvPr/>
        </p:nvSpPr>
        <p:spPr>
          <a:xfrm>
            <a:off x="8402117" y="3470910"/>
            <a:ext cx="2783738" cy="135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12 policy aziendali in breve, allineate a ISO 27001 e alla legge sulla protezione dei dati.</a:t>
            </a:r>
            <a:endParaRPr lang="en-US" sz="1600" dirty="0"/>
          </a:p>
        </p:txBody>
      </p:sp>
      <p:sp>
        <p:nvSpPr>
          <p:cNvPr id="19" name="nota Valgono per tutti allo stesso modo,"/>
          <p:cNvSpPr/>
          <p:nvPr/>
        </p:nvSpPr>
        <p:spPr>
          <a:xfrm>
            <a:off x="685800" y="5212080"/>
            <a:ext cx="10820095" cy="777240"/>
          </a:xfrm>
          <a:prstGeom prst="roundRect">
            <a:avLst>
              <a:gd name="adj" fmla="val 16471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20" name="nota icon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36108"/>
            <a:ext cx="329184" cy="329184"/>
          </a:xfrm>
          <a:prstGeom prst="rect">
            <a:avLst/>
          </a:prstGeom>
        </p:spPr>
      </p:pic>
      <p:sp>
        <p:nvSpPr>
          <p:cNvPr id="21" name="nota testo"/>
          <p:cNvSpPr txBox="1"/>
          <p:nvPr/>
        </p:nvSpPr>
        <p:spPr>
          <a:xfrm>
            <a:off x="1417320" y="5212080"/>
            <a:ext cx="9859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Valgono per tutti allo stesso modo,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collaboratori esterni compresi. Non servono a controllarti: servono a proteggerti.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PUNTO</a:t>
            </a:r>
            <a:endParaRPr lang="en-US" sz="1200" dirty="0"/>
          </a:p>
        </p:txBody>
      </p:sp>
      <p:sp>
        <p:nvSpPr>
          <p:cNvPr id="3" name="Messaggio"/>
          <p:cNvSpPr txBox="1"/>
          <p:nvPr/>
        </p:nvSpPr>
        <p:spPr>
          <a:xfrm>
            <a:off x="685800" y="1097280"/>
            <a:ext cx="108200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truffe funzionano quando decidi da solo e di fretta.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B4D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le regole non decidi mai da solo, né di fretta.</a:t>
            </a:r>
            <a:endParaRPr lang="en-US" sz="3200" dirty="0"/>
          </a:p>
        </p:txBody>
      </p:sp>
      <p:sp>
        <p:nvSpPr>
          <p:cNvPr id="4" name="Sottotesto"/>
          <p:cNvSpPr txBox="1"/>
          <p:nvPr/>
        </p:nvSpPr>
        <p:spPr>
          <a:xfrm>
            <a:off x="685800" y="3459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una regola chiara non improvvisi: se qualcuno ti mette fretta, la risposta è già scritta.</a:t>
            </a:r>
            <a:endParaRPr lang="en-US" sz="2000" dirty="0"/>
          </a:p>
        </p:txBody>
      </p:sp>
      <p:sp>
        <p:nvSpPr>
          <p:cNvPr id="5" name="Dato"/>
          <p:cNvSpPr/>
          <p:nvPr/>
        </p:nvSpPr>
        <p:spPr>
          <a:xfrm>
            <a:off x="685800" y="4800600"/>
            <a:ext cx="10820095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ato numero"/>
          <p:cNvSpPr txBox="1"/>
          <p:nvPr/>
        </p:nvSpPr>
        <p:spPr>
          <a:xfrm>
            <a:off x="1005840" y="480060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persone</a:t>
            </a:r>
            <a:endParaRPr lang="en-US" sz="3800" dirty="0"/>
          </a:p>
        </p:txBody>
      </p:sp>
      <p:sp>
        <p:nvSpPr>
          <p:cNvPr id="7" name="Dato testo"/>
          <p:cNvSpPr txBox="1"/>
          <p:nvPr/>
        </p:nvSpPr>
        <p:spPr>
          <a:xfrm>
            <a:off x="4087368" y="4800600"/>
            <a:ext cx="714420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firmano ogni pagamento. Se la richiesta è nuova, urgente o insolita, prima si richiama a un numero già noto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regola dei 4 occhi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RIGUARDA 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L’azienda ha due perimetri. Uno sei tu</a:t>
            </a:r>
            <a:endParaRPr lang="en-US" sz="3400" dirty="0"/>
          </a:p>
        </p:txBody>
      </p:sp>
      <p:pic>
        <p:nvPicPr>
          <p:cNvPr id="4" name="Schema dall’HTM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04110"/>
            <a:ext cx="6766560" cy="3101340"/>
          </a:xfrm>
          <a:prstGeom prst="rect">
            <a:avLst/>
          </a:prstGeom>
        </p:spPr>
      </p:pic>
      <p:sp>
        <p:nvSpPr>
          <p:cNvPr id="5" name="Spiegazione"/>
          <p:cNvSpPr/>
          <p:nvPr/>
        </p:nvSpPr>
        <p:spPr>
          <a:xfrm>
            <a:off x="7863840" y="1828800"/>
            <a:ext cx="3642055" cy="4251960"/>
          </a:xfrm>
          <a:prstGeom prst="roundRect">
            <a:avLst>
              <a:gd name="adj" fmla="val 3515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" name="Punto 48% · ransomware"/>
          <p:cNvSpPr txBox="1"/>
          <p:nvPr/>
        </p:nvSpPr>
        <p:spPr>
          <a:xfrm>
            <a:off x="8138160" y="2148840"/>
            <a:ext cx="309341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 · ransomware</a:t>
            </a:r>
            <a:endParaRPr lang="en-US" sz="1800" dirty="0"/>
          </a:p>
        </p:txBody>
      </p:sp>
      <p:sp>
        <p:nvSpPr>
          <p:cNvPr id="7" name="Testo 48% · ransomware"/>
          <p:cNvSpPr txBox="1"/>
          <p:nvPr/>
        </p:nvSpPr>
        <p:spPr>
          <a:xfrm>
            <a:off x="8138160" y="2555748"/>
            <a:ext cx="3093415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Quasi una violazione su due coinvolge un ransomware: file bloccati o rubati e un riscatto (Verizon DBIR 2026).</a:t>
            </a:r>
            <a:endParaRPr lang="en-US" sz="1500" dirty="0"/>
          </a:p>
        </p:txBody>
      </p:sp>
      <p:sp>
        <p:nvSpPr>
          <p:cNvPr id="8" name="Punto 48% · fornitori"/>
          <p:cNvSpPr txBox="1"/>
          <p:nvPr/>
        </p:nvSpPr>
        <p:spPr>
          <a:xfrm>
            <a:off x="8138160" y="3832860"/>
            <a:ext cx="309341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 · fornitori</a:t>
            </a:r>
            <a:endParaRPr lang="en-US" sz="1800" dirty="0"/>
          </a:p>
        </p:txBody>
      </p:sp>
      <p:sp>
        <p:nvSpPr>
          <p:cNvPr id="9" name="Testo 48% · fornitori"/>
          <p:cNvSpPr txBox="1"/>
          <p:nvPr/>
        </p:nvSpPr>
        <p:spPr>
          <a:xfrm>
            <a:off x="8138160" y="4239768"/>
            <a:ext cx="3093415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Quasi una su due passa da un fornitore o un partner, in forte aumento (Verizon DBIR 2026).</a:t>
            </a:r>
            <a:endParaRPr lang="en-US" sz="1500" dirty="0"/>
          </a:p>
        </p:txBody>
      </p:sp>
      <p:sp>
        <p:nvSpPr>
          <p:cNvPr id="10" name="Didascalia"/>
          <p:cNvSpPr txBox="1"/>
          <p:nvPr/>
        </p:nvSpPr>
        <p:spPr>
          <a:xfrm>
            <a:off x="685800" y="59893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dal capitolo 1: “Perché riguarda te”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CASO VERO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videochiamata da 25 milioni</a:t>
            </a:r>
            <a:endParaRPr lang="en-US" sz="3400" dirty="0"/>
          </a:p>
        </p:txBody>
      </p:sp>
      <p:sp>
        <p:nvSpPr>
          <p:cNvPr id="4" name="Linea del tempo"/>
          <p:cNvSpPr/>
          <p:nvPr/>
        </p:nvSpPr>
        <p:spPr>
          <a:xfrm>
            <a:off x="804672" y="2057400"/>
            <a:ext cx="0" cy="2596896"/>
          </a:xfrm>
          <a:prstGeom prst="line">
            <a:avLst/>
          </a:prstGeom>
          <a:noFill/>
          <a:ln w="25400">
            <a:solidFill>
              <a:srgbClr val="E4E8EE"/>
            </a:solidFill>
            <a:prstDash val="solid"/>
          </a:ln>
        </p:spPr>
      </p:sp>
      <p:sp>
        <p:nvSpPr>
          <p:cNvPr id="5" name="Punto Gennaio 2024, Hong Kong"/>
          <p:cNvSpPr/>
          <p:nvPr/>
        </p:nvSpPr>
        <p:spPr>
          <a:xfrm>
            <a:off x="685800" y="1938528"/>
            <a:ext cx="237744" cy="237744"/>
          </a:xfrm>
          <a:prstGeom prst="ellipse">
            <a:avLst/>
          </a:prstGeom>
          <a:solidFill>
            <a:srgbClr val="1B4D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Quando Gennaio 2024, Hong Kong"/>
          <p:cNvSpPr txBox="1"/>
          <p:nvPr/>
        </p:nvSpPr>
        <p:spPr>
          <a:xfrm>
            <a:off x="1188720" y="18745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GENNAIO 2024, HONG KONG</a:t>
            </a:r>
            <a:endParaRPr lang="en-US" sz="1200" dirty="0"/>
          </a:p>
        </p:txBody>
      </p:sp>
      <p:sp>
        <p:nvSpPr>
          <p:cNvPr id="7" name="Fatto Gennaio 2024, Hong Kong"/>
          <p:cNvSpPr txBox="1"/>
          <p:nvPr/>
        </p:nvSpPr>
        <p:spPr>
          <a:xfrm>
            <a:off x="1188720" y="2203704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dipendente di Arup riceve un messaggio che sembra del direttore finanziario: serve un’operazione riservata.</a:t>
            </a:r>
            <a:endParaRPr lang="en-US" sz="1700" dirty="0"/>
          </a:p>
        </p:txBody>
      </p:sp>
      <p:sp>
        <p:nvSpPr>
          <p:cNvPr id="8" name="Punto La videochiamata"/>
          <p:cNvSpPr/>
          <p:nvPr/>
        </p:nvSpPr>
        <p:spPr>
          <a:xfrm>
            <a:off x="685800" y="3236976"/>
            <a:ext cx="237744" cy="237744"/>
          </a:xfrm>
          <a:prstGeom prst="ellipse">
            <a:avLst/>
          </a:prstGeom>
          <a:solidFill>
            <a:srgbClr val="1B4D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Quando La videochiamata"/>
          <p:cNvSpPr txBox="1"/>
          <p:nvPr/>
        </p:nvSpPr>
        <p:spPr>
          <a:xfrm>
            <a:off x="1188720" y="31729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VIDEOCHIAMATA</a:t>
            </a:r>
            <a:endParaRPr lang="en-US" sz="1200" dirty="0"/>
          </a:p>
        </p:txBody>
      </p:sp>
      <p:sp>
        <p:nvSpPr>
          <p:cNvPr id="10" name="Fatto La videochiamata"/>
          <p:cNvSpPr txBox="1"/>
          <p:nvPr/>
        </p:nvSpPr>
        <p:spPr>
          <a:xfrm>
            <a:off x="1188720" y="3502152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Sospetta, ma in video vede il direttore e alcuni colleghi. Facce e voci giuste. Sono tutti falsi, creati con l’AI.</a:t>
            </a:r>
            <a:endParaRPr lang="en-US" sz="1700" dirty="0"/>
          </a:p>
        </p:txBody>
      </p:sp>
      <p:sp>
        <p:nvSpPr>
          <p:cNvPr id="11" name="Punto Il risultato"/>
          <p:cNvSpPr/>
          <p:nvPr/>
        </p:nvSpPr>
        <p:spPr>
          <a:xfrm>
            <a:off x="685800" y="4535424"/>
            <a:ext cx="237744" cy="237744"/>
          </a:xfrm>
          <a:prstGeom prst="ellipse">
            <a:avLst/>
          </a:prstGeom>
          <a:solidFill>
            <a:srgbClr val="B4231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Quando Il risultato"/>
          <p:cNvSpPr txBox="1"/>
          <p:nvPr/>
        </p:nvSpPr>
        <p:spPr>
          <a:xfrm>
            <a:off x="1188720" y="447141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RISULTATO</a:t>
            </a:r>
            <a:endParaRPr lang="en-US" sz="1200" dirty="0"/>
          </a:p>
        </p:txBody>
      </p:sp>
      <p:sp>
        <p:nvSpPr>
          <p:cNvPr id="13" name="Fatto Il risultato"/>
          <p:cNvSpPr txBox="1"/>
          <p:nvPr/>
        </p:nvSpPr>
        <p:spPr>
          <a:xfrm>
            <a:off x="1188720" y="480060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bonifici su 5 conti: 200 milioni di dollari di Hong Kong, circa 25 milioni di dollari americani.</a:t>
            </a:r>
            <a:endParaRPr lang="en-US" sz="1700" dirty="0"/>
          </a:p>
        </p:txBody>
      </p:sp>
      <p:sp>
        <p:nvSpPr>
          <p:cNvPr id="14" name="Lezione"/>
          <p:cNvSpPr/>
          <p:nvPr/>
        </p:nvSpPr>
        <p:spPr>
          <a:xfrm>
            <a:off x="7589520" y="1828800"/>
            <a:ext cx="3916375" cy="2103120"/>
          </a:xfrm>
          <a:prstGeom prst="roundRect">
            <a:avLst>
              <a:gd name="adj" fmla="val 6087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pic>
        <p:nvPicPr>
          <p:cNvPr id="15" name="Lezione 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103120"/>
            <a:ext cx="384048" cy="384048"/>
          </a:xfrm>
          <a:prstGeom prst="rect">
            <a:avLst/>
          </a:prstGeom>
        </p:spPr>
      </p:pic>
      <p:sp>
        <p:nvSpPr>
          <p:cNvPr id="16" name="Lezione titolo"/>
          <p:cNvSpPr txBox="1"/>
          <p:nvPr/>
        </p:nvSpPr>
        <p:spPr>
          <a:xfrm>
            <a:off x="8366760" y="2103120"/>
            <a:ext cx="2864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l’avrebbe fermato</a:t>
            </a:r>
            <a:endParaRPr lang="en-US" sz="1900" dirty="0"/>
          </a:p>
        </p:txBody>
      </p:sp>
      <p:sp>
        <p:nvSpPr>
          <p:cNvPr id="17" name="Lezione testo"/>
          <p:cNvSpPr txBox="1"/>
          <p:nvPr/>
        </p:nvSpPr>
        <p:spPr>
          <a:xfrm>
            <a:off x="7863840" y="2633472"/>
            <a:ext cx="33677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Richiamare il direttore a un numero già noto e far approvare il pagamento da una seconda persona. È la regola dei 4 occhi.</a:t>
            </a:r>
            <a:endParaRPr lang="en-US" sz="1600" dirty="0"/>
          </a:p>
        </p:txBody>
      </p:sp>
      <p:sp>
        <p:nvSpPr>
          <p:cNvPr id="18" name="Nel materiale"/>
          <p:cNvSpPr/>
          <p:nvPr/>
        </p:nvSpPr>
        <p:spPr>
          <a:xfrm>
            <a:off x="7589520" y="4114800"/>
            <a:ext cx="3916375" cy="1828800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pic>
        <p:nvPicPr>
          <p:cNvPr id="19" name="Materiale ic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361688"/>
            <a:ext cx="347472" cy="347472"/>
          </a:xfrm>
          <a:prstGeom prst="rect">
            <a:avLst/>
          </a:prstGeom>
        </p:spPr>
      </p:pic>
      <p:sp>
        <p:nvSpPr>
          <p:cNvPr id="20" name="Materiale titolo"/>
          <p:cNvSpPr txBox="1"/>
          <p:nvPr/>
        </p:nvSpPr>
        <p:spPr>
          <a:xfrm>
            <a:off x="8366760" y="4361688"/>
            <a:ext cx="28648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materiale</a:t>
            </a:r>
            <a:endParaRPr lang="en-US" sz="1600" dirty="0"/>
          </a:p>
        </p:txBody>
      </p:sp>
      <p:sp>
        <p:nvSpPr>
          <p:cNvPr id="21" name="Materiale testo"/>
          <p:cNvSpPr txBox="1"/>
          <p:nvPr/>
        </p:nvSpPr>
        <p:spPr>
          <a:xfrm>
            <a:off x="7863840" y="4800600"/>
            <a:ext cx="33677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regola dei 4 occhi passo per passo: capitolo 3. Se un pagamento è già partito: playbook nel capitolo 9.</a:t>
            </a:r>
            <a:endParaRPr lang="en-US" sz="1400" dirty="0"/>
          </a:p>
        </p:txBody>
      </p:sp>
      <p:sp>
        <p:nvSpPr>
          <p:cNvPr id="22" name="Fonte"/>
          <p:cNvSpPr txBox="1"/>
          <p:nvPr/>
        </p:nvSpPr>
        <p:spPr>
          <a:xfrm>
            <a:off x="685800" y="59893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Fonti: CNN, 16.05.2024 · Dezeen, 17.05.2024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REGOLA CHIAVE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Ogni dato ha un livello</a:t>
            </a:r>
            <a:endParaRPr lang="en-US" sz="3400" dirty="0"/>
          </a:p>
        </p:txBody>
      </p:sp>
      <p:sp>
        <p:nvSpPr>
          <p:cNvPr id="4" name="Livello Pubblico"/>
          <p:cNvSpPr/>
          <p:nvPr/>
        </p:nvSpPr>
        <p:spPr>
          <a:xfrm>
            <a:off x="685800" y="1828800"/>
            <a:ext cx="2533574" cy="2880360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Livello testata"/>
          <p:cNvSpPr/>
          <p:nvPr/>
        </p:nvSpPr>
        <p:spPr>
          <a:xfrm>
            <a:off x="777240" y="1920240"/>
            <a:ext cx="2350694" cy="566928"/>
          </a:xfrm>
          <a:prstGeom prst="roundRect">
            <a:avLst>
              <a:gd name="adj" fmla="val 16129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6" name="Nome Pubblico"/>
          <p:cNvSpPr txBox="1"/>
          <p:nvPr/>
        </p:nvSpPr>
        <p:spPr>
          <a:xfrm>
            <a:off x="960120" y="1920240"/>
            <a:ext cx="19849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7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Pubblico</a:t>
            </a:r>
            <a:endParaRPr lang="en-US" sz="1900" dirty="0"/>
          </a:p>
        </p:txBody>
      </p:sp>
      <p:sp>
        <p:nvSpPr>
          <p:cNvPr id="7" name="Definizione Pubblico"/>
          <p:cNvSpPr txBox="1"/>
          <p:nvPr/>
        </p:nvSpPr>
        <p:spPr>
          <a:xfrm>
            <a:off x="960120" y="2697480"/>
            <a:ext cx="19849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Fatto per essere visto da tutti</a:t>
            </a:r>
            <a:endParaRPr lang="en-US" sz="1500" dirty="0"/>
          </a:p>
        </p:txBody>
      </p:sp>
      <p:sp>
        <p:nvSpPr>
          <p:cNvPr id="8" name="Esempi Pubblico"/>
          <p:cNvSpPr txBox="1"/>
          <p:nvPr/>
        </p:nvSpPr>
        <p:spPr>
          <a:xfrm>
            <a:off x="960120" y="3520440"/>
            <a:ext cx="19849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sito web, brochure, annunci pubblicati</a:t>
            </a:r>
            <a:endParaRPr lang="en-US" sz="1400" dirty="0"/>
          </a:p>
        </p:txBody>
      </p:sp>
      <p:sp>
        <p:nvSpPr>
          <p:cNvPr id="9" name="Livello Interno"/>
          <p:cNvSpPr/>
          <p:nvPr/>
        </p:nvSpPr>
        <p:spPr>
          <a:xfrm>
            <a:off x="3447974" y="1828800"/>
            <a:ext cx="2533574" cy="2880360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0" name="Livello testata"/>
          <p:cNvSpPr/>
          <p:nvPr/>
        </p:nvSpPr>
        <p:spPr>
          <a:xfrm>
            <a:off x="3539414" y="1920240"/>
            <a:ext cx="2350694" cy="566928"/>
          </a:xfrm>
          <a:prstGeom prst="roundRect">
            <a:avLst>
              <a:gd name="adj" fmla="val 16129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11" name="Nome Interno"/>
          <p:cNvSpPr txBox="1"/>
          <p:nvPr/>
        </p:nvSpPr>
        <p:spPr>
          <a:xfrm>
            <a:off x="3722294" y="1920240"/>
            <a:ext cx="19849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Interno</a:t>
            </a:r>
            <a:endParaRPr lang="en-US" sz="1900" dirty="0"/>
          </a:p>
        </p:txBody>
      </p:sp>
      <p:sp>
        <p:nvSpPr>
          <p:cNvPr id="12" name="Definizione Interno"/>
          <p:cNvSpPr txBox="1"/>
          <p:nvPr/>
        </p:nvSpPr>
        <p:spPr>
          <a:xfrm>
            <a:off x="3722294" y="2697480"/>
            <a:ext cx="19849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 colleghi, danno limitato se esce</a:t>
            </a:r>
            <a:endParaRPr lang="en-US" sz="1500" dirty="0"/>
          </a:p>
        </p:txBody>
      </p:sp>
      <p:sp>
        <p:nvSpPr>
          <p:cNvPr id="13" name="Esempi Interno"/>
          <p:cNvSpPr txBox="1"/>
          <p:nvPr/>
        </p:nvSpPr>
        <p:spPr>
          <a:xfrm>
            <a:off x="3722294" y="3520440"/>
            <a:ext cx="19849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procedure, organigramma, calendario interno</a:t>
            </a:r>
            <a:endParaRPr lang="en-US" sz="1400" dirty="0"/>
          </a:p>
        </p:txBody>
      </p:sp>
      <p:sp>
        <p:nvSpPr>
          <p:cNvPr id="14" name="Livello Confidenziale"/>
          <p:cNvSpPr/>
          <p:nvPr/>
        </p:nvSpPr>
        <p:spPr>
          <a:xfrm>
            <a:off x="6210148" y="1828800"/>
            <a:ext cx="2533574" cy="2880360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5" name="Livello testata"/>
          <p:cNvSpPr/>
          <p:nvPr/>
        </p:nvSpPr>
        <p:spPr>
          <a:xfrm>
            <a:off x="6301588" y="1920240"/>
            <a:ext cx="2350694" cy="566928"/>
          </a:xfrm>
          <a:prstGeom prst="roundRect">
            <a:avLst>
              <a:gd name="adj" fmla="val 16129"/>
            </a:avLst>
          </a:prstGeom>
          <a:solidFill>
            <a:srgbClr val="FFF8E6"/>
          </a:solidFill>
          <a:ln w="12700">
            <a:solidFill>
              <a:srgbClr val="FFF8E6"/>
            </a:solidFill>
            <a:prstDash val="solid"/>
          </a:ln>
        </p:spPr>
      </p:sp>
      <p:sp>
        <p:nvSpPr>
          <p:cNvPr id="16" name="Nome Confidenziale"/>
          <p:cNvSpPr txBox="1"/>
          <p:nvPr/>
        </p:nvSpPr>
        <p:spPr>
          <a:xfrm>
            <a:off x="6484468" y="1920240"/>
            <a:ext cx="19849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15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Confidenziale</a:t>
            </a:r>
            <a:endParaRPr lang="en-US" sz="1900" dirty="0"/>
          </a:p>
        </p:txBody>
      </p:sp>
      <p:sp>
        <p:nvSpPr>
          <p:cNvPr id="17" name="Definizione Confidenziale"/>
          <p:cNvSpPr txBox="1"/>
          <p:nvPr/>
        </p:nvSpPr>
        <p:spPr>
          <a:xfrm>
            <a:off x="6484468" y="2697480"/>
            <a:ext cx="19849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per chi ne ha bisogno, per nome</a:t>
            </a:r>
            <a:endParaRPr lang="en-US" sz="1500" dirty="0"/>
          </a:p>
        </p:txBody>
      </p:sp>
      <p:sp>
        <p:nvSpPr>
          <p:cNvPr id="18" name="Esempi Confidenziale"/>
          <p:cNvSpPr txBox="1"/>
          <p:nvPr/>
        </p:nvSpPr>
        <p:spPr>
          <a:xfrm>
            <a:off x="6484468" y="3520440"/>
            <a:ext cx="19849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contratti, offerte, dati clienti, finanze</a:t>
            </a:r>
            <a:endParaRPr lang="en-US" sz="1400" dirty="0"/>
          </a:p>
        </p:txBody>
      </p:sp>
      <p:sp>
        <p:nvSpPr>
          <p:cNvPr id="19" name="Livello Segreto"/>
          <p:cNvSpPr/>
          <p:nvPr/>
        </p:nvSpPr>
        <p:spPr>
          <a:xfrm>
            <a:off x="8972321" y="1828800"/>
            <a:ext cx="2533574" cy="2880360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0" name="Livello testata"/>
          <p:cNvSpPr/>
          <p:nvPr/>
        </p:nvSpPr>
        <p:spPr>
          <a:xfrm>
            <a:off x="9063761" y="1920240"/>
            <a:ext cx="2350694" cy="566928"/>
          </a:xfrm>
          <a:prstGeom prst="roundRect">
            <a:avLst>
              <a:gd name="adj" fmla="val 16129"/>
            </a:avLst>
          </a:prstGeom>
          <a:solidFill>
            <a:srgbClr val="FEF3F2"/>
          </a:solidFill>
          <a:ln w="12700">
            <a:solidFill>
              <a:srgbClr val="FEF3F2"/>
            </a:solidFill>
            <a:prstDash val="solid"/>
          </a:ln>
        </p:spPr>
      </p:sp>
      <p:sp>
        <p:nvSpPr>
          <p:cNvPr id="21" name="Nome Segreto"/>
          <p:cNvSpPr txBox="1"/>
          <p:nvPr/>
        </p:nvSpPr>
        <p:spPr>
          <a:xfrm>
            <a:off x="9246641" y="1920240"/>
            <a:ext cx="19849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Segreto</a:t>
            </a:r>
            <a:endParaRPr lang="en-US" sz="1900" dirty="0"/>
          </a:p>
        </p:txBody>
      </p:sp>
      <p:sp>
        <p:nvSpPr>
          <p:cNvPr id="22" name="Definizione Segreto"/>
          <p:cNvSpPr txBox="1"/>
          <p:nvPr/>
        </p:nvSpPr>
        <p:spPr>
          <a:xfrm>
            <a:off x="9246641" y="2697480"/>
            <a:ext cx="19849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 minimo, sempre cifrato</a:t>
            </a:r>
            <a:endParaRPr lang="en-US" sz="1500" dirty="0"/>
          </a:p>
        </p:txBody>
      </p:sp>
      <p:sp>
        <p:nvSpPr>
          <p:cNvPr id="23" name="Esempi Segreto"/>
          <p:cNvSpPr txBox="1"/>
          <p:nvPr/>
        </p:nvSpPr>
        <p:spPr>
          <a:xfrm>
            <a:off x="9246641" y="3520440"/>
            <a:ext cx="19849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credenziali, dati bancari, documenti d’identità, salute</a:t>
            </a:r>
            <a:endParaRPr lang="en-US" sz="1400" dirty="0"/>
          </a:p>
        </p:txBody>
      </p:sp>
      <p:sp>
        <p:nvSpPr>
          <p:cNvPr id="24" name="nota Il livello decide dove può andare."/>
          <p:cNvSpPr/>
          <p:nvPr/>
        </p:nvSpPr>
        <p:spPr>
          <a:xfrm>
            <a:off x="685800" y="4983480"/>
            <a:ext cx="10820095" cy="685800"/>
          </a:xfrm>
          <a:prstGeom prst="roundRect">
            <a:avLst>
              <a:gd name="adj" fmla="val 1866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25" name="nota 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1788"/>
            <a:ext cx="329184" cy="329184"/>
          </a:xfrm>
          <a:prstGeom prst="rect">
            <a:avLst/>
          </a:prstGeom>
        </p:spPr>
      </p:pic>
      <p:sp>
        <p:nvSpPr>
          <p:cNvPr id="26" name="nota testo"/>
          <p:cNvSpPr txBox="1"/>
          <p:nvPr/>
        </p:nvSpPr>
        <p:spPr>
          <a:xfrm>
            <a:off x="1417320" y="4983480"/>
            <a:ext cx="9859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livello decide dove può andare.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Drive, WhatsApp, AI, chiavetta: la tabella completa è nel capitolo sui dati. Nel dubbio, Confidenziale.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SUCCEDE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Quattro passi, in quest’ordine</a:t>
            </a:r>
            <a:endParaRPr lang="en-US" sz="3400" dirty="0"/>
          </a:p>
        </p:txBody>
      </p:sp>
      <p:sp>
        <p:nvSpPr>
          <p:cNvPr id="4" name="Passo Stop"/>
          <p:cNvSpPr/>
          <p:nvPr/>
        </p:nvSpPr>
        <p:spPr>
          <a:xfrm>
            <a:off x="685800" y="1828800"/>
            <a:ext cx="2396414" cy="2514600"/>
          </a:xfrm>
          <a:prstGeom prst="roundRect">
            <a:avLst>
              <a:gd name="adj" fmla="val 5342"/>
            </a:avLst>
          </a:prstGeom>
          <a:solidFill>
            <a:srgbClr val="FEF3F2"/>
          </a:solidFill>
          <a:ln w="12700">
            <a:solidFill>
              <a:srgbClr val="FEF3F2"/>
            </a:solidFill>
            <a:prstDash val="solid"/>
          </a:ln>
        </p:spPr>
      </p:sp>
      <p:sp>
        <p:nvSpPr>
          <p:cNvPr id="5" name="numero 1"/>
          <p:cNvSpPr/>
          <p:nvPr/>
        </p:nvSpPr>
        <p:spPr>
          <a:xfrm>
            <a:off x="960120" y="2103120"/>
            <a:ext cx="502920" cy="50292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6" name="numero testo 1"/>
          <p:cNvSpPr txBox="1"/>
          <p:nvPr/>
        </p:nvSpPr>
        <p:spPr>
          <a:xfrm>
            <a:off x="9601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cona Sto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6414" y="2148840"/>
            <a:ext cx="411480" cy="411480"/>
          </a:xfrm>
          <a:prstGeom prst="rect">
            <a:avLst/>
          </a:prstGeom>
        </p:spPr>
      </p:pic>
      <p:sp>
        <p:nvSpPr>
          <p:cNvPr id="8" name="Titolo Stop"/>
          <p:cNvSpPr txBox="1"/>
          <p:nvPr/>
        </p:nvSpPr>
        <p:spPr>
          <a:xfrm>
            <a:off x="960120" y="2788920"/>
            <a:ext cx="1847774" cy="364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2000" dirty="0"/>
          </a:p>
        </p:txBody>
      </p:sp>
      <p:sp>
        <p:nvSpPr>
          <p:cNvPr id="9" name="Testo Stop"/>
          <p:cNvSpPr txBox="1"/>
          <p:nvPr/>
        </p:nvSpPr>
        <p:spPr>
          <a:xfrm>
            <a:off x="960120" y="3199384"/>
            <a:ext cx="1847774" cy="105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cliccare altro, non cancellare niente.</a:t>
            </a:r>
            <a:endParaRPr lang="en-US" sz="1500" dirty="0"/>
          </a:p>
        </p:txBody>
      </p:sp>
      <p:pic>
        <p:nvPicPr>
          <p:cNvPr id="10" name="Frecci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934" y="2926080"/>
            <a:ext cx="320040" cy="320040"/>
          </a:xfrm>
          <a:prstGeom prst="rect">
            <a:avLst/>
          </a:prstGeom>
        </p:spPr>
      </p:pic>
      <p:sp>
        <p:nvSpPr>
          <p:cNvPr id="11" name="Passo Stacca dalla rete"/>
          <p:cNvSpPr/>
          <p:nvPr/>
        </p:nvSpPr>
        <p:spPr>
          <a:xfrm>
            <a:off x="3493694" y="1828800"/>
            <a:ext cx="2396414" cy="2514600"/>
          </a:xfrm>
          <a:prstGeom prst="roundRect">
            <a:avLst>
              <a:gd name="adj" fmla="val 5342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2" name="numero 2"/>
          <p:cNvSpPr/>
          <p:nvPr/>
        </p:nvSpPr>
        <p:spPr>
          <a:xfrm>
            <a:off x="3768014" y="2103120"/>
            <a:ext cx="502920" cy="502920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3" name="numero testo 2"/>
          <p:cNvSpPr txBox="1"/>
          <p:nvPr/>
        </p:nvSpPr>
        <p:spPr>
          <a:xfrm>
            <a:off x="3768014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Icona Stacca dalla ret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308" y="2148840"/>
            <a:ext cx="411480" cy="411480"/>
          </a:xfrm>
          <a:prstGeom prst="rect">
            <a:avLst/>
          </a:prstGeom>
        </p:spPr>
      </p:pic>
      <p:sp>
        <p:nvSpPr>
          <p:cNvPr id="15" name="Titolo Stacca dalla rete"/>
          <p:cNvSpPr txBox="1"/>
          <p:nvPr/>
        </p:nvSpPr>
        <p:spPr>
          <a:xfrm>
            <a:off x="3768014" y="2788920"/>
            <a:ext cx="1847774" cy="674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Stacca dalla rete</a:t>
            </a:r>
            <a:endParaRPr lang="en-US" sz="2000" dirty="0"/>
          </a:p>
        </p:txBody>
      </p:sp>
      <p:sp>
        <p:nvSpPr>
          <p:cNvPr id="16" name="Testo Stacca dalla rete"/>
          <p:cNvSpPr txBox="1"/>
          <p:nvPr/>
        </p:nvSpPr>
        <p:spPr>
          <a:xfrm>
            <a:off x="3768014" y="3509264"/>
            <a:ext cx="1847774" cy="74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spento, cavo scollegato.</a:t>
            </a:r>
            <a:endParaRPr lang="en-US" sz="1500" dirty="0"/>
          </a:p>
        </p:txBody>
      </p:sp>
      <p:pic>
        <p:nvPicPr>
          <p:cNvPr id="17" name="Frecci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828" y="2926080"/>
            <a:ext cx="320040" cy="320040"/>
          </a:xfrm>
          <a:prstGeom prst="rect">
            <a:avLst/>
          </a:prstGeom>
        </p:spPr>
      </p:pic>
      <p:sp>
        <p:nvSpPr>
          <p:cNvPr id="18" name="Passo Non spegnere"/>
          <p:cNvSpPr/>
          <p:nvPr/>
        </p:nvSpPr>
        <p:spPr>
          <a:xfrm>
            <a:off x="6301588" y="1828800"/>
            <a:ext cx="2396414" cy="2514600"/>
          </a:xfrm>
          <a:prstGeom prst="roundRect">
            <a:avLst>
              <a:gd name="adj" fmla="val 5342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9" name="numero 3"/>
          <p:cNvSpPr/>
          <p:nvPr/>
        </p:nvSpPr>
        <p:spPr>
          <a:xfrm>
            <a:off x="6575908" y="2103120"/>
            <a:ext cx="502920" cy="502920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20" name="numero testo 3"/>
          <p:cNvSpPr txBox="1"/>
          <p:nvPr/>
        </p:nvSpPr>
        <p:spPr>
          <a:xfrm>
            <a:off x="6575908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Icona Non spegner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2201" y="2148840"/>
            <a:ext cx="411480" cy="411480"/>
          </a:xfrm>
          <a:prstGeom prst="rect">
            <a:avLst/>
          </a:prstGeom>
        </p:spPr>
      </p:pic>
      <p:sp>
        <p:nvSpPr>
          <p:cNvPr id="22" name="Titolo Non spegnere"/>
          <p:cNvSpPr txBox="1"/>
          <p:nvPr/>
        </p:nvSpPr>
        <p:spPr>
          <a:xfrm>
            <a:off x="6575908" y="2788920"/>
            <a:ext cx="1847774" cy="364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spegnere</a:t>
            </a:r>
            <a:endParaRPr lang="en-US" sz="2000" dirty="0"/>
          </a:p>
        </p:txBody>
      </p:sp>
      <p:sp>
        <p:nvSpPr>
          <p:cNvPr id="23" name="Testo Non spegnere"/>
          <p:cNvSpPr txBox="1"/>
          <p:nvPr/>
        </p:nvSpPr>
        <p:spPr>
          <a:xfrm>
            <a:off x="6575908" y="3199384"/>
            <a:ext cx="1847774" cy="105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memoria contiene le prove di cosa è stato preso.</a:t>
            </a:r>
            <a:endParaRPr lang="en-US" sz="1500" dirty="0"/>
          </a:p>
        </p:txBody>
      </p:sp>
      <p:pic>
        <p:nvPicPr>
          <p:cNvPr id="24" name="Frecci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3721" y="2926080"/>
            <a:ext cx="320040" cy="320040"/>
          </a:xfrm>
          <a:prstGeom prst="rect">
            <a:avLst/>
          </a:prstGeom>
        </p:spPr>
      </p:pic>
      <p:sp>
        <p:nvSpPr>
          <p:cNvPr id="25" name="Passo Segnala"/>
          <p:cNvSpPr/>
          <p:nvPr/>
        </p:nvSpPr>
        <p:spPr>
          <a:xfrm>
            <a:off x="9109481" y="1828800"/>
            <a:ext cx="2396414" cy="2514600"/>
          </a:xfrm>
          <a:prstGeom prst="roundRect">
            <a:avLst>
              <a:gd name="adj" fmla="val 5342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6" name="numero 4"/>
          <p:cNvSpPr/>
          <p:nvPr/>
        </p:nvSpPr>
        <p:spPr>
          <a:xfrm>
            <a:off x="9383801" y="2103120"/>
            <a:ext cx="502920" cy="502920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27" name="numero testo 4"/>
          <p:cNvSpPr txBox="1"/>
          <p:nvPr/>
        </p:nvSpPr>
        <p:spPr>
          <a:xfrm>
            <a:off x="9383801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pic>
        <p:nvPicPr>
          <p:cNvPr id="28" name="Icona Segnala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0095" y="2148840"/>
            <a:ext cx="411480" cy="411480"/>
          </a:xfrm>
          <a:prstGeom prst="rect">
            <a:avLst/>
          </a:prstGeom>
        </p:spPr>
      </p:pic>
      <p:sp>
        <p:nvSpPr>
          <p:cNvPr id="29" name="Titolo Segnala"/>
          <p:cNvSpPr txBox="1"/>
          <p:nvPr/>
        </p:nvSpPr>
        <p:spPr>
          <a:xfrm>
            <a:off x="9383801" y="2788920"/>
            <a:ext cx="1847774" cy="364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Segnala</a:t>
            </a:r>
            <a:endParaRPr lang="en-US" sz="2000" dirty="0"/>
          </a:p>
        </p:txBody>
      </p:sp>
      <p:sp>
        <p:nvSpPr>
          <p:cNvPr id="30" name="Testo Segnala"/>
          <p:cNvSpPr txBox="1"/>
          <p:nvPr/>
        </p:nvSpPr>
        <p:spPr>
          <a:xfrm>
            <a:off x="9383801" y="3199384"/>
            <a:ext cx="1847774" cy="105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referente IT: cosa, quando, foto dello schermo con il telefono.</a:t>
            </a:r>
            <a:endParaRPr lang="en-US" sz="1500" dirty="0"/>
          </a:p>
        </p:txBody>
      </p:sp>
      <p:sp>
        <p:nvSpPr>
          <p:cNvPr id="31" name="nota Unica eccezione:"/>
          <p:cNvSpPr/>
          <p:nvPr/>
        </p:nvSpPr>
        <p:spPr>
          <a:xfrm>
            <a:off x="685800" y="4617720"/>
            <a:ext cx="10820095" cy="640080"/>
          </a:xfrm>
          <a:prstGeom prst="roundRect">
            <a:avLst>
              <a:gd name="adj" fmla="val 20000"/>
            </a:avLst>
          </a:prstGeom>
          <a:solidFill>
            <a:srgbClr val="FFF8E6"/>
          </a:solidFill>
          <a:ln w="12700">
            <a:solidFill>
              <a:srgbClr val="FFF8E6"/>
            </a:solidFill>
            <a:prstDash val="solid"/>
          </a:ln>
        </p:spPr>
      </p:sp>
      <p:pic>
        <p:nvPicPr>
          <p:cNvPr id="32" name="nota icona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773168"/>
            <a:ext cx="329184" cy="329184"/>
          </a:xfrm>
          <a:prstGeom prst="rect">
            <a:avLst/>
          </a:prstGeom>
        </p:spPr>
      </p:pic>
      <p:sp>
        <p:nvSpPr>
          <p:cNvPr id="33" name="nota testo"/>
          <p:cNvSpPr txBox="1"/>
          <p:nvPr/>
        </p:nvSpPr>
        <p:spPr>
          <a:xfrm>
            <a:off x="1417320" y="4617720"/>
            <a:ext cx="9859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5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Unica eccezione: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che cambiano nome sotto i tuoi occhi. Stacca la rete e, se continua, spegni.</a:t>
            </a:r>
            <a:endParaRPr lang="en-US" sz="1600" dirty="0"/>
          </a:p>
        </p:txBody>
      </p:sp>
      <p:sp>
        <p:nvSpPr>
          <p:cNvPr id="34" name="nota Nel materiale, capitolo 9:"/>
          <p:cNvSpPr/>
          <p:nvPr/>
        </p:nvSpPr>
        <p:spPr>
          <a:xfrm>
            <a:off x="685800" y="5394960"/>
            <a:ext cx="10820095" cy="6400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35" name="nota icona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5550408"/>
            <a:ext cx="329184" cy="329184"/>
          </a:xfrm>
          <a:prstGeom prst="rect">
            <a:avLst/>
          </a:prstGeom>
        </p:spPr>
      </p:pic>
      <p:sp>
        <p:nvSpPr>
          <p:cNvPr id="36" name="nota testo"/>
          <p:cNvSpPr txBox="1"/>
          <p:nvPr/>
        </p:nvSpPr>
        <p:spPr>
          <a:xfrm>
            <a:off x="1417320" y="5394960"/>
            <a:ext cx="9859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materiale, capitolo 9: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playbook, uno per ogni caso: link cliccato, account rubato, pagamento partito, telefono perso e altri.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MATERIALE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trovi nella Parte 2</a:t>
            </a:r>
            <a:endParaRPr lang="en-US" sz="3400" dirty="0"/>
          </a:p>
        </p:txBody>
      </p:sp>
      <p:sp>
        <p:nvSpPr>
          <p:cNvPr id="4" name="Sezione Regole"/>
          <p:cNvSpPr/>
          <p:nvPr/>
        </p:nvSpPr>
        <p:spPr>
          <a:xfrm>
            <a:off x="685800" y="1828800"/>
            <a:ext cx="5048590" cy="3657600"/>
          </a:xfrm>
          <a:prstGeom prst="roundRect">
            <a:avLst>
              <a:gd name="adj" fmla="val 3500"/>
            </a:avLst>
          </a:prstGeom>
          <a:solidFill>
            <a:srgbClr val="EAF2FC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5" name="Etichetta Regole"/>
          <p:cNvSpPr txBox="1"/>
          <p:nvPr/>
        </p:nvSpPr>
        <p:spPr>
          <a:xfrm>
            <a:off x="941832" y="2057400"/>
            <a:ext cx="45365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SEZIONE A</a:t>
            </a:r>
            <a:endParaRPr lang="en-US" sz="1100" dirty="0"/>
          </a:p>
        </p:txBody>
      </p:sp>
      <p:sp>
        <p:nvSpPr>
          <p:cNvPr id="6" name="Nome Regole"/>
          <p:cNvSpPr txBox="1"/>
          <p:nvPr/>
        </p:nvSpPr>
        <p:spPr>
          <a:xfrm>
            <a:off x="941832" y="2331720"/>
            <a:ext cx="45365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Regole</a:t>
            </a:r>
            <a:endParaRPr lang="en-US" sz="1800" dirty="0"/>
          </a:p>
        </p:txBody>
      </p:sp>
      <p:sp>
        <p:nvSpPr>
          <p:cNvPr id="7" name="Cap 1"/>
          <p:cNvSpPr txBox="1"/>
          <p:nvPr/>
        </p:nvSpPr>
        <p:spPr>
          <a:xfrm>
            <a:off x="941832" y="28803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Capitolo Perché riguarda te"/>
          <p:cNvSpPr txBox="1"/>
          <p:nvPr/>
        </p:nvSpPr>
        <p:spPr>
          <a:xfrm>
            <a:off x="1307592" y="2880360"/>
            <a:ext cx="181106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riguarda te</a:t>
            </a:r>
            <a:endParaRPr lang="en-US" sz="1400" dirty="0"/>
          </a:p>
        </p:txBody>
      </p:sp>
      <p:sp>
        <p:nvSpPr>
          <p:cNvPr id="9" name="Cap 2"/>
          <p:cNvSpPr txBox="1"/>
          <p:nvPr/>
        </p:nvSpPr>
        <p:spPr>
          <a:xfrm>
            <a:off x="941832" y="33832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Capitolo Account, password e 2FA: le regole"/>
          <p:cNvSpPr txBox="1"/>
          <p:nvPr/>
        </p:nvSpPr>
        <p:spPr>
          <a:xfrm>
            <a:off x="1307592" y="3383280"/>
            <a:ext cx="181106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Account, password e 2FA: le regole</a:t>
            </a:r>
            <a:endParaRPr lang="en-US" sz="1400" dirty="0"/>
          </a:p>
        </p:txBody>
      </p:sp>
      <p:sp>
        <p:nvSpPr>
          <p:cNvPr id="11" name="Cap 3"/>
          <p:cNvSpPr txBox="1"/>
          <p:nvPr/>
        </p:nvSpPr>
        <p:spPr>
          <a:xfrm>
            <a:off x="941832" y="38862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Capitolo Email, telefono e pagamenti: le regole"/>
          <p:cNvSpPr txBox="1"/>
          <p:nvPr/>
        </p:nvSpPr>
        <p:spPr>
          <a:xfrm>
            <a:off x="1307592" y="3886200"/>
            <a:ext cx="181106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telefono e pagamenti: le regole</a:t>
            </a:r>
            <a:endParaRPr lang="en-US" sz="1400" dirty="0"/>
          </a:p>
        </p:txBody>
      </p:sp>
      <p:sp>
        <p:nvSpPr>
          <p:cNvPr id="13" name="Cap 4"/>
          <p:cNvSpPr txBox="1"/>
          <p:nvPr/>
        </p:nvSpPr>
        <p:spPr>
          <a:xfrm>
            <a:off x="941832" y="43891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Capitolo Dispositivi, casa e viaggio"/>
          <p:cNvSpPr txBox="1"/>
          <p:nvPr/>
        </p:nvSpPr>
        <p:spPr>
          <a:xfrm>
            <a:off x="1307592" y="4389120"/>
            <a:ext cx="181106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Dispositivi, casa e viaggio</a:t>
            </a:r>
            <a:endParaRPr lang="en-US" sz="1400" dirty="0"/>
          </a:p>
        </p:txBody>
      </p:sp>
      <p:sp>
        <p:nvSpPr>
          <p:cNvPr id="15" name="Cap 5"/>
          <p:cNvSpPr txBox="1"/>
          <p:nvPr/>
        </p:nvSpPr>
        <p:spPr>
          <a:xfrm>
            <a:off x="3210095" y="28803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Capitolo Dati: classificazione e condivisione"/>
          <p:cNvSpPr txBox="1"/>
          <p:nvPr/>
        </p:nvSpPr>
        <p:spPr>
          <a:xfrm>
            <a:off x="3575855" y="2880360"/>
            <a:ext cx="181106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Dati: classificazione e condivisione</a:t>
            </a:r>
            <a:endParaRPr lang="en-US" sz="1400" dirty="0"/>
          </a:p>
        </p:txBody>
      </p:sp>
      <p:sp>
        <p:nvSpPr>
          <p:cNvPr id="17" name="Cap 6"/>
          <p:cNvSpPr txBox="1"/>
          <p:nvPr/>
        </p:nvSpPr>
        <p:spPr>
          <a:xfrm>
            <a:off x="3210095" y="33832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8" name="Capitolo Ufficio e sicurezza fisica"/>
          <p:cNvSpPr txBox="1"/>
          <p:nvPr/>
        </p:nvSpPr>
        <p:spPr>
          <a:xfrm>
            <a:off x="3575855" y="3383280"/>
            <a:ext cx="181106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Ufficio e sicurezza fisica</a:t>
            </a:r>
            <a:endParaRPr lang="en-US" sz="1400" dirty="0"/>
          </a:p>
        </p:txBody>
      </p:sp>
      <p:sp>
        <p:nvSpPr>
          <p:cNvPr id="19" name="Cap 7"/>
          <p:cNvSpPr txBox="1"/>
          <p:nvPr/>
        </p:nvSpPr>
        <p:spPr>
          <a:xfrm>
            <a:off x="3210095" y="38862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0" name="Capitolo Software, social e AI"/>
          <p:cNvSpPr txBox="1"/>
          <p:nvPr/>
        </p:nvSpPr>
        <p:spPr>
          <a:xfrm>
            <a:off x="3575855" y="3886200"/>
            <a:ext cx="181106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Software, social e AI</a:t>
            </a:r>
            <a:endParaRPr lang="en-US" sz="1400" dirty="0"/>
          </a:p>
        </p:txBody>
      </p:sp>
      <p:sp>
        <p:nvSpPr>
          <p:cNvPr id="21" name="Cap 8"/>
          <p:cNvSpPr txBox="1"/>
          <p:nvPr/>
        </p:nvSpPr>
        <p:spPr>
          <a:xfrm>
            <a:off x="3210095" y="43891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2" name="Capitolo Privacy e legge (nLPD)"/>
          <p:cNvSpPr txBox="1"/>
          <p:nvPr/>
        </p:nvSpPr>
        <p:spPr>
          <a:xfrm>
            <a:off x="3575855" y="4389120"/>
            <a:ext cx="181106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e legge (nLPD)</a:t>
            </a:r>
            <a:endParaRPr lang="en-US" sz="1400" dirty="0"/>
          </a:p>
        </p:txBody>
      </p:sp>
      <p:sp>
        <p:nvSpPr>
          <p:cNvPr id="23" name="Sezione Processi e setup"/>
          <p:cNvSpPr/>
          <p:nvPr/>
        </p:nvSpPr>
        <p:spPr>
          <a:xfrm>
            <a:off x="5962990" y="1828800"/>
            <a:ext cx="2657153" cy="3657600"/>
          </a:xfrm>
          <a:prstGeom prst="roundRect">
            <a:avLst>
              <a:gd name="adj" fmla="val 4818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4" name="Etichetta Processi e setup"/>
          <p:cNvSpPr txBox="1"/>
          <p:nvPr/>
        </p:nvSpPr>
        <p:spPr>
          <a:xfrm>
            <a:off x="6219022" y="2057400"/>
            <a:ext cx="21450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SEZIONE B</a:t>
            </a:r>
            <a:endParaRPr lang="en-US" sz="1100" dirty="0"/>
          </a:p>
        </p:txBody>
      </p:sp>
      <p:sp>
        <p:nvSpPr>
          <p:cNvPr id="25" name="Nome Processi e setup"/>
          <p:cNvSpPr txBox="1"/>
          <p:nvPr/>
        </p:nvSpPr>
        <p:spPr>
          <a:xfrm>
            <a:off x="6219022" y="2331720"/>
            <a:ext cx="21450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 e setup</a:t>
            </a:r>
            <a:endParaRPr lang="en-US" sz="1800" dirty="0"/>
          </a:p>
        </p:txBody>
      </p:sp>
      <p:sp>
        <p:nvSpPr>
          <p:cNvPr id="26" name="Cap 9"/>
          <p:cNvSpPr txBox="1"/>
          <p:nvPr/>
        </p:nvSpPr>
        <p:spPr>
          <a:xfrm>
            <a:off x="6219022" y="28803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27" name="Capitolo Incidenti: cosa fare"/>
          <p:cNvSpPr txBox="1"/>
          <p:nvPr/>
        </p:nvSpPr>
        <p:spPr>
          <a:xfrm>
            <a:off x="6584782" y="2880360"/>
            <a:ext cx="16878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Incidenti: cosa fare</a:t>
            </a:r>
            <a:endParaRPr lang="en-US" sz="1400" dirty="0"/>
          </a:p>
        </p:txBody>
      </p:sp>
      <p:sp>
        <p:nvSpPr>
          <p:cNvPr id="28" name="Cap 10"/>
          <p:cNvSpPr txBox="1"/>
          <p:nvPr/>
        </p:nvSpPr>
        <p:spPr>
          <a:xfrm>
            <a:off x="6219022" y="33832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29" name="Capitolo Setup guidato"/>
          <p:cNvSpPr txBox="1"/>
          <p:nvPr/>
        </p:nvSpPr>
        <p:spPr>
          <a:xfrm>
            <a:off x="6584782" y="3383280"/>
            <a:ext cx="16878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guidato</a:t>
            </a:r>
            <a:endParaRPr lang="en-US" sz="1400" dirty="0"/>
          </a:p>
        </p:txBody>
      </p:sp>
      <p:sp>
        <p:nvSpPr>
          <p:cNvPr id="30" name="Cap 11"/>
          <p:cNvSpPr txBox="1"/>
          <p:nvPr/>
        </p:nvSpPr>
        <p:spPr>
          <a:xfrm>
            <a:off x="6219022" y="38862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1" name="Capitolo Entrata, cambio ruolo, uscita"/>
          <p:cNvSpPr txBox="1"/>
          <p:nvPr/>
        </p:nvSpPr>
        <p:spPr>
          <a:xfrm>
            <a:off x="6584782" y="3886200"/>
            <a:ext cx="16878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Entrata, cambio ruolo, uscita</a:t>
            </a:r>
            <a:endParaRPr lang="en-US" sz="1400" dirty="0"/>
          </a:p>
        </p:txBody>
      </p:sp>
      <p:sp>
        <p:nvSpPr>
          <p:cNvPr id="32" name="Sezione Policy e verifica"/>
          <p:cNvSpPr/>
          <p:nvPr/>
        </p:nvSpPr>
        <p:spPr>
          <a:xfrm>
            <a:off x="8848743" y="1828800"/>
            <a:ext cx="2657153" cy="3657600"/>
          </a:xfrm>
          <a:prstGeom prst="roundRect">
            <a:avLst>
              <a:gd name="adj" fmla="val 4818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3" name="Etichetta Policy e verifica"/>
          <p:cNvSpPr txBox="1"/>
          <p:nvPr/>
        </p:nvSpPr>
        <p:spPr>
          <a:xfrm>
            <a:off x="9104775" y="2057400"/>
            <a:ext cx="21450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SEZIONE C</a:t>
            </a:r>
            <a:endParaRPr lang="en-US" sz="1100" dirty="0"/>
          </a:p>
        </p:txBody>
      </p:sp>
      <p:sp>
        <p:nvSpPr>
          <p:cNvPr id="34" name="Nome Policy e verifica"/>
          <p:cNvSpPr txBox="1"/>
          <p:nvPr/>
        </p:nvSpPr>
        <p:spPr>
          <a:xfrm>
            <a:off x="9104775" y="2331720"/>
            <a:ext cx="21450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 verifica</a:t>
            </a:r>
            <a:endParaRPr lang="en-US" sz="1800" dirty="0"/>
          </a:p>
        </p:txBody>
      </p:sp>
      <p:sp>
        <p:nvSpPr>
          <p:cNvPr id="35" name="Cap 12"/>
          <p:cNvSpPr txBox="1"/>
          <p:nvPr/>
        </p:nvSpPr>
        <p:spPr>
          <a:xfrm>
            <a:off x="9104775" y="28803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36" name="Capitolo Le 12 policy in breve"/>
          <p:cNvSpPr txBox="1"/>
          <p:nvPr/>
        </p:nvSpPr>
        <p:spPr>
          <a:xfrm>
            <a:off x="9470535" y="2880360"/>
            <a:ext cx="16878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12 policy in breve</a:t>
            </a:r>
            <a:endParaRPr lang="en-US" sz="1400" dirty="0"/>
          </a:p>
        </p:txBody>
      </p:sp>
      <p:sp>
        <p:nvSpPr>
          <p:cNvPr id="37" name="Cap 13"/>
          <p:cNvSpPr txBox="1"/>
          <p:nvPr/>
        </p:nvSpPr>
        <p:spPr>
          <a:xfrm>
            <a:off x="9104775" y="33832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38" name="Capitolo Tech stack aziendale"/>
          <p:cNvSpPr txBox="1"/>
          <p:nvPr/>
        </p:nvSpPr>
        <p:spPr>
          <a:xfrm>
            <a:off x="9470535" y="3383280"/>
            <a:ext cx="16878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aziendale</a:t>
            </a:r>
            <a:endParaRPr lang="en-US" sz="1400" dirty="0"/>
          </a:p>
        </p:txBody>
      </p:sp>
      <p:sp>
        <p:nvSpPr>
          <p:cNvPr id="39" name="Cap 14"/>
          <p:cNvSpPr txBox="1"/>
          <p:nvPr/>
        </p:nvSpPr>
        <p:spPr>
          <a:xfrm>
            <a:off x="9104775" y="38862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0" name="Capitolo Checklist obbligatoria"/>
          <p:cNvSpPr txBox="1"/>
          <p:nvPr/>
        </p:nvSpPr>
        <p:spPr>
          <a:xfrm>
            <a:off x="9470535" y="3886200"/>
            <a:ext cx="16878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obbligatoria</a:t>
            </a:r>
            <a:endParaRPr lang="en-US" sz="1400" dirty="0"/>
          </a:p>
        </p:txBody>
      </p:sp>
      <p:sp>
        <p:nvSpPr>
          <p:cNvPr id="41" name="Cap 15"/>
          <p:cNvSpPr txBox="1"/>
          <p:nvPr/>
        </p:nvSpPr>
        <p:spPr>
          <a:xfrm>
            <a:off x="9104775" y="43891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2" name="Capitolo Test"/>
          <p:cNvSpPr txBox="1"/>
          <p:nvPr/>
        </p:nvSpPr>
        <p:spPr>
          <a:xfrm>
            <a:off x="9470535" y="4389120"/>
            <a:ext cx="16878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00" dirty="0"/>
          </a:p>
        </p:txBody>
      </p:sp>
      <p:sp>
        <p:nvSpPr>
          <p:cNvPr id="43" name="Cap 16"/>
          <p:cNvSpPr txBox="1"/>
          <p:nvPr/>
        </p:nvSpPr>
        <p:spPr>
          <a:xfrm>
            <a:off x="9104775" y="48920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44" name="Capitolo Fonti e approfondimenti"/>
          <p:cNvSpPr txBox="1"/>
          <p:nvPr/>
        </p:nvSpPr>
        <p:spPr>
          <a:xfrm>
            <a:off x="9470535" y="4892040"/>
            <a:ext cx="16878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 e approfondimenti</a:t>
            </a:r>
            <a:endParaRPr lang="en-US" sz="1400" dirty="0"/>
          </a:p>
        </p:txBody>
      </p:sp>
      <p:sp>
        <p:nvSpPr>
          <p:cNvPr id="45" name="nota Obbligatorio per tutti:"/>
          <p:cNvSpPr/>
          <p:nvPr/>
        </p:nvSpPr>
        <p:spPr>
          <a:xfrm>
            <a:off x="685800" y="5650992"/>
            <a:ext cx="10820095" cy="566928"/>
          </a:xfrm>
          <a:prstGeom prst="roundRect">
            <a:avLst>
              <a:gd name="adj" fmla="val 22581"/>
            </a:avLst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pic>
        <p:nvPicPr>
          <p:cNvPr id="46" name="nota 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769864"/>
            <a:ext cx="329184" cy="329184"/>
          </a:xfrm>
          <a:prstGeom prst="rect">
            <a:avLst/>
          </a:prstGeom>
        </p:spPr>
      </p:pic>
      <p:sp>
        <p:nvSpPr>
          <p:cNvPr id="47" name="nota testo"/>
          <p:cNvSpPr txBox="1"/>
          <p:nvPr/>
        </p:nvSpPr>
        <p:spPr>
          <a:xfrm>
            <a:off x="1417320" y="5650992"/>
            <a:ext cx="9859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Obbligatorio per tutti: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da 20 punti, test da 10 domande e le 12 policy.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ADESSO, INSIEME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cose da fare in 10 minuti</a:t>
            </a:r>
            <a:endParaRPr lang="en-US" sz="3400" dirty="0"/>
          </a:p>
        </p:txBody>
      </p:sp>
      <p:sp>
        <p:nvSpPr>
          <p:cNvPr id="4" name="Tempo"/>
          <p:cNvSpPr/>
          <p:nvPr/>
        </p:nvSpPr>
        <p:spPr>
          <a:xfrm>
            <a:off x="9905695" y="86868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pic>
        <p:nvPicPr>
          <p:cNvPr id="5" name="Tempo 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8575" y="978408"/>
            <a:ext cx="237744" cy="237744"/>
          </a:xfrm>
          <a:prstGeom prst="rect">
            <a:avLst/>
          </a:prstGeom>
        </p:spPr>
      </p:pic>
      <p:sp>
        <p:nvSpPr>
          <p:cNvPr id="6" name="Tempo testo"/>
          <p:cNvSpPr txBox="1"/>
          <p:nvPr/>
        </p:nvSpPr>
        <p:spPr>
          <a:xfrm>
            <a:off x="10362895" y="868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minuti</a:t>
            </a:r>
            <a:endParaRPr lang="en-US" sz="1400" dirty="0"/>
          </a:p>
        </p:txBody>
      </p:sp>
      <p:sp>
        <p:nvSpPr>
          <p:cNvPr id="7" name="Azione 1"/>
          <p:cNvSpPr/>
          <p:nvPr/>
        </p:nvSpPr>
        <p:spPr>
          <a:xfrm>
            <a:off x="685800" y="1828800"/>
            <a:ext cx="10820095" cy="1188720"/>
          </a:xfrm>
          <a:prstGeom prst="roundRect">
            <a:avLst>
              <a:gd name="adj" fmla="val 1076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8" name="numero 1"/>
          <p:cNvSpPr/>
          <p:nvPr/>
        </p:nvSpPr>
        <p:spPr>
          <a:xfrm>
            <a:off x="960120" y="2167128"/>
            <a:ext cx="512064" cy="512064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9" name="numero testo 1"/>
          <p:cNvSpPr txBox="1"/>
          <p:nvPr/>
        </p:nvSpPr>
        <p:spPr>
          <a:xfrm>
            <a:off x="960120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Icona azione 1 fondo"/>
          <p:cNvSpPr/>
          <p:nvPr/>
        </p:nvSpPr>
        <p:spPr>
          <a:xfrm>
            <a:off x="1691640" y="2103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1" name="Icona azion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259" y="2256739"/>
            <a:ext cx="332842" cy="332842"/>
          </a:xfrm>
          <a:prstGeom prst="rect">
            <a:avLst/>
          </a:prstGeom>
        </p:spPr>
      </p:pic>
      <p:sp>
        <p:nvSpPr>
          <p:cNvPr id="12" name="Azione titolo 1"/>
          <p:cNvSpPr txBox="1"/>
          <p:nvPr/>
        </p:nvSpPr>
        <p:spPr>
          <a:xfrm>
            <a:off x="2560320" y="2011680"/>
            <a:ext cx="8625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 nel telefono nome e numero del referente IT</a:t>
            </a:r>
            <a:endParaRPr lang="en-US" sz="2000" dirty="0"/>
          </a:p>
        </p:txBody>
      </p:sp>
      <p:sp>
        <p:nvSpPr>
          <p:cNvPr id="13" name="Azione testo 1"/>
          <p:cNvSpPr txBox="1"/>
          <p:nvPr/>
        </p:nvSpPr>
        <p:spPr>
          <a:xfrm>
            <a:off x="2560320" y="2450592"/>
            <a:ext cx="8625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Quello della tua azienda. Se non risponde entro 15 minuti, chiami la direzione.</a:t>
            </a:r>
            <a:endParaRPr lang="en-US" sz="1500" dirty="0"/>
          </a:p>
        </p:txBody>
      </p:sp>
      <p:sp>
        <p:nvSpPr>
          <p:cNvPr id="14" name="Azione 2"/>
          <p:cNvSpPr/>
          <p:nvPr/>
        </p:nvSpPr>
        <p:spPr>
          <a:xfrm>
            <a:off x="685800" y="3200400"/>
            <a:ext cx="10820095" cy="1188720"/>
          </a:xfrm>
          <a:prstGeom prst="roundRect">
            <a:avLst>
              <a:gd name="adj" fmla="val 1076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5" name="numero 2"/>
          <p:cNvSpPr/>
          <p:nvPr/>
        </p:nvSpPr>
        <p:spPr>
          <a:xfrm>
            <a:off x="960120" y="3538728"/>
            <a:ext cx="512064" cy="512064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6" name="numero testo 2"/>
          <p:cNvSpPr txBox="1"/>
          <p:nvPr/>
        </p:nvSpPr>
        <p:spPr>
          <a:xfrm>
            <a:off x="960120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Icona azione 2 fondo"/>
          <p:cNvSpPr/>
          <p:nvPr/>
        </p:nvSpPr>
        <p:spPr>
          <a:xfrm>
            <a:off x="1691640" y="34747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8" name="Icona azion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259" y="3628339"/>
            <a:ext cx="332842" cy="332842"/>
          </a:xfrm>
          <a:prstGeom prst="rect">
            <a:avLst/>
          </a:prstGeom>
        </p:spPr>
      </p:pic>
      <p:sp>
        <p:nvSpPr>
          <p:cNvPr id="19" name="Azione titolo 2"/>
          <p:cNvSpPr txBox="1"/>
          <p:nvPr/>
        </p:nvSpPr>
        <p:spPr>
          <a:xfrm>
            <a:off x="2560320" y="3383280"/>
            <a:ext cx="8625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tua la regola della richiamata</a:t>
            </a:r>
            <a:endParaRPr lang="en-US" sz="2000" dirty="0"/>
          </a:p>
        </p:txBody>
      </p:sp>
      <p:sp>
        <p:nvSpPr>
          <p:cNvPr id="20" name="Azione testo 2"/>
          <p:cNvSpPr txBox="1"/>
          <p:nvPr/>
        </p:nvSpPr>
        <p:spPr>
          <a:xfrm>
            <a:off x="2560320" y="3822192"/>
            <a:ext cx="8625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Richiesta nuova, urgente o insolita di soldi, dati o accessi? Richiami tu, a un numero che avevi già.</a:t>
            </a:r>
            <a:endParaRPr lang="en-US" sz="1500" dirty="0"/>
          </a:p>
        </p:txBody>
      </p:sp>
      <p:sp>
        <p:nvSpPr>
          <p:cNvPr id="21" name="Azione 3"/>
          <p:cNvSpPr/>
          <p:nvPr/>
        </p:nvSpPr>
        <p:spPr>
          <a:xfrm>
            <a:off x="685800" y="4572000"/>
            <a:ext cx="10820095" cy="1188720"/>
          </a:xfrm>
          <a:prstGeom prst="roundRect">
            <a:avLst>
              <a:gd name="adj" fmla="val 1076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2" name="numero 3"/>
          <p:cNvSpPr/>
          <p:nvPr/>
        </p:nvSpPr>
        <p:spPr>
          <a:xfrm>
            <a:off x="960120" y="4910328"/>
            <a:ext cx="512064" cy="512064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23" name="numero testo 3"/>
          <p:cNvSpPr txBox="1"/>
          <p:nvPr/>
        </p:nvSpPr>
        <p:spPr>
          <a:xfrm>
            <a:off x="960120" y="4910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Icona azione 3 fondo"/>
          <p:cNvSpPr/>
          <p:nvPr/>
        </p:nvSpPr>
        <p:spPr>
          <a:xfrm>
            <a:off x="1691640" y="48463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25" name="Icona azion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259" y="4999939"/>
            <a:ext cx="332842" cy="332842"/>
          </a:xfrm>
          <a:prstGeom prst="rect">
            <a:avLst/>
          </a:prstGeom>
        </p:spPr>
      </p:pic>
      <p:sp>
        <p:nvSpPr>
          <p:cNvPr id="26" name="Azione titolo 3"/>
          <p:cNvSpPr txBox="1"/>
          <p:nvPr/>
        </p:nvSpPr>
        <p:spPr>
          <a:xfrm>
            <a:off x="2560320" y="4754880"/>
            <a:ext cx="8625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 un documento che hai usato oggi</a:t>
            </a:r>
            <a:endParaRPr lang="en-US" sz="2000" dirty="0"/>
          </a:p>
        </p:txBody>
      </p:sp>
      <p:sp>
        <p:nvSpPr>
          <p:cNvPr id="27" name="Azione testo 3"/>
          <p:cNvSpPr txBox="1"/>
          <p:nvPr/>
        </p:nvSpPr>
        <p:spPr>
          <a:xfrm>
            <a:off x="2560320" y="5193792"/>
            <a:ext cx="8625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Pubblico, Interno, Confidenziale o Segreto? Nel dubbio, Confidenziale.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DOPO L’INCONTRO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resto lo leggi con calma</a:t>
            </a:r>
            <a:endParaRPr lang="en-US" sz="3400" dirty="0"/>
          </a:p>
        </p:txBody>
      </p:sp>
      <p:sp>
        <p:nvSpPr>
          <p:cNvPr id="4" name="Come si usa"/>
          <p:cNvSpPr/>
          <p:nvPr/>
        </p:nvSpPr>
        <p:spPr>
          <a:xfrm>
            <a:off x="685800" y="1828800"/>
            <a:ext cx="4983480" cy="4206240"/>
          </a:xfrm>
          <a:prstGeom prst="roundRect">
            <a:avLst>
              <a:gd name="adj" fmla="val 3043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Come si usa titolo"/>
          <p:cNvSpPr txBox="1"/>
          <p:nvPr/>
        </p:nvSpPr>
        <p:spPr>
          <a:xfrm>
            <a:off x="1005840" y="21031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SI USA IL MATERIALE</a:t>
            </a:r>
            <a:endParaRPr lang="en-US" sz="1200" dirty="0"/>
          </a:p>
        </p:txBody>
      </p:sp>
      <p:sp>
        <p:nvSpPr>
          <p:cNvPr id="6" name="Uso 0 fondo"/>
          <p:cNvSpPr/>
          <p:nvPr/>
        </p:nvSpPr>
        <p:spPr>
          <a:xfrm>
            <a:off x="1005840" y="26060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Uso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726741"/>
            <a:ext cx="261518" cy="261518"/>
          </a:xfrm>
          <a:prstGeom prst="rect">
            <a:avLst/>
          </a:prstGeom>
        </p:spPr>
      </p:pic>
      <p:sp>
        <p:nvSpPr>
          <p:cNvPr id="8" name="Uso testo 0"/>
          <p:cNvSpPr txBox="1"/>
          <p:nvPr/>
        </p:nvSpPr>
        <p:spPr>
          <a:xfrm>
            <a:off x="1691640" y="2560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 il link nel browser, anche dal telefono</a:t>
            </a:r>
            <a:endParaRPr lang="en-US" sz="1500" dirty="0"/>
          </a:p>
        </p:txBody>
      </p:sp>
      <p:sp>
        <p:nvSpPr>
          <p:cNvPr id="9" name="Uso 1 fondo"/>
          <p:cNvSpPr/>
          <p:nvPr/>
        </p:nvSpPr>
        <p:spPr>
          <a:xfrm>
            <a:off x="1005840" y="34290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Uso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541" y="3549701"/>
            <a:ext cx="261518" cy="261518"/>
          </a:xfrm>
          <a:prstGeom prst="rect">
            <a:avLst/>
          </a:prstGeom>
        </p:spPr>
      </p:pic>
      <p:sp>
        <p:nvSpPr>
          <p:cNvPr id="11" name="Uso testo 1"/>
          <p:cNvSpPr txBox="1"/>
          <p:nvPr/>
        </p:nvSpPr>
        <p:spPr>
          <a:xfrm>
            <a:off x="1691640" y="3383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Italiano o inglese: interruttore in alto a destra</a:t>
            </a:r>
            <a:endParaRPr lang="en-US" sz="1500" dirty="0"/>
          </a:p>
        </p:txBody>
      </p:sp>
      <p:sp>
        <p:nvSpPr>
          <p:cNvPr id="12" name="Uso 2 fondo"/>
          <p:cNvSpPr/>
          <p:nvPr/>
        </p:nvSpPr>
        <p:spPr>
          <a:xfrm>
            <a:off x="1005840" y="42519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Uso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1" y="4372661"/>
            <a:ext cx="261518" cy="261518"/>
          </a:xfrm>
          <a:prstGeom prst="rect">
            <a:avLst/>
          </a:prstGeom>
        </p:spPr>
      </p:pic>
      <p:sp>
        <p:nvSpPr>
          <p:cNvPr id="14" name="Uso testo 2"/>
          <p:cNvSpPr txBox="1"/>
          <p:nvPr/>
        </p:nvSpPr>
        <p:spPr>
          <a:xfrm>
            <a:off x="1691640" y="4206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Capitoli nel menu a sinistra, ognuno con il riassunto in cima</a:t>
            </a:r>
            <a:endParaRPr lang="en-US" sz="1500" dirty="0"/>
          </a:p>
        </p:txBody>
      </p:sp>
      <p:sp>
        <p:nvSpPr>
          <p:cNvPr id="15" name="Uso 3 fondo"/>
          <p:cNvSpPr/>
          <p:nvPr/>
        </p:nvSpPr>
        <p:spPr>
          <a:xfrm>
            <a:off x="1005840" y="5074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Uso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1" y="5195621"/>
            <a:ext cx="261518" cy="261518"/>
          </a:xfrm>
          <a:prstGeom prst="rect">
            <a:avLst/>
          </a:prstGeom>
        </p:spPr>
      </p:pic>
      <p:sp>
        <p:nvSpPr>
          <p:cNvPr id="17" name="Uso testo 3"/>
          <p:cNvSpPr txBox="1"/>
          <p:nvPr/>
        </p:nvSpPr>
        <p:spPr>
          <a:xfrm>
            <a:off x="1691640" y="5029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checklist si salva da sola sul tuo dispositivo</a:t>
            </a:r>
            <a:endParaRPr lang="en-US" sz="1500" dirty="0"/>
          </a:p>
        </p:txBody>
      </p:sp>
      <p:sp>
        <p:nvSpPr>
          <p:cNvPr id="18" name="Programma titolo"/>
          <p:cNvSpPr txBox="1"/>
          <p:nvPr/>
        </p:nvSpPr>
        <p:spPr>
          <a:xfrm>
            <a:off x="5989320" y="210312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TUO PROGRAMMA</a:t>
            </a:r>
            <a:endParaRPr lang="en-US" sz="1200" dirty="0"/>
          </a:p>
        </p:txBody>
      </p:sp>
      <p:sp>
        <p:nvSpPr>
          <p:cNvPr id="19" name="Linea programma"/>
          <p:cNvSpPr/>
          <p:nvPr/>
        </p:nvSpPr>
        <p:spPr>
          <a:xfrm>
            <a:off x="6117336" y="2697480"/>
            <a:ext cx="0" cy="2346960"/>
          </a:xfrm>
          <a:prstGeom prst="line">
            <a:avLst/>
          </a:prstGeom>
          <a:noFill/>
          <a:ln w="25400">
            <a:solidFill>
              <a:srgbClr val="E4E8EE"/>
            </a:solidFill>
            <a:prstDash val="solid"/>
          </a:ln>
        </p:spPr>
      </p:sp>
      <p:sp>
        <p:nvSpPr>
          <p:cNvPr id="20" name="Punto Entro una settimana"/>
          <p:cNvSpPr/>
          <p:nvPr/>
        </p:nvSpPr>
        <p:spPr>
          <a:xfrm>
            <a:off x="5989320" y="2624328"/>
            <a:ext cx="256032" cy="256032"/>
          </a:xfrm>
          <a:prstGeom prst="ellipse">
            <a:avLst/>
          </a:prstGeom>
          <a:solidFill>
            <a:srgbClr val="1B4D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Quando Entro una settimana"/>
          <p:cNvSpPr txBox="1"/>
          <p:nvPr/>
        </p:nvSpPr>
        <p:spPr>
          <a:xfrm>
            <a:off x="6492240" y="2560320"/>
            <a:ext cx="5013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 una settimana</a:t>
            </a:r>
            <a:endParaRPr lang="en-US" sz="1600" dirty="0"/>
          </a:p>
        </p:txBody>
      </p:sp>
      <p:sp>
        <p:nvSpPr>
          <p:cNvPr id="22" name="Cosa Entro una settimana"/>
          <p:cNvSpPr txBox="1"/>
          <p:nvPr/>
        </p:nvSpPr>
        <p:spPr>
          <a:xfrm>
            <a:off x="6492240" y="2907792"/>
            <a:ext cx="5013655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Leggi la Parte 2. Circa 45 minuti.</a:t>
            </a:r>
            <a:endParaRPr lang="en-US" sz="1500" dirty="0"/>
          </a:p>
        </p:txBody>
      </p:sp>
      <p:sp>
        <p:nvSpPr>
          <p:cNvPr id="23" name="Punto Entro tre settimane"/>
          <p:cNvSpPr/>
          <p:nvPr/>
        </p:nvSpPr>
        <p:spPr>
          <a:xfrm>
            <a:off x="5989320" y="3797808"/>
            <a:ext cx="256032" cy="256032"/>
          </a:xfrm>
          <a:prstGeom prst="ellipse">
            <a:avLst/>
          </a:prstGeom>
          <a:solidFill>
            <a:srgbClr val="1B4D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Quando Entro tre settimane"/>
          <p:cNvSpPr txBox="1"/>
          <p:nvPr/>
        </p:nvSpPr>
        <p:spPr>
          <a:xfrm>
            <a:off x="6492240" y="3733800"/>
            <a:ext cx="5013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 tre settimane</a:t>
            </a:r>
            <a:endParaRPr lang="en-US" sz="1600" dirty="0"/>
          </a:p>
        </p:txBody>
      </p:sp>
      <p:sp>
        <p:nvSpPr>
          <p:cNvPr id="25" name="Cosa Entro tre settimane"/>
          <p:cNvSpPr txBox="1"/>
          <p:nvPr/>
        </p:nvSpPr>
        <p:spPr>
          <a:xfrm>
            <a:off x="6492240" y="4081272"/>
            <a:ext cx="5013655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guidato dei dispositivi con il referente IT. Circa 2-3 ore.</a:t>
            </a:r>
            <a:endParaRPr lang="en-US" sz="1500" dirty="0"/>
          </a:p>
        </p:txBody>
      </p:sp>
      <p:sp>
        <p:nvSpPr>
          <p:cNvPr id="26" name="Punto Poi"/>
          <p:cNvSpPr/>
          <p:nvPr/>
        </p:nvSpPr>
        <p:spPr>
          <a:xfrm>
            <a:off x="5989320" y="4971288"/>
            <a:ext cx="256032" cy="256032"/>
          </a:xfrm>
          <a:prstGeom prst="ellipse">
            <a:avLst/>
          </a:prstGeom>
          <a:solidFill>
            <a:srgbClr val="1B4D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Quando Poi"/>
          <p:cNvSpPr txBox="1"/>
          <p:nvPr/>
        </p:nvSpPr>
        <p:spPr>
          <a:xfrm>
            <a:off x="6492240" y="4907280"/>
            <a:ext cx="5013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</a:t>
            </a:r>
            <a:endParaRPr lang="en-US" sz="1600" dirty="0"/>
          </a:p>
        </p:txBody>
      </p:sp>
      <p:sp>
        <p:nvSpPr>
          <p:cNvPr id="28" name="Cosa Poi"/>
          <p:cNvSpPr txBox="1"/>
          <p:nvPr/>
        </p:nvSpPr>
        <p:spPr>
          <a:xfrm>
            <a:off x="6492240" y="5254752"/>
            <a:ext cx="5013655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da 20 punti, test e le 12 policy. Dopo, AI Parte 1: AI al lavoro.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CHIUDERE</a:t>
            </a:r>
            <a:endParaRPr lang="en-US" sz="1200" dirty="0"/>
          </a:p>
        </p:txBody>
      </p:sp>
      <p:sp>
        <p:nvSpPr>
          <p:cNvPr id="3" name="Domande"/>
          <p:cNvSpPr txBox="1"/>
          <p:nvPr/>
        </p:nvSpPr>
        <p:spPr>
          <a:xfrm>
            <a:off x="685800" y="105156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Domande?</a:t>
            </a:r>
            <a:endParaRPr lang="en-US" sz="5400" dirty="0"/>
          </a:p>
        </p:txBody>
      </p:sp>
      <p:sp>
        <p:nvSpPr>
          <p:cNvPr id="4" name="Da portare a casa"/>
          <p:cNvSpPr txBox="1"/>
          <p:nvPr/>
        </p:nvSpPr>
        <p:spPr>
          <a:xfrm>
            <a:off x="685800" y="22860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PORTARE A CASA</a:t>
            </a:r>
            <a:endParaRPr lang="en-US" sz="1200" dirty="0"/>
          </a:p>
        </p:txBody>
      </p:sp>
      <p:pic>
        <p:nvPicPr>
          <p:cNvPr id="5" name="Spunta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761488"/>
            <a:ext cx="329184" cy="329184"/>
          </a:xfrm>
          <a:prstGeom prst="rect">
            <a:avLst/>
          </a:prstGeom>
        </p:spPr>
      </p:pic>
      <p:sp>
        <p:nvSpPr>
          <p:cNvPr id="6" name="Punto 0"/>
          <p:cNvSpPr txBox="1"/>
          <p:nvPr/>
        </p:nvSpPr>
        <p:spPr>
          <a:xfrm>
            <a:off x="1234440" y="269748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Soldi, dati o accessi: mai su richiesta arrivata da un solo canale</a:t>
            </a:r>
            <a:endParaRPr lang="en-US" sz="2100" dirty="0"/>
          </a:p>
        </p:txBody>
      </p:sp>
      <p:pic>
        <p:nvPicPr>
          <p:cNvPr id="7" name="Spun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19856"/>
            <a:ext cx="329184" cy="329184"/>
          </a:xfrm>
          <a:prstGeom prst="rect">
            <a:avLst/>
          </a:prstGeom>
        </p:spPr>
      </p:pic>
      <p:sp>
        <p:nvSpPr>
          <p:cNvPr id="8" name="Punto 1"/>
          <p:cNvSpPr txBox="1"/>
          <p:nvPr/>
        </p:nvSpPr>
        <p:spPr>
          <a:xfrm>
            <a:off x="1234440" y="3355848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dato ha un livello. Nel dubbio, Confidenziale</a:t>
            </a:r>
            <a:endParaRPr lang="en-US" sz="2100" dirty="0"/>
          </a:p>
        </p:txBody>
      </p:sp>
      <p:pic>
        <p:nvPicPr>
          <p:cNvPr id="9" name="Spunta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78224"/>
            <a:ext cx="329184" cy="329184"/>
          </a:xfrm>
          <a:prstGeom prst="rect">
            <a:avLst/>
          </a:prstGeom>
        </p:spPr>
      </p:pic>
      <p:sp>
        <p:nvSpPr>
          <p:cNvPr id="10" name="Punto 2"/>
          <p:cNvSpPr txBox="1"/>
          <p:nvPr/>
        </p:nvSpPr>
        <p:spPr>
          <a:xfrm>
            <a:off x="1234440" y="4014216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succede: stop, stacca, non spegnere, segnala</a:t>
            </a:r>
            <a:endParaRPr lang="en-US" sz="2100" dirty="0"/>
          </a:p>
        </p:txBody>
      </p:sp>
      <p:sp>
        <p:nvSpPr>
          <p:cNvPr id="11" name="Se succede"/>
          <p:cNvSpPr/>
          <p:nvPr/>
        </p:nvSpPr>
        <p:spPr>
          <a:xfrm>
            <a:off x="685800" y="4892040"/>
            <a:ext cx="10820095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Telef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166360"/>
            <a:ext cx="411480" cy="411480"/>
          </a:xfrm>
          <a:prstGeom prst="rect">
            <a:avLst/>
          </a:prstGeom>
        </p:spPr>
      </p:pic>
      <p:sp>
        <p:nvSpPr>
          <p:cNvPr id="13" name="Se succede testo"/>
          <p:cNvSpPr txBox="1"/>
          <p:nvPr/>
        </p:nvSpPr>
        <p:spPr>
          <a:xfrm>
            <a:off x="1645920" y="4892040"/>
            <a:ext cx="9585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ti succede qualcosa: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avvisa subito il referente IT della tua azienda. Prima lo fai, meglio è. Senza vergogna.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dove vengono i dati</a:t>
            </a:r>
            <a:endParaRPr lang="en-US" sz="3400" dirty="0"/>
          </a:p>
        </p:txBody>
      </p:sp>
      <p:sp>
        <p:nvSpPr>
          <p:cNvPr id="4" name="Fonte Verizon DBIR 2026"/>
          <p:cNvSpPr txBox="1"/>
          <p:nvPr/>
        </p:nvSpPr>
        <p:spPr>
          <a:xfrm>
            <a:off x="685800" y="1828800"/>
            <a:ext cx="522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Verizon DBIR 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 ransomware, 48% fornitori, 62% fattore umano</a:t>
            </a:r>
            <a:endParaRPr lang="en-US" sz="13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2D6C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verizon.com</a:t>
            </a:r>
            <a:endParaRPr lang="en-US" sz="1300" dirty="0"/>
          </a:p>
        </p:txBody>
      </p:sp>
      <p:sp>
        <p:nvSpPr>
          <p:cNvPr id="5" name="Fonte nLPD, Legge federale sulla protezione dei dati"/>
          <p:cNvSpPr txBox="1"/>
          <p:nvPr/>
        </p:nvSpPr>
        <p:spPr>
          <a:xfrm>
            <a:off x="685800" y="2670048"/>
            <a:ext cx="522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nLPD, Legge federale sulla protezione dei dati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multa fino a CHF 250’000 alla persona, art. 60 ss.</a:t>
            </a:r>
            <a:endParaRPr lang="en-US" sz="13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2D6C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fedlex.admin.ch</a:t>
            </a:r>
            <a:endParaRPr lang="en-US" sz="1300" dirty="0"/>
          </a:p>
        </p:txBody>
      </p:sp>
      <p:sp>
        <p:nvSpPr>
          <p:cNvPr id="6" name="Fonte CNN, 16.05.2024"/>
          <p:cNvSpPr txBox="1"/>
          <p:nvPr/>
        </p:nvSpPr>
        <p:spPr>
          <a:xfrm>
            <a:off x="6278728" y="1828800"/>
            <a:ext cx="522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CNN, 16.05.2024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Arup, 25 milioni di dollari persi con un deepfake</a:t>
            </a:r>
            <a:endParaRPr lang="en-US" sz="13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2D6C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cnn.com</a:t>
            </a:r>
            <a:endParaRPr lang="en-US" sz="1300" dirty="0"/>
          </a:p>
        </p:txBody>
      </p:sp>
      <p:sp>
        <p:nvSpPr>
          <p:cNvPr id="7" name="Fonte Dezeen, 17.05.2024"/>
          <p:cNvSpPr txBox="1"/>
          <p:nvPr/>
        </p:nvSpPr>
        <p:spPr>
          <a:xfrm>
            <a:off x="6278728" y="2670048"/>
            <a:ext cx="522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Dezeen, 17.05.2024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bonifici su cinque conti, gennaio 2024</a:t>
            </a:r>
            <a:endParaRPr lang="en-US" sz="13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2D6C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dezeen.com</a:t>
            </a:r>
            <a:endParaRPr lang="en-US" sz="1300" dirty="0"/>
          </a:p>
        </p:txBody>
      </p:sp>
      <p:sp>
        <p:nvSpPr>
          <p:cNvPr id="8" name="Nota fonti"/>
          <p:cNvSpPr txBox="1"/>
          <p:nvPr/>
        </p:nvSpPr>
        <p:spPr>
          <a:xfrm>
            <a:off x="685800" y="576072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Tutte le fonti, con i link, sono anche nell’ultimo capitolo del materiale.</a:t>
            </a:r>
            <a:endParaRPr lang="en-US" sz="1100" dirty="0"/>
          </a:p>
        </p:txBody>
      </p:sp>
      <p:sp>
        <p:nvSpPr>
          <p:cNvPr id="9" name="Crediti"/>
          <p:cNvSpPr txBox="1"/>
          <p:nvPr/>
        </p:nvSpPr>
        <p:spPr>
          <a:xfrm>
            <a:off x="685800" y="6016752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Aron Clementi. Materiale formativo a scopo informativo: non sostituisce una consulenza legale o tecnica né le regole della tua azienda. Fonti verificate alla data indicata; strumenti e prezzi cambiano.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curezza e AI">
  <a:themeElements>
    <a:clrScheme name="Sicurezza e AI">
      <a:dk1>
        <a:srgbClr val="111827"/>
      </a:dk1>
      <a:lt1>
        <a:srgbClr val="FFFFFF"/>
      </a:lt1>
      <a:dk2>
        <a:srgbClr val="1B4D89"/>
      </a:dk2>
      <a:lt2>
        <a:srgbClr val="EAF2FC"/>
      </a:lt2>
      <a:accent1>
        <a:srgbClr val="1B4D89"/>
      </a:accent1>
      <a:accent2>
        <a:srgbClr val="2D6CB5"/>
      </a:accent2>
      <a:accent3>
        <a:srgbClr val="067647"/>
      </a:accent3>
      <a:accent4>
        <a:srgbClr val="A15C07"/>
      </a:accent4>
      <a:accent5>
        <a:srgbClr val="B42318"/>
      </a:accent5>
      <a:accent6>
        <a:srgbClr val="6B7280"/>
      </a:accent6>
      <a:hlink>
        <a:srgbClr val="2D6CB5"/>
      </a:hlink>
      <a:folHlink>
        <a:srgbClr val="1B4D89"/>
      </a:folHlink>
    </a:clrScheme>
    <a:fontScheme name="Sicurezza e AI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Sicurezza e AI, materiale formativo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Sicurezza · Parte 2 · Regole e processi aziendali</dc:title>
  <dc:subject>PptxGenJS Presentation</dc:subject>
  <dc:creator>Aron Clementi</dc:creator>
  <cp:lastModifiedBy>Aron Clementi</cp:lastModifiedBy>
  <cp:revision>1</cp:revision>
  <dcterms:created xsi:type="dcterms:W3CDTF">2026-10-26T23:00:03Z</dcterms:created>
  <dcterms:modified xsi:type="dcterms:W3CDTF">2026-10-26T23:00:03Z</dcterms:modified>
</cp:coreProperties>
</file>