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4320d4a-86bd-55cc-72b6-5e4a32c76fec}">
          <p14:sldIdLst>
            <p14:sldId id="256"/>
            <p14:sldId id="257"/>
          </p14:sldIdLst>
        </p14:section>
        <p14:section name="Perché" id="{bc421386-5e49-f069-7f13-a0cdf1c5f605}">
          <p14:sldIdLst>
            <p14:sldId id="258"/>
            <p14:sldId id="259"/>
            <p14:sldId id="260"/>
          </p14:sldIdLst>
        </p14:section>
        <p14:section name="Capire" id="{f0e7d683-02d5-e6bc-0542-b9457a6ae302}">
          <p14:sldIdLst>
            <p14:sldId id="261"/>
          </p14:sldIdLst>
        </p14:section>
        <p14:section name="Regole chiave" id="{4b62b8e3-83c6-0e68-d148-dce1106b8d8d}">
          <p14:sldIdLst>
            <p14:sldId id="262"/>
          </p14:sldIdLst>
        </p14:section>
        <p14:section name="In azienda" id="{57f8b36a-e9c6-a80c-12a5-20b55263907c}">
          <p14:sldIdLst>
            <p14:sldId id="263"/>
            <p14:sldId id="264"/>
            <p14:sldId id="265"/>
          </p14:sldIdLst>
        </p14:section>
        <p14:section name="Il materiale" id="{07c4cab4-e49a-50da-dcca-a29643d38723}">
          <p14:sldIdLst>
            <p14:sldId id="266"/>
          </p14:sldIdLst>
        </p14:section>
        <p14:section name="Adesso" id="{49b1b3f1-b04d-b5e7-dba4-b5733265740e}">
          <p14:sldIdLst>
            <p14:sldId id="267"/>
            <p14:sldId id="268"/>
          </p14:sldIdLst>
        </p14:section>
        <p14:section name="Chiusura" id="{b3d6bcaa-80de-b181-4484-d8365d6da4e5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sicurezza: oggi l’introduzione,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sono le sezioni A, B, C e D. Prima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personali: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quattro classi di dati della Sicurezza Parte 2, applicate all’AI. Pubblico sì. Interno solo negli strumenti approvati dall’azienda. Confidenziale solo lì e anonimizzato, salvo uno strumento approvato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parole che sentirete spesso. Il connettore, o MCP, è il cavo: permette all’AI di leggere e scrivere in un altro programma, per esempio Google Drive o la posta. MCP è lo standard aperto con cui si costruiscono. La skill è la procedura scritta, come il manuale che dareste a un nuovo collega: istruzioni, modelli, esempi. Claude la apre da solo quando la richiesta corrisponde. Il plugin è la cassetta degli attrezzi: mette insieme più skill, connettori e comandi, si installa in un clic e fa lavorare tutti allo stesso modo. Se avete un plugin del vostro settore, qui è il momento giusto per una demo dal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esempio completo. Chiedete in italiano, per esempio: prepara l’offerta per il cliente A partendo dall’ultima email e dal listino in Drive. Claude riconosce la skill giusta, la segue passo per passo, legge la email e il listino tramite i connettori e salva l’offerta nella cartella giusta. Vi dice anche cosa manca. Voi controllate prima di mandarla. Nel materiale, sezione D, ci sono gli esempi e le regole sugli accessi.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falle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L’AI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Connettore, skill, plugin: tre pezzi diversi</a:t>
            </a:r>
            <a:endParaRPr lang="en-US" sz="3400" dirty="0"/>
          </a:p>
        </p:txBody>
      </p:sp>
      <p:sp>
        <p:nvSpPr>
          <p:cNvPr id="4" name="Scheda Connettore (MCP)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onnettore (MCP)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onnettore (MCP)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onnettore (MCP)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Connettore (MCP)</a:t>
            </a:r>
            <a:endParaRPr lang="en-US" sz="2100" dirty="0"/>
          </a:p>
        </p:txBody>
      </p:sp>
      <p:sp>
        <p:nvSpPr>
          <p:cNvPr id="8" name="Testo Connettore (MCP)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cavo verso un programma: Claude legge e scrive in Drive, Gmail, Notion. Es.: “trova l’ultima offerta al cliente A”.</a:t>
            </a:r>
            <a:endParaRPr lang="en-US" sz="1600" dirty="0"/>
          </a:p>
        </p:txBody>
      </p:sp>
      <p:sp>
        <p:nvSpPr>
          <p:cNvPr id="9" name="Scheda Skill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Skill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Skil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Skill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2100" dirty="0"/>
          </a:p>
        </p:txBody>
      </p:sp>
      <p:sp>
        <p:nvSpPr>
          <p:cNvPr id="13" name="Testo Skill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procedura scritta: istruzioni, modelli ed esempi. Claude la apre da sola quando la richiesta corrisponde. Es.: verbale nel formato aziendale.</a:t>
            </a:r>
            <a:endParaRPr lang="en-US" sz="1600" dirty="0"/>
          </a:p>
        </p:txBody>
      </p:sp>
      <p:sp>
        <p:nvSpPr>
          <p:cNvPr id="14" name="Scheda Plugin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lugin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lugi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lugin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</a:t>
            </a:r>
            <a:endParaRPr lang="en-US" sz="2100" dirty="0"/>
          </a:p>
        </p:txBody>
      </p:sp>
      <p:sp>
        <p:nvSpPr>
          <p:cNvPr id="18" name="Testo Plugin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cassetta degli attrezzi: più skill, connettori e comandi insieme. Si installa in un clic o da file zip, e tutti lavorano allo stesso modo.</a:t>
            </a:r>
            <a:endParaRPr lang="en-US" sz="1600" dirty="0"/>
          </a:p>
        </p:txBody>
      </p:sp>
      <p:sp>
        <p:nvSpPr>
          <p:cNvPr id="19" name="nota Accesso minimo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i connettori approvati dalla tua azienda, in sola lettura dove basta. Pagamenti e cancellazioni mai in automatico.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LAVORANO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richiesta, dall’inizio alla fine</a:t>
            </a:r>
            <a:endParaRPr lang="en-US" sz="3400" dirty="0"/>
          </a:p>
        </p:txBody>
      </p:sp>
      <p:sp>
        <p:nvSpPr>
          <p:cNvPr id="4" name="Colonna ENTRA"/>
          <p:cNvSpPr txBox="1"/>
          <p:nvPr/>
        </p:nvSpPr>
        <p:spPr>
          <a:xfrm>
            <a:off x="685800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</a:t>
            </a:r>
            <a:endParaRPr lang="en-US" sz="1200" dirty="0"/>
          </a:p>
        </p:txBody>
      </p:sp>
      <p:sp>
        <p:nvSpPr>
          <p:cNvPr id="5" name="ENTRA La richiesta"/>
          <p:cNvSpPr/>
          <p:nvPr/>
        </p:nvSpPr>
        <p:spPr>
          <a:xfrm>
            <a:off x="685800" y="2167128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ENTRA icona 0 fondo"/>
          <p:cNvSpPr/>
          <p:nvPr/>
        </p:nvSpPr>
        <p:spPr>
          <a:xfrm>
            <a:off x="822960" y="2322576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7" name="ENTRA icon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2423526"/>
            <a:ext cx="218724" cy="218724"/>
          </a:xfrm>
          <a:prstGeom prst="rect">
            <a:avLst/>
          </a:prstGeom>
        </p:spPr>
      </p:pic>
      <p:sp>
        <p:nvSpPr>
          <p:cNvPr id="8" name="ENTRA testo 0"/>
          <p:cNvSpPr txBox="1"/>
          <p:nvPr/>
        </p:nvSpPr>
        <p:spPr>
          <a:xfrm>
            <a:off x="1371600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richiesta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italiano, come a un collega</a:t>
            </a:r>
            <a:endParaRPr lang="en-US" sz="1350" dirty="0"/>
          </a:p>
        </p:txBody>
      </p:sp>
      <p:sp>
        <p:nvSpPr>
          <p:cNvPr id="9" name="ENTRA I documenti"/>
          <p:cNvSpPr/>
          <p:nvPr/>
        </p:nvSpPr>
        <p:spPr>
          <a:xfrm>
            <a:off x="685800" y="2990088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ENTRA icona 1 fondo"/>
          <p:cNvSpPr/>
          <p:nvPr/>
        </p:nvSpPr>
        <p:spPr>
          <a:xfrm>
            <a:off x="822960" y="3145536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ENTRA icon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10" y="3246486"/>
            <a:ext cx="218724" cy="218724"/>
          </a:xfrm>
          <a:prstGeom prst="rect">
            <a:avLst/>
          </a:prstGeom>
        </p:spPr>
      </p:pic>
      <p:sp>
        <p:nvSpPr>
          <p:cNvPr id="12" name="ENTRA testo 1"/>
          <p:cNvSpPr txBox="1"/>
          <p:nvPr/>
        </p:nvSpPr>
        <p:spPr>
          <a:xfrm>
            <a:off x="1371600" y="29900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documenti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Drive, tramite il connettore</a:t>
            </a:r>
            <a:endParaRPr lang="en-US" sz="1350" dirty="0"/>
          </a:p>
        </p:txBody>
      </p:sp>
      <p:sp>
        <p:nvSpPr>
          <p:cNvPr id="13" name="ENTRA Le email"/>
          <p:cNvSpPr/>
          <p:nvPr/>
        </p:nvSpPr>
        <p:spPr>
          <a:xfrm>
            <a:off x="685800" y="3813048"/>
            <a:ext cx="3154680" cy="731520"/>
          </a:xfrm>
          <a:prstGeom prst="roundRect">
            <a:avLst>
              <a:gd name="adj" fmla="val 125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4" name="ENTRA icona 2 fondo"/>
          <p:cNvSpPr/>
          <p:nvPr/>
        </p:nvSpPr>
        <p:spPr>
          <a:xfrm>
            <a:off x="822960" y="3968496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5" name="ENTRA icon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4069446"/>
            <a:ext cx="218724" cy="218724"/>
          </a:xfrm>
          <a:prstGeom prst="rect">
            <a:avLst/>
          </a:prstGeom>
        </p:spPr>
      </p:pic>
      <p:sp>
        <p:nvSpPr>
          <p:cNvPr id="16" name="ENTRA testo 2"/>
          <p:cNvSpPr txBox="1"/>
          <p:nvPr/>
        </p:nvSpPr>
        <p:spPr>
          <a:xfrm>
            <a:off x="1371600" y="381304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email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dalla posta, tramite il connettore</a:t>
            </a:r>
            <a:endParaRPr lang="en-US" sz="1350" dirty="0"/>
          </a:p>
        </p:txBody>
      </p:sp>
      <p:sp>
        <p:nvSpPr>
          <p:cNvPr id="17" name="Colonna ESCE"/>
          <p:cNvSpPr txBox="1"/>
          <p:nvPr/>
        </p:nvSpPr>
        <p:spPr>
          <a:xfrm>
            <a:off x="8366760" y="17830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</a:t>
            </a:r>
            <a:endParaRPr lang="en-US" sz="1200" dirty="0"/>
          </a:p>
        </p:txBody>
      </p:sp>
      <p:sp>
        <p:nvSpPr>
          <p:cNvPr id="18" name="ESCE Il documento"/>
          <p:cNvSpPr/>
          <p:nvPr/>
        </p:nvSpPr>
        <p:spPr>
          <a:xfrm>
            <a:off x="8366760" y="2167128"/>
            <a:ext cx="3139135" cy="594360"/>
          </a:xfrm>
          <a:prstGeom prst="roundRect">
            <a:avLst>
              <a:gd name="adj" fmla="val 1538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ESCE icona 0 fondo"/>
          <p:cNvSpPr/>
          <p:nvPr/>
        </p:nvSpPr>
        <p:spPr>
          <a:xfrm>
            <a:off x="8503920" y="2253996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ESCE icona 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870" y="2354946"/>
            <a:ext cx="218724" cy="218724"/>
          </a:xfrm>
          <a:prstGeom prst="rect">
            <a:avLst/>
          </a:prstGeom>
        </p:spPr>
      </p:pic>
      <p:sp>
        <p:nvSpPr>
          <p:cNvPr id="21" name="ESCE testo 0"/>
          <p:cNvSpPr txBox="1"/>
          <p:nvPr/>
        </p:nvSpPr>
        <p:spPr>
          <a:xfrm>
            <a:off x="9052560" y="2167128"/>
            <a:ext cx="2361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documento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formato aziendale</a:t>
            </a:r>
            <a:endParaRPr lang="en-US" sz="1350" dirty="0"/>
          </a:p>
        </p:txBody>
      </p:sp>
      <p:sp>
        <p:nvSpPr>
          <p:cNvPr id="22" name="ESCE Cosa manca"/>
          <p:cNvSpPr/>
          <p:nvPr/>
        </p:nvSpPr>
        <p:spPr>
          <a:xfrm>
            <a:off x="8366760" y="2852928"/>
            <a:ext cx="3139135" cy="594360"/>
          </a:xfrm>
          <a:prstGeom prst="roundRect">
            <a:avLst>
              <a:gd name="adj" fmla="val 1538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3" name="ESCE icona 1 fondo"/>
          <p:cNvSpPr/>
          <p:nvPr/>
        </p:nvSpPr>
        <p:spPr>
          <a:xfrm>
            <a:off x="8503920" y="2939796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4" name="ESCE icona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870" y="3040746"/>
            <a:ext cx="218724" cy="218724"/>
          </a:xfrm>
          <a:prstGeom prst="rect">
            <a:avLst/>
          </a:prstGeom>
        </p:spPr>
      </p:pic>
      <p:sp>
        <p:nvSpPr>
          <p:cNvPr id="25" name="ESCE testo 1"/>
          <p:cNvSpPr txBox="1"/>
          <p:nvPr/>
        </p:nvSpPr>
        <p:spPr>
          <a:xfrm>
            <a:off x="9052560" y="2852928"/>
            <a:ext cx="2361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manca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da verificare, con le fonti</a:t>
            </a:r>
            <a:endParaRPr lang="en-US" sz="1350" dirty="0"/>
          </a:p>
        </p:txBody>
      </p:sp>
      <p:sp>
        <p:nvSpPr>
          <p:cNvPr id="26" name="ESCE Salvato"/>
          <p:cNvSpPr/>
          <p:nvPr/>
        </p:nvSpPr>
        <p:spPr>
          <a:xfrm>
            <a:off x="8366760" y="3538728"/>
            <a:ext cx="3139135" cy="594360"/>
          </a:xfrm>
          <a:prstGeom prst="roundRect">
            <a:avLst>
              <a:gd name="adj" fmla="val 1538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ESCE icona 2 fondo"/>
          <p:cNvSpPr/>
          <p:nvPr/>
        </p:nvSpPr>
        <p:spPr>
          <a:xfrm>
            <a:off x="8503920" y="3625596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8" name="ESCE icona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870" y="3726546"/>
            <a:ext cx="218724" cy="218724"/>
          </a:xfrm>
          <a:prstGeom prst="rect">
            <a:avLst/>
          </a:prstGeom>
        </p:spPr>
      </p:pic>
      <p:sp>
        <p:nvSpPr>
          <p:cNvPr id="29" name="ESCE testo 2"/>
          <p:cNvSpPr txBox="1"/>
          <p:nvPr/>
        </p:nvSpPr>
        <p:spPr>
          <a:xfrm>
            <a:off x="9052560" y="3538728"/>
            <a:ext cx="2361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Salvato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nella cartella giusta</a:t>
            </a:r>
            <a:endParaRPr lang="en-US" sz="1350" dirty="0"/>
          </a:p>
        </p:txBody>
      </p:sp>
      <p:sp>
        <p:nvSpPr>
          <p:cNvPr id="30" name="Colonna LAVORA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LAVORA</a:t>
            </a:r>
            <a:endParaRPr lang="en-US" sz="1200" dirty="0"/>
          </a:p>
        </p:txBody>
      </p:sp>
      <p:sp>
        <p:nvSpPr>
          <p:cNvPr id="31" name="Motore"/>
          <p:cNvSpPr/>
          <p:nvPr/>
        </p:nvSpPr>
        <p:spPr>
          <a:xfrm>
            <a:off x="4389120" y="2167128"/>
            <a:ext cx="3429000" cy="4023360"/>
          </a:xfrm>
          <a:prstGeom prst="roundRect">
            <a:avLst>
              <a:gd name="adj" fmla="val 3733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2" name="Motore icona fondo"/>
          <p:cNvSpPr/>
          <p:nvPr/>
        </p:nvSpPr>
        <p:spPr>
          <a:xfrm>
            <a:off x="4663440" y="242316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3" name="Motore icon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5114" y="2554834"/>
            <a:ext cx="285293" cy="285293"/>
          </a:xfrm>
          <a:prstGeom prst="rect">
            <a:avLst/>
          </a:prstGeom>
        </p:spPr>
      </p:pic>
      <p:sp>
        <p:nvSpPr>
          <p:cNvPr id="34" name="Motore nome"/>
          <p:cNvSpPr txBox="1"/>
          <p:nvPr/>
        </p:nvSpPr>
        <p:spPr>
          <a:xfrm>
            <a:off x="5349240" y="24231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900" dirty="0"/>
          </a:p>
        </p:txBody>
      </p:sp>
      <p:sp>
        <p:nvSpPr>
          <p:cNvPr id="35" name="Blocco Sceglie la skill"/>
          <p:cNvSpPr/>
          <p:nvPr/>
        </p:nvSpPr>
        <p:spPr>
          <a:xfrm>
            <a:off x="4617720" y="3172968"/>
            <a:ext cx="2971800" cy="960628"/>
          </a:xfrm>
          <a:prstGeom prst="roundRect">
            <a:avLst>
              <a:gd name="adj" fmla="val 95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Blocco testo Sceglie la skill"/>
          <p:cNvSpPr txBox="1"/>
          <p:nvPr/>
        </p:nvSpPr>
        <p:spPr>
          <a:xfrm>
            <a:off x="4800600" y="3264408"/>
            <a:ext cx="2606040" cy="823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Sceglie la skill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segue i passi, i modelli e i controlli scritti dentro.</a:t>
            </a:r>
            <a:endParaRPr lang="en-US" sz="1400" dirty="0"/>
          </a:p>
        </p:txBody>
      </p:sp>
      <p:sp>
        <p:nvSpPr>
          <p:cNvPr id="37" name="Blocco Usa i connettori"/>
          <p:cNvSpPr/>
          <p:nvPr/>
        </p:nvSpPr>
        <p:spPr>
          <a:xfrm>
            <a:off x="4617720" y="4270756"/>
            <a:ext cx="2971800" cy="960628"/>
          </a:xfrm>
          <a:prstGeom prst="roundRect">
            <a:avLst>
              <a:gd name="adj" fmla="val 95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Blocco testo Usa i connettori"/>
          <p:cNvSpPr txBox="1"/>
          <p:nvPr/>
        </p:nvSpPr>
        <p:spPr>
          <a:xfrm>
            <a:off x="4800600" y="4362196"/>
            <a:ext cx="2606040" cy="823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i connettori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legge e salva solo dove ha accesso.</a:t>
            </a:r>
            <a:endParaRPr lang="en-US" sz="1400" dirty="0"/>
          </a:p>
        </p:txBody>
      </p:sp>
      <p:sp>
        <p:nvSpPr>
          <p:cNvPr id="39" name="Motore nota"/>
          <p:cNvSpPr txBox="1"/>
          <p:nvPr/>
        </p:nvSpPr>
        <p:spPr>
          <a:xfrm>
            <a:off x="4663440" y="550468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 lo ricontrolli tu.</a:t>
            </a:r>
            <a:endParaRPr lang="en-US" sz="1200" dirty="0"/>
          </a:p>
        </p:txBody>
      </p:sp>
      <p:pic>
        <p:nvPicPr>
          <p:cNvPr id="40" name="Freccia fluss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3632" y="3977640"/>
            <a:ext cx="402336" cy="402336"/>
          </a:xfrm>
          <a:prstGeom prst="rect">
            <a:avLst/>
          </a:prstGeom>
        </p:spPr>
      </p:pic>
      <p:pic>
        <p:nvPicPr>
          <p:cNvPr id="41" name="Freccia flusso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272" y="3977640"/>
            <a:ext cx="402336" cy="4023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2026-10-26T22:21:04Z</dcterms:created>
  <dcterms:modified xsi:type="dcterms:W3CDTF">2026-10-26T22:21:04Z</dcterms:modified>
</cp:coreProperties>
</file>