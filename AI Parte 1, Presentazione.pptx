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a94063c-f417-b3ee-198d-d7acd464d6d0}">
          <p14:sldIdLst>
            <p14:sldId id="256"/>
            <p14:sldId id="257"/>
          </p14:sldIdLst>
        </p14:section>
        <p14:section name="Perché" id="{3454d679-611f-fbfb-9122-86e40ff42dc0}">
          <p14:sldIdLst>
            <p14:sldId id="258"/>
            <p14:sldId id="259"/>
            <p14:sldId id="260"/>
          </p14:sldIdLst>
        </p14:section>
        <p14:section name="Capire" id="{74c3d4da-3a19-729d-2669-d1d433873005}">
          <p14:sldIdLst>
            <p14:sldId id="261"/>
          </p14:sldIdLst>
        </p14:section>
        <p14:section name="Regole chiave" id="{dfa87a58-2e06-bdb0-64fb-8d5c6a7fee68}">
          <p14:sldIdLst>
            <p14:sldId id="262"/>
          </p14:sldIdLst>
        </p14:section>
        <p14:section name="In azienda" id="{c124fde9-0e31-7943-cb5d-0e7b9b54455a}">
          <p14:sldIdLst>
            <p14:sldId id="263"/>
            <p14:sldId id="264"/>
            <p14:sldId id="265"/>
          </p14:sldIdLst>
        </p14:section>
        <p14:section name="Esempio" id="{efb6bbd4-1766-50dc-c04b-05b3ae09577b}">
          <p14:sldIdLst>
            <p14:sldId id="266"/>
            <p14:sldId id="267"/>
          </p14:sldIdLst>
        </p14:section>
        <p14:section name="Il materiale" id="{8274cab8-6d8e-79ed-c584-b77c145ae093}">
          <p14:sldIdLst>
            <p14:sldId id="268"/>
          </p14:sldIdLst>
        </p14:section>
        <p14:section name="Adesso" id="{510cda97-00aa-ec09-bcb5-400532de3048}">
          <p14:sldIdLst>
            <p14:sldId id="269"/>
            <p14:sldId id="270"/>
          </p14:sldIdLst>
        </p14:section>
        <p14:section name="Chiusura" id="{4361bd18-4bd7-e9ad-c48b-de2f0d829a41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Oggi parliamo di intelligenza artificiale al lavoro: cosa fa bene, dove sbaglia, quali dati non darle mai e come usarla bene. Non serve saper programmare. Come per la sicurezza: oggi l’introduzione, il resto è nel materiale.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temi, che nel materiale sono le sezioni A, B, C e D. Prima cos’è e perché sbaglia. Poi la sicurezza: quali dati sì e quali no. Poi come usarla bene ogni giorno. Infine come un’azienda si organizza per farla lavorare davvero: dati in ordine, connettori, skill e agenti.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 della Parte 1 sull’AI. Pensate a un nuovo assunto bravissimo e instancabile, ma appena arrivato. Non gli date le chiavi della cassaforte il primo giorno: gli date istruzioni, accesso solo alle cartelle che servono e ricontrollate quello che fa. Con l’AI è uguale, soprattutto quando la colleghiamo ai nostri programmi.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numeri. Due persone su tre usano l’AI con account personali: dati aziendali fuori dal controllo dell’azienda. I truffatori la usano già per scrivere email perfette. E secondo Gartner, entro il 2026 sarà abbandonato il 60% dei progetti AI senza dati pronti.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caso famoso. Gli ingegneri volevano solo lavorare più in fretta: hanno incollato codice riservato in un’AI pubblica. Samsung ha bloccato l’AI generativa sui computer aziendali. Il punto non è vietare l’AI, ma usarla con strumenti approvati dall’azienda e senza dati segreti.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L’AI non cerca la risposta in un archivio: prevede la parola successiva più probabile. Se l’informazione è nel documento che le date, la legge. Se non c’è, sceglie quella che suona meglio, anche se è sbagliata. Per questo serve sempre una verifica, soprattutto su numeri, nomi 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quattro classi di dati della Sicurezza Parte 2, applicate all’AI. Pubblico sì. Interno solo negli strumenti approvati dall’azienda. Confidenziale solo lì e anonimizzato, salvo uno strumento approvato per iscritto anche per i dati veri, per esempio l’account aziendale. Segreto mai, in nessuna AI. E l’AI non deve mai poter fare pagamenti o cancellare file e account da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capitolo più pratico per l’azienda. Un’AI collegata a cartelle in disordine, con file chiamati contratto_finale_v3_OK, dà risposte vaghe e versioni vecchie. Con una knowledge base ordinata dà risposte precise e citate. Nel materiale c’è un piano in 4 settimane per arrivarci.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parole che sentirete spesso. Il connettore, o MCP, è il cavo: permette all’AI di leggere e scrivere in un altro programma, per esempio Google Drive o la posta. MCP è lo standard aperto con cui si costruiscono. La skill è la procedura scritta, come il manuale che dareste a un nuovo collega: istruzioni, modelli, esempi. Claude la apre da solo quando la richiesta corrisponde. Il plugin è la cassetta degli attrezzi: mette insieme più skill, connettori e comandi, si installa in un clic e fa lavorare tutti allo stesso modo. Se avete un plugin del vostro settore, qui è il momento giusto per una demo dal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esempio completo. Chiedete in italiano, per esempio: prepara l’offerta per il cliente A partendo dall’ultima email e dal listino in Drive. Claude riconosce la skill giusta, la segue passo per passo, legge la email e il listino tramite i connettori e salva l’offerta nella cartella giusta. Vi dice anche cosa manca. Voi controllate prima di mandarla. Nel materiale, sezione D, ci sono gli esempi e le regole sugli accessi.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esempio vero: Real Estate OS, il plugin che uso per le operazioni immobiliari. Le quattordici skill seguono la vita di un’operazione: entra il progetto, si fanno i numeri, si sceglie la struttura e si verificano le regole, si va dagli investitori, si vende. Il punto importante: una skill consegna all’altra. Non si ricopia niente a mano, quindi non si sbagliano i numeri tra un documento e l’altro.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demo, una per fase. Notate che non scrivo mai il nome della skill: scrivo la richiesta in italiano e Claude sceglie la skill giusta. Prima demo: una cartella in disordine diventa una cartella standard con la lista di cosa manca. Seconda: una domanda di Lex Koller, e Claude va a verificare le regole sulle fonti ufficiali invece di rispondere a memoria. Terza: un business plan con errori, e li trova con il riferimento di cella. Quarta: dal modello al teaser per investitori. Preparate tutto prima: plugin installato, Drive collegato, solo dati di esempio.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sezioni, tutte per tutti. A, B e C: capire, usare in sicurezza, usare bene, con 27 prompt pronti per amministrazione, comunicazione, vendite, tecnico e cantiere, sviluppo, marketing, design, legale e direzione. La sezione D è la più importante per il lavoro in azienda: connettori e MCP, skill, agenti e basi di vibe coding. La E chiude con strumenti, checklist 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Facciamolo adesso. Primo: spegnere l’addestramento, così le vostre chat non servono a istruire il modello. Secondo: le istruzioni personalizzate, che tolgono all’AI l’abitudine di scrivere troppo. Terzo: un prompt pronto per il vostro lavoro, per vedere subito il risultato.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materiale si apre da un link nel browser, anche dal telefono, e non serve nessun account. Mostrate dal vivo dove sono l’interruttore della lingua, il menu dei capitoli e la checklist. Il programma è indicativo: decidetelo con il vostro responsabile.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frasi da ricordare. L’AI è uno strumento potente: usata con le regole giuste fa risparmiare ore ogni settimana. Se avete dubbi su uno strumento o su un dato, chiedete prima di usarlo.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fonti dei numeri e dei casi citati. Tutte verificabili, con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828800"/>
            <a:ext cx="66751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611880"/>
            <a:ext cx="6492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85800" y="6382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Parte 1 · AI al lavoro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/>
        </p:nvSpPr>
        <p:spPr>
          <a:xfrm>
            <a:off x="685800" y="6382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Parte 1 · AI al lavoro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izon.com/business/resources/T161/reports/2026-dbir-data-breach-investigations-report.pdf" TargetMode="External"/><Relationship Id="rId2" Type="http://schemas.openxmlformats.org/officeDocument/2006/relationships/hyperlink" Target="https://www.verizon.com/business/resources/reports/2025-dbir-data-breach-investigations-report.pdf" TargetMode="External"/><Relationship Id="rId3" Type="http://schemas.openxmlformats.org/officeDocument/2006/relationships/hyperlink" Target="https://www.gartner.com/en/newsroom/press-releases/2025-02-26-lack-of-ai-ready-data-puts-ai-projects-at-risk" TargetMode="External"/><Relationship Id="rId4" Type="http://schemas.openxmlformats.org/officeDocument/2006/relationships/hyperlink" Target="https://www.bloomberg.com/news/articles/2023-05-02/samsung-bans-chatgpt-and-other-generative-ai-use-by-staff-after-leak" TargetMode="External"/><Relationship Id="rId5" Type="http://schemas.openxmlformats.org/officeDocument/2006/relationships/hyperlink" Target="https://www.cnbc.com/2023/05/02/samsung-bans-use-of-ai-like-chatgpt-for-staff-after-misuse-of-chatbot.html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chetta"/>
          <p:cNvSpPr txBox="1"/>
          <p:nvPr/>
        </p:nvSpPr>
        <p:spPr>
          <a:xfrm>
            <a:off x="685800" y="21396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PARTE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828800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al lavoro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85800" y="36118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sa fare l’AI, dove sbaglia, quali dati non darle e come farla lavorare bene, per te e per l’azienda.</a:t>
            </a:r>
            <a:endParaRPr lang="en-US" sz="2000" dirty="0"/>
          </a:p>
        </p:txBody>
      </p:sp>
      <p:sp>
        <p:nvSpPr>
          <p:cNvPr id="5" name="pill Per tutti"/>
          <p:cNvSpPr/>
          <p:nvPr/>
        </p:nvSpPr>
        <p:spPr>
          <a:xfrm>
            <a:off x="685800" y="4892040"/>
            <a:ext cx="1239012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ill testo Per tutti"/>
          <p:cNvSpPr txBox="1"/>
          <p:nvPr/>
        </p:nvSpPr>
        <p:spPr>
          <a:xfrm>
            <a:off x="685800" y="4892040"/>
            <a:ext cx="12390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tutti</a:t>
            </a:r>
            <a:endParaRPr lang="en-US" sz="1300" dirty="0"/>
          </a:p>
        </p:txBody>
      </p:sp>
      <p:sp>
        <p:nvSpPr>
          <p:cNvPr id="7" name="pill Non serve saper programmare"/>
          <p:cNvSpPr/>
          <p:nvPr/>
        </p:nvSpPr>
        <p:spPr>
          <a:xfrm>
            <a:off x="2061972" y="4892040"/>
            <a:ext cx="2802636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pill testo Non serve saper programmare"/>
          <p:cNvSpPr txBox="1"/>
          <p:nvPr/>
        </p:nvSpPr>
        <p:spPr>
          <a:xfrm>
            <a:off x="2061972" y="4892040"/>
            <a:ext cx="28026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serve saper programmare</a:t>
            </a:r>
            <a:endParaRPr lang="en-US" sz="1300" dirty="0"/>
          </a:p>
        </p:txBody>
      </p:sp>
      <p:sp>
        <p:nvSpPr>
          <p:cNvPr id="9" name="pill 25 minuti + domande"/>
          <p:cNvSpPr/>
          <p:nvPr/>
        </p:nvSpPr>
        <p:spPr>
          <a:xfrm>
            <a:off x="5001768" y="4892040"/>
            <a:ext cx="2107692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pill testo 25 minuti + domande"/>
          <p:cNvSpPr txBox="1"/>
          <p:nvPr/>
        </p:nvSpPr>
        <p:spPr>
          <a:xfrm>
            <a:off x="5001768" y="4892040"/>
            <a:ext cx="21076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minuti + domande</a:t>
            </a:r>
            <a:endParaRPr lang="en-US" sz="1300" dirty="0"/>
          </a:p>
        </p:txBody>
      </p:sp>
      <p:sp>
        <p:nvSpPr>
          <p:cNvPr id="11" name="Firma"/>
          <p:cNvSpPr txBox="1"/>
          <p:nvPr/>
        </p:nvSpPr>
        <p:spPr>
          <a:xfrm>
            <a:off x="685800" y="6172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percorso completo: Sicurezza e AI · materiale da leggere dopo l’incontro</a:t>
            </a:r>
            <a:endParaRPr lang="en-US" sz="1100" dirty="0"/>
          </a:p>
        </p:txBody>
      </p:sp>
      <p:sp>
        <p:nvSpPr>
          <p:cNvPr id="12" name="Pannello"/>
          <p:cNvSpPr/>
          <p:nvPr/>
        </p:nvSpPr>
        <p:spPr>
          <a:xfrm>
            <a:off x="7818120" y="685800"/>
            <a:ext cx="3685032" cy="5486400"/>
          </a:xfrm>
          <a:prstGeom prst="roundRect">
            <a:avLst>
              <a:gd name="adj" fmla="val 347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3" name="Icona copertina fondo"/>
          <p:cNvSpPr/>
          <p:nvPr/>
        </p:nvSpPr>
        <p:spPr>
          <a:xfrm>
            <a:off x="8275320" y="109728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cona coperti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694" y="1349654"/>
            <a:ext cx="546811" cy="546811"/>
          </a:xfrm>
          <a:prstGeom prst="rect">
            <a:avLst/>
          </a:prstGeom>
        </p:spPr>
      </p:pic>
      <p:sp>
        <p:nvSpPr>
          <p:cNvPr id="15" name="Dato 20"/>
          <p:cNvSpPr txBox="1"/>
          <p:nvPr/>
        </p:nvSpPr>
        <p:spPr>
          <a:xfrm>
            <a:off x="8275320" y="2514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16" name="Dato testo 20"/>
          <p:cNvSpPr txBox="1"/>
          <p:nvPr/>
        </p:nvSpPr>
        <p:spPr>
          <a:xfrm>
            <a:off x="827532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capitoli, dalle basi agli agenti</a:t>
            </a:r>
            <a:endParaRPr lang="en-US" sz="1400" dirty="0"/>
          </a:p>
        </p:txBody>
      </p:sp>
      <p:sp>
        <p:nvSpPr>
          <p:cNvPr id="17" name="Dato 27"/>
          <p:cNvSpPr txBox="1"/>
          <p:nvPr/>
        </p:nvSpPr>
        <p:spPr>
          <a:xfrm>
            <a:off x="8275320" y="3703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3400" dirty="0"/>
          </a:p>
        </p:txBody>
      </p:sp>
      <p:sp>
        <p:nvSpPr>
          <p:cNvPr id="18" name="Dato testo 27"/>
          <p:cNvSpPr txBox="1"/>
          <p:nvPr/>
        </p:nvSpPr>
        <p:spPr>
          <a:xfrm>
            <a:off x="827532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pronti, per 9 ruoli</a:t>
            </a:r>
            <a:endParaRPr lang="en-US" sz="1400" dirty="0"/>
          </a:p>
        </p:txBody>
      </p:sp>
      <p:sp>
        <p:nvSpPr>
          <p:cNvPr id="19" name="Dato 45 min"/>
          <p:cNvSpPr txBox="1"/>
          <p:nvPr/>
        </p:nvSpPr>
        <p:spPr>
          <a:xfrm>
            <a:off x="8275320" y="4892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</a:t>
            </a:r>
            <a:endParaRPr lang="en-US" sz="3400" dirty="0"/>
          </a:p>
        </p:txBody>
      </p:sp>
      <p:sp>
        <p:nvSpPr>
          <p:cNvPr id="20" name="Dato testo 45 min"/>
          <p:cNvSpPr txBox="1"/>
          <p:nvPr/>
        </p:nvSpPr>
        <p:spPr>
          <a:xfrm>
            <a:off x="8275320" y="5458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lettura, poi 1 ora di pratica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cosa parliamo oggi</a:t>
            </a:r>
            <a:endParaRPr lang="en-US" sz="3400" dirty="0"/>
          </a:p>
        </p:txBody>
      </p:sp>
      <p:sp>
        <p:nvSpPr>
          <p:cNvPr id="4" name="Scheda Capire"/>
          <p:cNvSpPr/>
          <p:nvPr/>
        </p:nvSpPr>
        <p:spPr>
          <a:xfrm>
            <a:off x="685800" y="182880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Icona Capire fondo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cona Capi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13432"/>
            <a:ext cx="356616" cy="356616"/>
          </a:xfrm>
          <a:prstGeom prst="rect">
            <a:avLst/>
          </a:prstGeom>
        </p:spPr>
      </p:pic>
      <p:sp>
        <p:nvSpPr>
          <p:cNvPr id="7" name="Titolo Capire"/>
          <p:cNvSpPr txBox="1"/>
          <p:nvPr/>
        </p:nvSpPr>
        <p:spPr>
          <a:xfrm>
            <a:off x="1005840" y="3017520"/>
            <a:ext cx="1859204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Capire</a:t>
            </a:r>
            <a:endParaRPr lang="en-US" sz="2100" dirty="0"/>
          </a:p>
        </p:txBody>
      </p:sp>
      <p:sp>
        <p:nvSpPr>
          <p:cNvPr id="8" name="Testo Capire"/>
          <p:cNvSpPr txBox="1"/>
          <p:nvPr/>
        </p:nvSpPr>
        <p:spPr>
          <a:xfrm>
            <a:off x="1005840" y="3470910"/>
            <a:ext cx="1859204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Cos’è l’AI, come funziona e perché a volte inventa.</a:t>
            </a:r>
            <a:endParaRPr lang="en-US" sz="1500" dirty="0"/>
          </a:p>
        </p:txBody>
      </p:sp>
      <p:sp>
        <p:nvSpPr>
          <p:cNvPr id="9" name="Scheda Usare in sicurezza"/>
          <p:cNvSpPr/>
          <p:nvPr/>
        </p:nvSpPr>
        <p:spPr>
          <a:xfrm>
            <a:off x="3459404" y="182880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Icona Usare in sicurezza fondo"/>
          <p:cNvSpPr/>
          <p:nvPr/>
        </p:nvSpPr>
        <p:spPr>
          <a:xfrm>
            <a:off x="3779444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Usare in sicurezz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036" y="2313432"/>
            <a:ext cx="356616" cy="356616"/>
          </a:xfrm>
          <a:prstGeom prst="rect">
            <a:avLst/>
          </a:prstGeom>
        </p:spPr>
      </p:pic>
      <p:sp>
        <p:nvSpPr>
          <p:cNvPr id="12" name="Titolo Usare in sicurezza"/>
          <p:cNvSpPr txBox="1"/>
          <p:nvPr/>
        </p:nvSpPr>
        <p:spPr>
          <a:xfrm>
            <a:off x="3779444" y="3017520"/>
            <a:ext cx="185920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in sicurezza</a:t>
            </a:r>
            <a:endParaRPr lang="en-US" sz="2100" dirty="0"/>
          </a:p>
        </p:txBody>
      </p:sp>
      <p:sp>
        <p:nvSpPr>
          <p:cNvPr id="13" name="Testo Usare in sicurezza"/>
          <p:cNvSpPr txBox="1"/>
          <p:nvPr/>
        </p:nvSpPr>
        <p:spPr>
          <a:xfrm>
            <a:off x="3779444" y="3796284"/>
            <a:ext cx="1859204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dati darle, come spegnere l’addestramento, le regole in azienda.</a:t>
            </a:r>
            <a:endParaRPr lang="en-US" sz="1500" dirty="0"/>
          </a:p>
        </p:txBody>
      </p:sp>
      <p:sp>
        <p:nvSpPr>
          <p:cNvPr id="14" name="Scheda Usare bene"/>
          <p:cNvSpPr/>
          <p:nvPr/>
        </p:nvSpPr>
        <p:spPr>
          <a:xfrm>
            <a:off x="6233008" y="182880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Icona Usare bene fondo"/>
          <p:cNvSpPr/>
          <p:nvPr/>
        </p:nvSpPr>
        <p:spPr>
          <a:xfrm>
            <a:off x="6553048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6" name="Icona Usare be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40" y="2313432"/>
            <a:ext cx="356616" cy="356616"/>
          </a:xfrm>
          <a:prstGeom prst="rect">
            <a:avLst/>
          </a:prstGeom>
        </p:spPr>
      </p:pic>
      <p:sp>
        <p:nvSpPr>
          <p:cNvPr id="17" name="Titolo Usare bene"/>
          <p:cNvSpPr txBox="1"/>
          <p:nvPr/>
        </p:nvSpPr>
        <p:spPr>
          <a:xfrm>
            <a:off x="6553048" y="3017520"/>
            <a:ext cx="1859204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bene</a:t>
            </a:r>
            <a:endParaRPr lang="en-US" sz="2100" dirty="0"/>
          </a:p>
        </p:txBody>
      </p:sp>
      <p:sp>
        <p:nvSpPr>
          <p:cNvPr id="18" name="Testo Usare bene"/>
          <p:cNvSpPr txBox="1"/>
          <p:nvPr/>
        </p:nvSpPr>
        <p:spPr>
          <a:xfrm>
            <a:off x="6553048" y="3470910"/>
            <a:ext cx="1859204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chiari, istruzioni salvate e prompt pronti per il tuo ruolo.</a:t>
            </a:r>
            <a:endParaRPr lang="en-US" sz="1500" dirty="0"/>
          </a:p>
        </p:txBody>
      </p:sp>
      <p:sp>
        <p:nvSpPr>
          <p:cNvPr id="19" name="Scheda Collegare e automatizzare"/>
          <p:cNvSpPr/>
          <p:nvPr/>
        </p:nvSpPr>
        <p:spPr>
          <a:xfrm>
            <a:off x="9006611" y="182880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0" name="Icona Collegare e automatizzare fondo"/>
          <p:cNvSpPr/>
          <p:nvPr/>
        </p:nvSpPr>
        <p:spPr>
          <a:xfrm>
            <a:off x="9326651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1" name="Icona Collegare e automatizza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243" y="2313432"/>
            <a:ext cx="356616" cy="356616"/>
          </a:xfrm>
          <a:prstGeom prst="rect">
            <a:avLst/>
          </a:prstGeom>
        </p:spPr>
      </p:pic>
      <p:sp>
        <p:nvSpPr>
          <p:cNvPr id="22" name="Titolo Collegare e automatizzare"/>
          <p:cNvSpPr txBox="1"/>
          <p:nvPr/>
        </p:nvSpPr>
        <p:spPr>
          <a:xfrm>
            <a:off x="9326651" y="3017520"/>
            <a:ext cx="185920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Collegare e automatizzare</a:t>
            </a:r>
            <a:endParaRPr lang="en-US" sz="2100" dirty="0"/>
          </a:p>
        </p:txBody>
      </p:sp>
      <p:sp>
        <p:nvSpPr>
          <p:cNvPr id="23" name="Testo Collegare e automatizzare"/>
          <p:cNvSpPr txBox="1"/>
          <p:nvPr/>
        </p:nvSpPr>
        <p:spPr>
          <a:xfrm>
            <a:off x="9326651" y="3796284"/>
            <a:ext cx="1859204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Connettori, skill e agenti, con accessi limitati.</a:t>
            </a:r>
            <a:endParaRPr lang="en-US" sz="1500" dirty="0"/>
          </a:p>
        </p:txBody>
      </p:sp>
      <p:sp>
        <p:nvSpPr>
          <p:cNvPr id="24" name="nota Non serve saper programmare.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471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5" name="nota ic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36108"/>
            <a:ext cx="329184" cy="329184"/>
          </a:xfrm>
          <a:prstGeom prst="rect">
            <a:avLst/>
          </a:prstGeom>
        </p:spPr>
      </p:pic>
      <p:sp>
        <p:nvSpPr>
          <p:cNvPr id="26" name="nota testo"/>
          <p:cNvSpPr txBox="1"/>
          <p:nvPr/>
        </p:nvSpPr>
        <p:spPr>
          <a:xfrm>
            <a:off x="1417320" y="521208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serve saper programmare.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sapere cosa chiedere, cosa controllare e cosa non darle mai.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</a:t>
            </a:r>
            <a:endParaRPr lang="en-US" sz="1200" dirty="0"/>
          </a:p>
        </p:txBody>
      </p:sp>
      <p:sp>
        <p:nvSpPr>
          <p:cNvPr id="3" name="Messaggio"/>
          <p:cNvSpPr txBox="1"/>
          <p:nvPr/>
        </p:nvSpPr>
        <p:spPr>
          <a:xfrm>
            <a:off x="685800" y="109728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Tratta l’AI come un nuovo collaboratore: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B4D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velocissimo, ma da istruire e controllare.</a:t>
            </a:r>
            <a:endParaRPr lang="en-US" sz="3200" dirty="0"/>
          </a:p>
        </p:txBody>
      </p:sp>
      <p:sp>
        <p:nvSpPr>
          <p:cNvPr id="4" name="Sottotesto"/>
          <p:cNvSpPr txBox="1"/>
          <p:nvPr/>
        </p:nvSpPr>
        <p:spPr>
          <a:xfrm>
            <a:off x="685800" y="2468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Istruzioni chiare, accesso solo a quello che serve, e il suo lavoro lo ricontrolli tu.</a:t>
            </a:r>
            <a:endParaRPr lang="en-US" sz="2000" dirty="0"/>
          </a:p>
        </p:txBody>
      </p:sp>
      <p:sp>
        <p:nvSpPr>
          <p:cNvPr id="5" name="Riquadro schema"/>
          <p:cNvSpPr/>
          <p:nvPr/>
        </p:nvSpPr>
        <p:spPr>
          <a:xfrm>
            <a:off x="685800" y="3291840"/>
            <a:ext cx="10820095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Schema dall’HTM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63" y="3364992"/>
            <a:ext cx="8508569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NUMERI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L’AI è già al lavoro, spesso senza regole</a:t>
            </a:r>
            <a:endParaRPr lang="en-US" sz="3400" dirty="0"/>
          </a:p>
        </p:txBody>
      </p:sp>
      <p:sp>
        <p:nvSpPr>
          <p:cNvPr id="4" name="Numero 67%"/>
          <p:cNvSpPr/>
          <p:nvPr/>
        </p:nvSpPr>
        <p:spPr>
          <a:xfrm>
            <a:off x="685800" y="1828800"/>
            <a:ext cx="3423818" cy="2971800"/>
          </a:xfrm>
          <a:prstGeom prst="roundRect">
            <a:avLst>
              <a:gd name="adj" fmla="val 430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Cifra 67%"/>
          <p:cNvSpPr txBox="1"/>
          <p:nvPr/>
        </p:nvSpPr>
        <p:spPr>
          <a:xfrm>
            <a:off x="1051560" y="21031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5000" dirty="0"/>
          </a:p>
        </p:txBody>
      </p:sp>
      <p:sp>
        <p:nvSpPr>
          <p:cNvPr id="6" name="Etichetta 67%"/>
          <p:cNvSpPr txBox="1"/>
          <p:nvPr/>
        </p:nvSpPr>
        <p:spPr>
          <a:xfrm>
            <a:off x="1051560" y="3108960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degli utenti usa servizi AI con account non aziendali</a:t>
            </a:r>
            <a:endParaRPr lang="en-US" sz="1700" dirty="0"/>
          </a:p>
        </p:txBody>
      </p:sp>
      <p:sp>
        <p:nvSpPr>
          <p:cNvPr id="7" name="Fonte 67%"/>
          <p:cNvSpPr txBox="1"/>
          <p:nvPr/>
        </p:nvSpPr>
        <p:spPr>
          <a:xfrm>
            <a:off x="1051560" y="4343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2026</a:t>
            </a:r>
            <a:endParaRPr lang="en-US" sz="1100" dirty="0"/>
          </a:p>
        </p:txBody>
      </p:sp>
      <p:sp>
        <p:nvSpPr>
          <p:cNvPr id="8" name="Numero 2x"/>
          <p:cNvSpPr/>
          <p:nvPr/>
        </p:nvSpPr>
        <p:spPr>
          <a:xfrm>
            <a:off x="4383938" y="1828800"/>
            <a:ext cx="3423818" cy="2971800"/>
          </a:xfrm>
          <a:prstGeom prst="roundRect">
            <a:avLst>
              <a:gd name="adj" fmla="val 430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" name="Cifra 2x"/>
          <p:cNvSpPr txBox="1"/>
          <p:nvPr/>
        </p:nvSpPr>
        <p:spPr>
          <a:xfrm>
            <a:off x="4749698" y="21031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5000" dirty="0"/>
          </a:p>
        </p:txBody>
      </p:sp>
      <p:sp>
        <p:nvSpPr>
          <p:cNvPr id="10" name="Etichetta 2x"/>
          <p:cNvSpPr txBox="1"/>
          <p:nvPr/>
        </p:nvSpPr>
        <p:spPr>
          <a:xfrm>
            <a:off x="4749698" y="3108960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 scritto dall’AI nelle email truffa: raddoppiato in due anni</a:t>
            </a:r>
            <a:endParaRPr lang="en-US" sz="1700" dirty="0"/>
          </a:p>
        </p:txBody>
      </p:sp>
      <p:sp>
        <p:nvSpPr>
          <p:cNvPr id="11" name="Fonte 2x"/>
          <p:cNvSpPr txBox="1"/>
          <p:nvPr/>
        </p:nvSpPr>
        <p:spPr>
          <a:xfrm>
            <a:off x="4749698" y="4343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2025</a:t>
            </a:r>
            <a:endParaRPr lang="en-US" sz="1100" dirty="0"/>
          </a:p>
        </p:txBody>
      </p:sp>
      <p:sp>
        <p:nvSpPr>
          <p:cNvPr id="12" name="Numero 60%"/>
          <p:cNvSpPr/>
          <p:nvPr/>
        </p:nvSpPr>
        <p:spPr>
          <a:xfrm>
            <a:off x="8082077" y="1828800"/>
            <a:ext cx="3423818" cy="2971800"/>
          </a:xfrm>
          <a:prstGeom prst="roundRect">
            <a:avLst>
              <a:gd name="adj" fmla="val 430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Cifra 60%"/>
          <p:cNvSpPr txBox="1"/>
          <p:nvPr/>
        </p:nvSpPr>
        <p:spPr>
          <a:xfrm>
            <a:off x="8447837" y="21031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000" dirty="0"/>
          </a:p>
        </p:txBody>
      </p:sp>
      <p:sp>
        <p:nvSpPr>
          <p:cNvPr id="14" name="Etichetta 60%"/>
          <p:cNvSpPr txBox="1"/>
          <p:nvPr/>
        </p:nvSpPr>
        <p:spPr>
          <a:xfrm>
            <a:off x="8447837" y="3108960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progetti AI senza dati pronti verrà abbandonato entro il 2026</a:t>
            </a:r>
            <a:endParaRPr lang="en-US" sz="1700" dirty="0"/>
          </a:p>
        </p:txBody>
      </p:sp>
      <p:sp>
        <p:nvSpPr>
          <p:cNvPr id="15" name="Fonte 60%"/>
          <p:cNvSpPr txBox="1"/>
          <p:nvPr/>
        </p:nvSpPr>
        <p:spPr>
          <a:xfrm>
            <a:off x="8447837" y="4343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2025</a:t>
            </a:r>
            <a:endParaRPr lang="en-US" sz="1100" dirty="0"/>
          </a:p>
        </p:txBody>
      </p:sp>
      <p:sp>
        <p:nvSpPr>
          <p:cNvPr id="16" name="nota Il rischio non è usarla."/>
          <p:cNvSpPr/>
          <p:nvPr/>
        </p:nvSpPr>
        <p:spPr>
          <a:xfrm>
            <a:off x="685800" y="5120640"/>
            <a:ext cx="10820095" cy="822960"/>
          </a:xfrm>
          <a:prstGeom prst="roundRect">
            <a:avLst>
              <a:gd name="adj" fmla="val 15556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pic>
        <p:nvPicPr>
          <p:cNvPr id="17" name="nota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67528"/>
            <a:ext cx="329184" cy="329184"/>
          </a:xfrm>
          <a:prstGeom prst="rect">
            <a:avLst/>
          </a:prstGeom>
        </p:spPr>
      </p:pic>
      <p:sp>
        <p:nvSpPr>
          <p:cNvPr id="18" name="nota testo"/>
          <p:cNvSpPr txBox="1"/>
          <p:nvPr/>
        </p:nvSpPr>
        <p:spPr>
          <a:xfrm>
            <a:off x="1417320" y="512064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rischio non è usarla.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usarla con l’account sbagliato, i dati sbagliati e nessuna regola.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VERO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Codice riservato incollato in una chat</a:t>
            </a:r>
            <a:endParaRPr lang="en-US" sz="3400" dirty="0"/>
          </a:p>
        </p:txBody>
      </p:sp>
      <p:sp>
        <p:nvSpPr>
          <p:cNvPr id="4" name="Linea del tempo"/>
          <p:cNvSpPr/>
          <p:nvPr/>
        </p:nvSpPr>
        <p:spPr>
          <a:xfrm>
            <a:off x="804672" y="2057400"/>
            <a:ext cx="0" cy="2596896"/>
          </a:xfrm>
          <a:prstGeom prst="line">
            <a:avLst/>
          </a:prstGeom>
          <a:noFill/>
          <a:ln w="25400">
            <a:solidFill>
              <a:srgbClr val="E4E8EE"/>
            </a:solidFill>
            <a:prstDash val="solid"/>
          </a:ln>
        </p:spPr>
      </p:sp>
      <p:sp>
        <p:nvSpPr>
          <p:cNvPr id="5" name="Punto Primavera 2023"/>
          <p:cNvSpPr/>
          <p:nvPr/>
        </p:nvSpPr>
        <p:spPr>
          <a:xfrm>
            <a:off x="685800" y="1938528"/>
            <a:ext cx="237744" cy="237744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Quando Primavera 2023"/>
          <p:cNvSpPr txBox="1"/>
          <p:nvPr/>
        </p:nvSpPr>
        <p:spPr>
          <a:xfrm>
            <a:off x="1188720" y="1874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PRIMAVERA 2023</a:t>
            </a:r>
            <a:endParaRPr lang="en-US" sz="1200" dirty="0"/>
          </a:p>
        </p:txBody>
      </p:sp>
      <p:sp>
        <p:nvSpPr>
          <p:cNvPr id="7" name="Fatto Primavera 2023"/>
          <p:cNvSpPr txBox="1"/>
          <p:nvPr/>
        </p:nvSpPr>
        <p:spPr>
          <a:xfrm>
            <a:off x="1188720" y="220370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Alcuni dipendenti Samsung incollano in ChatGPT codice interno riservato per farsi aiutare.</a:t>
            </a:r>
            <a:endParaRPr lang="en-US" sz="1700" dirty="0"/>
          </a:p>
        </p:txBody>
      </p:sp>
      <p:sp>
        <p:nvSpPr>
          <p:cNvPr id="8" name="Punto Il problema"/>
          <p:cNvSpPr/>
          <p:nvPr/>
        </p:nvSpPr>
        <p:spPr>
          <a:xfrm>
            <a:off x="685800" y="3236976"/>
            <a:ext cx="237744" cy="237744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Quando Il problema"/>
          <p:cNvSpPr txBox="1"/>
          <p:nvPr/>
        </p:nvSpPr>
        <p:spPr>
          <a:xfrm>
            <a:off x="1188720" y="3172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10" name="Fatto Il problema"/>
          <p:cNvSpPr txBox="1"/>
          <p:nvPr/>
        </p:nvSpPr>
        <p:spPr>
          <a:xfrm>
            <a:off x="1188720" y="350215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Quei dati finiscono sui server di un’altra azienda, fuori dal controllo di Samsung.</a:t>
            </a:r>
            <a:endParaRPr lang="en-US" sz="1700" dirty="0"/>
          </a:p>
        </p:txBody>
      </p:sp>
      <p:sp>
        <p:nvSpPr>
          <p:cNvPr id="11" name="Punto Maggio 2023"/>
          <p:cNvSpPr/>
          <p:nvPr/>
        </p:nvSpPr>
        <p:spPr>
          <a:xfrm>
            <a:off x="685800" y="4535424"/>
            <a:ext cx="237744" cy="237744"/>
          </a:xfrm>
          <a:prstGeom prst="ellipse">
            <a:avLst/>
          </a:prstGeom>
          <a:solidFill>
            <a:srgbClr val="B423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Quando Maggio 2023"/>
          <p:cNvSpPr txBox="1"/>
          <p:nvPr/>
        </p:nvSpPr>
        <p:spPr>
          <a:xfrm>
            <a:off x="1188720" y="44714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MAGGIO 2023</a:t>
            </a:r>
            <a:endParaRPr lang="en-US" sz="1200" dirty="0"/>
          </a:p>
        </p:txBody>
      </p:sp>
      <p:sp>
        <p:nvSpPr>
          <p:cNvPr id="13" name="Fatto Maggio 2023"/>
          <p:cNvSpPr txBox="1"/>
          <p:nvPr/>
        </p:nvSpPr>
        <p:spPr>
          <a:xfrm>
            <a:off x="1188720" y="48006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blocca l’AI generativa sui computer aziendali e chiede di non inserire dati riservati.</a:t>
            </a:r>
            <a:endParaRPr lang="en-US" sz="1700" dirty="0"/>
          </a:p>
        </p:txBody>
      </p:sp>
      <p:sp>
        <p:nvSpPr>
          <p:cNvPr id="14" name="Lezione"/>
          <p:cNvSpPr/>
          <p:nvPr/>
        </p:nvSpPr>
        <p:spPr>
          <a:xfrm>
            <a:off x="7589520" y="1828800"/>
            <a:ext cx="3916375" cy="2103120"/>
          </a:xfrm>
          <a:prstGeom prst="roundRect">
            <a:avLst>
              <a:gd name="adj" fmla="val 6087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pic>
        <p:nvPicPr>
          <p:cNvPr id="15" name="Lezione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03120"/>
            <a:ext cx="384048" cy="384048"/>
          </a:xfrm>
          <a:prstGeom prst="rect">
            <a:avLst/>
          </a:prstGeom>
        </p:spPr>
      </p:pic>
      <p:sp>
        <p:nvSpPr>
          <p:cNvPr id="16" name="Lezione titolo"/>
          <p:cNvSpPr txBox="1"/>
          <p:nvPr/>
        </p:nvSpPr>
        <p:spPr>
          <a:xfrm>
            <a:off x="8366760" y="2103120"/>
            <a:ext cx="286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lezione</a:t>
            </a:r>
            <a:endParaRPr lang="en-US" sz="1900" dirty="0"/>
          </a:p>
        </p:txBody>
      </p:sp>
      <p:sp>
        <p:nvSpPr>
          <p:cNvPr id="17" name="Lezione testo"/>
          <p:cNvSpPr txBox="1"/>
          <p:nvPr/>
        </p:nvSpPr>
        <p:spPr>
          <a:xfrm>
            <a:off x="7863840" y="2633472"/>
            <a:ext cx="33677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 non era l’AI, ma dati riservati in un’AI pubblica, senza regole su cosa inserire. Strumenti approvati, addestramento spento, Segreto mai.</a:t>
            </a:r>
            <a:endParaRPr lang="en-US" sz="1600" dirty="0"/>
          </a:p>
        </p:txBody>
      </p:sp>
      <p:sp>
        <p:nvSpPr>
          <p:cNvPr id="18" name="Nel materiale"/>
          <p:cNvSpPr/>
          <p:nvPr/>
        </p:nvSpPr>
        <p:spPr>
          <a:xfrm>
            <a:off x="7589520" y="4114800"/>
            <a:ext cx="3916375" cy="182880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pic>
        <p:nvPicPr>
          <p:cNvPr id="19" name="Materiale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361688"/>
            <a:ext cx="347472" cy="347472"/>
          </a:xfrm>
          <a:prstGeom prst="rect">
            <a:avLst/>
          </a:prstGeom>
        </p:spPr>
      </p:pic>
      <p:sp>
        <p:nvSpPr>
          <p:cNvPr id="20" name="Materiale titolo"/>
          <p:cNvSpPr txBox="1"/>
          <p:nvPr/>
        </p:nvSpPr>
        <p:spPr>
          <a:xfrm>
            <a:off x="8366760" y="4361688"/>
            <a:ext cx="28648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materiale</a:t>
            </a:r>
            <a:endParaRPr lang="en-US" sz="1600" dirty="0"/>
          </a:p>
        </p:txBody>
      </p:sp>
      <p:sp>
        <p:nvSpPr>
          <p:cNvPr id="21" name="Materiale testo"/>
          <p:cNvSpPr txBox="1"/>
          <p:nvPr/>
        </p:nvSpPr>
        <p:spPr>
          <a:xfrm>
            <a:off x="7863840" y="4800600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spegnere l’addestramento in 5 strumenti: capitolo 4. Le regole sui dati in azienda: capitolo 6.</a:t>
            </a:r>
            <a:endParaRPr lang="en-US" sz="1400" dirty="0"/>
          </a:p>
        </p:txBody>
      </p:sp>
      <p:sp>
        <p:nvSpPr>
          <p:cNvPr id="22" name="Fonte"/>
          <p:cNvSpPr txBox="1"/>
          <p:nvPr/>
        </p:nvSpPr>
        <p:spPr>
          <a:xfrm>
            <a:off x="685800" y="59893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Bloomberg, 02.05.2023 · CNBC, 02.05.2023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sa: prevede la parola più probabile</a:t>
            </a:r>
            <a:endParaRPr lang="en-US" sz="3400" dirty="0"/>
          </a:p>
        </p:txBody>
      </p:sp>
      <p:pic>
        <p:nvPicPr>
          <p:cNvPr id="4" name="Schema dall’HTM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86380"/>
            <a:ext cx="7315200" cy="2336800"/>
          </a:xfrm>
          <a:prstGeom prst="rect">
            <a:avLst/>
          </a:prstGeom>
        </p:spPr>
      </p:pic>
      <p:sp>
        <p:nvSpPr>
          <p:cNvPr id="5" name="Spiegazione"/>
          <p:cNvSpPr/>
          <p:nvPr/>
        </p:nvSpPr>
        <p:spPr>
          <a:xfrm>
            <a:off x="8412480" y="1828800"/>
            <a:ext cx="3093415" cy="4251960"/>
          </a:xfrm>
          <a:prstGeom prst="roundRect">
            <a:avLst>
              <a:gd name="adj" fmla="val 413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unto Per questo a volte inventa"/>
          <p:cNvSpPr txBox="1"/>
          <p:nvPr/>
        </p:nvSpPr>
        <p:spPr>
          <a:xfrm>
            <a:off x="8686800" y="2148840"/>
            <a:ext cx="2544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questo a volte inventa</a:t>
            </a:r>
            <a:endParaRPr lang="en-US" sz="1800" dirty="0"/>
          </a:p>
        </p:txBody>
      </p:sp>
      <p:sp>
        <p:nvSpPr>
          <p:cNvPr id="7" name="Testo Per questo a volte inventa"/>
          <p:cNvSpPr txBox="1"/>
          <p:nvPr/>
        </p:nvSpPr>
        <p:spPr>
          <a:xfrm>
            <a:off x="8686800" y="2834640"/>
            <a:ext cx="25447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il dato non c’è, sceglie la risposta più probabile e la scrive con sicurezza. Si chiama allucinazione.</a:t>
            </a:r>
            <a:endParaRPr lang="en-US" sz="1500" dirty="0"/>
          </a:p>
        </p:txBody>
      </p:sp>
      <p:sp>
        <p:nvSpPr>
          <p:cNvPr id="8" name="Punto Cosa fai tu"/>
          <p:cNvSpPr txBox="1"/>
          <p:nvPr/>
        </p:nvSpPr>
        <p:spPr>
          <a:xfrm>
            <a:off x="8686800" y="4344162"/>
            <a:ext cx="254477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fai tu</a:t>
            </a:r>
            <a:endParaRPr lang="en-US" sz="1800" dirty="0"/>
          </a:p>
        </p:txBody>
      </p:sp>
      <p:sp>
        <p:nvSpPr>
          <p:cNvPr id="9" name="Testo Cosa fai tu"/>
          <p:cNvSpPr txBox="1"/>
          <p:nvPr/>
        </p:nvSpPr>
        <p:spPr>
          <a:xfrm>
            <a:off x="8686800" y="4751070"/>
            <a:ext cx="2544775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 le fonti e ricontrolla nomi, date e numeri. Per i calcoli, falle usare Excel o il codice.</a:t>
            </a:r>
            <a:endParaRPr lang="en-US" sz="1500" dirty="0"/>
          </a:p>
        </p:txBody>
      </p:sp>
      <p:sp>
        <p:nvSpPr>
          <p:cNvPr id="10" name="Didascalia"/>
          <p:cNvSpPr txBox="1"/>
          <p:nvPr/>
        </p:nvSpPr>
        <p:spPr>
          <a:xfrm>
            <a:off x="685800" y="5989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dal capitolo 2: “Come funziona e perché sbaglia”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REGOLA DEI DATI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puoi dare all’AI</a:t>
            </a:r>
            <a:endParaRPr lang="en-US" sz="3400" dirty="0"/>
          </a:p>
        </p:txBody>
      </p:sp>
      <p:sp>
        <p:nvSpPr>
          <p:cNvPr id="4" name="Livello Pubblico"/>
          <p:cNvSpPr/>
          <p:nvPr/>
        </p:nvSpPr>
        <p:spPr>
          <a:xfrm>
            <a:off x="685800" y="1828800"/>
            <a:ext cx="2533574" cy="34290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Livello testata"/>
          <p:cNvSpPr/>
          <p:nvPr/>
        </p:nvSpPr>
        <p:spPr>
          <a:xfrm>
            <a:off x="777240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6" name="Nome Pubblico"/>
          <p:cNvSpPr txBox="1"/>
          <p:nvPr/>
        </p:nvSpPr>
        <p:spPr>
          <a:xfrm>
            <a:off x="960120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</a:t>
            </a:r>
            <a:endParaRPr lang="en-US" sz="1900" dirty="0"/>
          </a:p>
        </p:txBody>
      </p:sp>
      <p:sp>
        <p:nvSpPr>
          <p:cNvPr id="7" name="Definizione Pubblico"/>
          <p:cNvSpPr txBox="1"/>
          <p:nvPr/>
        </p:nvSpPr>
        <p:spPr>
          <a:xfrm>
            <a:off x="960120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Fatto per essere visto da tutti</a:t>
            </a:r>
            <a:endParaRPr lang="en-US" sz="1500" dirty="0"/>
          </a:p>
        </p:txBody>
      </p:sp>
      <p:sp>
        <p:nvSpPr>
          <p:cNvPr id="8" name="Esempi Pubblico"/>
          <p:cNvSpPr txBox="1"/>
          <p:nvPr/>
        </p:nvSpPr>
        <p:spPr>
          <a:xfrm>
            <a:off x="960120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sito web, brochure, annunci</a:t>
            </a:r>
            <a:endParaRPr lang="en-US" sz="1400" dirty="0"/>
          </a:p>
        </p:txBody>
      </p:sp>
      <p:sp>
        <p:nvSpPr>
          <p:cNvPr id="9" name="Verdetto Pubblico"/>
          <p:cNvSpPr/>
          <p:nvPr/>
        </p:nvSpPr>
        <p:spPr>
          <a:xfrm>
            <a:off x="868680" y="4297680"/>
            <a:ext cx="2167814" cy="777240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0" name="Verdetto testo Pubblico"/>
          <p:cNvSpPr txBox="1"/>
          <p:nvPr/>
        </p:nvSpPr>
        <p:spPr>
          <a:xfrm>
            <a:off x="1005840" y="4297680"/>
            <a:ext cx="18934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Sì</a:t>
            </a:r>
            <a:endParaRPr lang="en-US" sz="1500" dirty="0"/>
          </a:p>
        </p:txBody>
      </p:sp>
      <p:sp>
        <p:nvSpPr>
          <p:cNvPr id="11" name="Livello Interno"/>
          <p:cNvSpPr/>
          <p:nvPr/>
        </p:nvSpPr>
        <p:spPr>
          <a:xfrm>
            <a:off x="3447974" y="1828800"/>
            <a:ext cx="2533574" cy="34290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2" name="Livello testata"/>
          <p:cNvSpPr/>
          <p:nvPr/>
        </p:nvSpPr>
        <p:spPr>
          <a:xfrm>
            <a:off x="3539414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3" name="Nome Interno"/>
          <p:cNvSpPr txBox="1"/>
          <p:nvPr/>
        </p:nvSpPr>
        <p:spPr>
          <a:xfrm>
            <a:off x="3722294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1900" dirty="0"/>
          </a:p>
        </p:txBody>
      </p:sp>
      <p:sp>
        <p:nvSpPr>
          <p:cNvPr id="14" name="Definizione Interno"/>
          <p:cNvSpPr txBox="1"/>
          <p:nvPr/>
        </p:nvSpPr>
        <p:spPr>
          <a:xfrm>
            <a:off x="3722294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 colleghi, danno limitato se esce</a:t>
            </a:r>
            <a:endParaRPr lang="en-US" sz="1500" dirty="0"/>
          </a:p>
        </p:txBody>
      </p:sp>
      <p:sp>
        <p:nvSpPr>
          <p:cNvPr id="15" name="Esempi Interno"/>
          <p:cNvSpPr txBox="1"/>
          <p:nvPr/>
        </p:nvSpPr>
        <p:spPr>
          <a:xfrm>
            <a:off x="3722294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procedure, organigramma</a:t>
            </a:r>
            <a:endParaRPr lang="en-US" sz="1400" dirty="0"/>
          </a:p>
        </p:txBody>
      </p:sp>
      <p:sp>
        <p:nvSpPr>
          <p:cNvPr id="16" name="Verdetto Interno"/>
          <p:cNvSpPr/>
          <p:nvPr/>
        </p:nvSpPr>
        <p:spPr>
          <a:xfrm>
            <a:off x="3630854" y="4297680"/>
            <a:ext cx="2167814" cy="777240"/>
          </a:xfrm>
          <a:prstGeom prst="roundRect">
            <a:avLst>
              <a:gd name="adj" fmla="val 11765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7" name="Verdetto testo Interno"/>
          <p:cNvSpPr txBox="1"/>
          <p:nvPr/>
        </p:nvSpPr>
        <p:spPr>
          <a:xfrm>
            <a:off x="3768014" y="4297680"/>
            <a:ext cx="18934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Negli strumenti approvati</a:t>
            </a:r>
            <a:endParaRPr lang="en-US" sz="1500" dirty="0"/>
          </a:p>
        </p:txBody>
      </p:sp>
      <p:sp>
        <p:nvSpPr>
          <p:cNvPr id="18" name="Livello Confidenziale"/>
          <p:cNvSpPr/>
          <p:nvPr/>
        </p:nvSpPr>
        <p:spPr>
          <a:xfrm>
            <a:off x="6210148" y="1828800"/>
            <a:ext cx="2533574" cy="34290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Livello testata"/>
          <p:cNvSpPr/>
          <p:nvPr/>
        </p:nvSpPr>
        <p:spPr>
          <a:xfrm>
            <a:off x="6301588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sp>
        <p:nvSpPr>
          <p:cNvPr id="20" name="Nome Confidenziale"/>
          <p:cNvSpPr txBox="1"/>
          <p:nvPr/>
        </p:nvSpPr>
        <p:spPr>
          <a:xfrm>
            <a:off x="6484468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Confidenziale</a:t>
            </a:r>
            <a:endParaRPr lang="en-US" sz="1900" dirty="0"/>
          </a:p>
        </p:txBody>
      </p:sp>
      <p:sp>
        <p:nvSpPr>
          <p:cNvPr id="21" name="Definizione Confidenziale"/>
          <p:cNvSpPr txBox="1"/>
          <p:nvPr/>
        </p:nvSpPr>
        <p:spPr>
          <a:xfrm>
            <a:off x="6484468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per chi ne ha bisogno, per nome</a:t>
            </a:r>
            <a:endParaRPr lang="en-US" sz="1500" dirty="0"/>
          </a:p>
        </p:txBody>
      </p:sp>
      <p:sp>
        <p:nvSpPr>
          <p:cNvPr id="22" name="Esempi Confidenziale"/>
          <p:cNvSpPr txBox="1"/>
          <p:nvPr/>
        </p:nvSpPr>
        <p:spPr>
          <a:xfrm>
            <a:off x="6484468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contratti, offerte, dati clienti</a:t>
            </a:r>
            <a:endParaRPr lang="en-US" sz="1400" dirty="0"/>
          </a:p>
        </p:txBody>
      </p:sp>
      <p:sp>
        <p:nvSpPr>
          <p:cNvPr id="23" name="Verdetto Confidenziale"/>
          <p:cNvSpPr/>
          <p:nvPr/>
        </p:nvSpPr>
        <p:spPr>
          <a:xfrm>
            <a:off x="6393028" y="4297680"/>
            <a:ext cx="2167814" cy="777240"/>
          </a:xfrm>
          <a:prstGeom prst="roundRect">
            <a:avLst>
              <a:gd name="adj" fmla="val 11765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sp>
        <p:nvSpPr>
          <p:cNvPr id="24" name="Verdetto testo Confidenziale"/>
          <p:cNvSpPr txBox="1"/>
          <p:nvPr/>
        </p:nvSpPr>
        <p:spPr>
          <a:xfrm>
            <a:off x="6530188" y="4297680"/>
            <a:ext cx="18934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Negli strumenti approvati, anonimizzato</a:t>
            </a:r>
            <a:endParaRPr lang="en-US" sz="1500" dirty="0"/>
          </a:p>
        </p:txBody>
      </p:sp>
      <p:sp>
        <p:nvSpPr>
          <p:cNvPr id="25" name="Livello Segreto"/>
          <p:cNvSpPr/>
          <p:nvPr/>
        </p:nvSpPr>
        <p:spPr>
          <a:xfrm>
            <a:off x="8972321" y="1828800"/>
            <a:ext cx="2533574" cy="34290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6" name="Livello testata"/>
          <p:cNvSpPr/>
          <p:nvPr/>
        </p:nvSpPr>
        <p:spPr>
          <a:xfrm>
            <a:off x="9063761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27" name="Nome Segreto"/>
          <p:cNvSpPr txBox="1"/>
          <p:nvPr/>
        </p:nvSpPr>
        <p:spPr>
          <a:xfrm>
            <a:off x="9246641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Segreto</a:t>
            </a:r>
            <a:endParaRPr lang="en-US" sz="1900" dirty="0"/>
          </a:p>
        </p:txBody>
      </p:sp>
      <p:sp>
        <p:nvSpPr>
          <p:cNvPr id="28" name="Definizione Segreto"/>
          <p:cNvSpPr txBox="1"/>
          <p:nvPr/>
        </p:nvSpPr>
        <p:spPr>
          <a:xfrm>
            <a:off x="9246641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 minimo, sempre cifrato</a:t>
            </a:r>
            <a:endParaRPr lang="en-US" sz="1500" dirty="0"/>
          </a:p>
        </p:txBody>
      </p:sp>
      <p:sp>
        <p:nvSpPr>
          <p:cNvPr id="29" name="Esempi Segreto"/>
          <p:cNvSpPr txBox="1"/>
          <p:nvPr/>
        </p:nvSpPr>
        <p:spPr>
          <a:xfrm>
            <a:off x="9246641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password, dati bancari, documenti d’identità, salute</a:t>
            </a:r>
            <a:endParaRPr lang="en-US" sz="1400" dirty="0"/>
          </a:p>
        </p:txBody>
      </p:sp>
      <p:sp>
        <p:nvSpPr>
          <p:cNvPr id="30" name="Verdetto Segreto"/>
          <p:cNvSpPr/>
          <p:nvPr/>
        </p:nvSpPr>
        <p:spPr>
          <a:xfrm>
            <a:off x="9155201" y="4297680"/>
            <a:ext cx="2167814" cy="777240"/>
          </a:xfrm>
          <a:prstGeom prst="roundRect">
            <a:avLst>
              <a:gd name="adj" fmla="val 11765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31" name="Verdetto testo Segreto"/>
          <p:cNvSpPr txBox="1"/>
          <p:nvPr/>
        </p:nvSpPr>
        <p:spPr>
          <a:xfrm>
            <a:off x="9292361" y="4297680"/>
            <a:ext cx="18934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Mai, in nessuna AI</a:t>
            </a:r>
            <a:endParaRPr lang="en-US" sz="1500" dirty="0"/>
          </a:p>
        </p:txBody>
      </p:sp>
      <p:sp>
        <p:nvSpPr>
          <p:cNvPr id="32" name="nota Anonimizzare è facile:"/>
          <p:cNvSpPr/>
          <p:nvPr/>
        </p:nvSpPr>
        <p:spPr>
          <a:xfrm>
            <a:off x="685800" y="5532120"/>
            <a:ext cx="10820095" cy="685800"/>
          </a:xfrm>
          <a:prstGeom prst="roundRect">
            <a:avLst>
              <a:gd name="adj" fmla="val 18667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pic>
        <p:nvPicPr>
          <p:cNvPr id="33" name="nota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710428"/>
            <a:ext cx="329184" cy="329184"/>
          </a:xfrm>
          <a:prstGeom prst="rect">
            <a:avLst/>
          </a:prstGeom>
        </p:spPr>
      </p:pic>
      <p:sp>
        <p:nvSpPr>
          <p:cNvPr id="34" name="nota testo"/>
          <p:cNvSpPr txBox="1"/>
          <p:nvPr/>
        </p:nvSpPr>
        <p:spPr>
          <a:xfrm>
            <a:off x="1417320" y="5532120"/>
            <a:ext cx="985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Anonimizzare è facile: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 al posto del nome, CHF X al posto dell’importo. Dati veri solo dove l’azienda lo approva per iscritto.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AZIENDA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 in ordine, AI che funziona</a:t>
            </a:r>
            <a:endParaRPr lang="en-US" sz="3400" dirty="0"/>
          </a:p>
        </p:txBody>
      </p:sp>
      <p:pic>
        <p:nvPicPr>
          <p:cNvPr id="4" name="Schema dall’HTM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06980"/>
            <a:ext cx="6949440" cy="2895600"/>
          </a:xfrm>
          <a:prstGeom prst="rect">
            <a:avLst/>
          </a:prstGeom>
        </p:spPr>
      </p:pic>
      <p:sp>
        <p:nvSpPr>
          <p:cNvPr id="5" name="Spiegazione"/>
          <p:cNvSpPr/>
          <p:nvPr/>
        </p:nvSpPr>
        <p:spPr>
          <a:xfrm>
            <a:off x="8046720" y="1828800"/>
            <a:ext cx="3459175" cy="4251960"/>
          </a:xfrm>
          <a:prstGeom prst="roundRect">
            <a:avLst>
              <a:gd name="adj" fmla="val 3701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unto 63% delle organizzazioni"/>
          <p:cNvSpPr txBox="1"/>
          <p:nvPr/>
        </p:nvSpPr>
        <p:spPr>
          <a:xfrm>
            <a:off x="8321040" y="2148840"/>
            <a:ext cx="29105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 delle organizzazioni</a:t>
            </a:r>
            <a:endParaRPr lang="en-US" sz="1800" dirty="0"/>
          </a:p>
        </p:txBody>
      </p:sp>
      <p:sp>
        <p:nvSpPr>
          <p:cNvPr id="7" name="Testo 63% delle organizzazioni"/>
          <p:cNvSpPr txBox="1"/>
          <p:nvPr/>
        </p:nvSpPr>
        <p:spPr>
          <a:xfrm>
            <a:off x="8321040" y="2834640"/>
            <a:ext cx="2910535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ha, o non sa se ha, dati gestiti in modo adatto all’AI (Gartner 2025).</a:t>
            </a:r>
            <a:endParaRPr lang="en-US" sz="1500" dirty="0"/>
          </a:p>
        </p:txBody>
      </p:sp>
      <p:sp>
        <p:nvSpPr>
          <p:cNvPr id="8" name="Punto La knowledge base"/>
          <p:cNvSpPr txBox="1"/>
          <p:nvPr/>
        </p:nvSpPr>
        <p:spPr>
          <a:xfrm>
            <a:off x="8321040" y="3879342"/>
            <a:ext cx="291053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knowledge base</a:t>
            </a:r>
            <a:endParaRPr lang="en-US" sz="1800" dirty="0"/>
          </a:p>
        </p:txBody>
      </p:sp>
      <p:sp>
        <p:nvSpPr>
          <p:cNvPr id="9" name="Testo La knowledge base"/>
          <p:cNvSpPr txBox="1"/>
          <p:nvPr/>
        </p:nvSpPr>
        <p:spPr>
          <a:xfrm>
            <a:off x="8321040" y="4286250"/>
            <a:ext cx="2910535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Ruoli, processi scritti, modelli e decisioni in un posto solo. Poi connettori e skill, in sola lettura dove basta.</a:t>
            </a:r>
            <a:endParaRPr lang="en-US" sz="1500" dirty="0"/>
          </a:p>
        </p:txBody>
      </p:sp>
      <p:sp>
        <p:nvSpPr>
          <p:cNvPr id="10" name="Didascalia"/>
          <p:cNvSpPr txBox="1"/>
          <p:nvPr/>
        </p:nvSpPr>
        <p:spPr>
          <a:xfrm>
            <a:off x="685800" y="59893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dal capitolo 11: “L’azienda pronta per l’AI”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COLLEGARE L’AI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Connettore, skill, plugin: tre pezzi diversi</a:t>
            </a:r>
            <a:endParaRPr lang="en-US" sz="3400" dirty="0"/>
          </a:p>
        </p:txBody>
      </p:sp>
      <p:sp>
        <p:nvSpPr>
          <p:cNvPr id="4" name="Scheda Connettore (MCP)"/>
          <p:cNvSpPr/>
          <p:nvPr/>
        </p:nvSpPr>
        <p:spPr>
          <a:xfrm>
            <a:off x="685800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Icona Connettore (MCP) fondo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cona Connettore (MCP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13432"/>
            <a:ext cx="356616" cy="356616"/>
          </a:xfrm>
          <a:prstGeom prst="rect">
            <a:avLst/>
          </a:prstGeom>
        </p:spPr>
      </p:pic>
      <p:sp>
        <p:nvSpPr>
          <p:cNvPr id="7" name="Titolo Connettore (MCP)"/>
          <p:cNvSpPr txBox="1"/>
          <p:nvPr/>
        </p:nvSpPr>
        <p:spPr>
          <a:xfrm>
            <a:off x="1005840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Connettore (MCP)</a:t>
            </a:r>
            <a:endParaRPr lang="en-US" sz="2100" dirty="0"/>
          </a:p>
        </p:txBody>
      </p:sp>
      <p:sp>
        <p:nvSpPr>
          <p:cNvPr id="8" name="Testo Connettore (MCP)"/>
          <p:cNvSpPr txBox="1"/>
          <p:nvPr/>
        </p:nvSpPr>
        <p:spPr>
          <a:xfrm>
            <a:off x="1005840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cavo verso un programma: Claude legge e scrive in Drive, Gmail, Notion. Es.: “trova l’ultima offerta al cliente A”.</a:t>
            </a:r>
            <a:endParaRPr lang="en-US" sz="1600" dirty="0"/>
          </a:p>
        </p:txBody>
      </p:sp>
      <p:sp>
        <p:nvSpPr>
          <p:cNvPr id="9" name="Scheda Skill"/>
          <p:cNvSpPr/>
          <p:nvPr/>
        </p:nvSpPr>
        <p:spPr>
          <a:xfrm>
            <a:off x="4383938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Icona Skill fondo"/>
          <p:cNvSpPr/>
          <p:nvPr/>
        </p:nvSpPr>
        <p:spPr>
          <a:xfrm>
            <a:off x="4703978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Ski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70" y="2313432"/>
            <a:ext cx="356616" cy="356616"/>
          </a:xfrm>
          <a:prstGeom prst="rect">
            <a:avLst/>
          </a:prstGeom>
        </p:spPr>
      </p:pic>
      <p:sp>
        <p:nvSpPr>
          <p:cNvPr id="12" name="Titolo Skill"/>
          <p:cNvSpPr txBox="1"/>
          <p:nvPr/>
        </p:nvSpPr>
        <p:spPr>
          <a:xfrm>
            <a:off x="4703978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2100" dirty="0"/>
          </a:p>
        </p:txBody>
      </p:sp>
      <p:sp>
        <p:nvSpPr>
          <p:cNvPr id="13" name="Testo Skill"/>
          <p:cNvSpPr txBox="1"/>
          <p:nvPr/>
        </p:nvSpPr>
        <p:spPr>
          <a:xfrm>
            <a:off x="4703978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procedura scritta: istruzioni, modelli ed esempi. Claude la apre da sola quando la richiesta corrisponde. Es.: verbale nel formato aziendale.</a:t>
            </a:r>
            <a:endParaRPr lang="en-US" sz="1600" dirty="0"/>
          </a:p>
        </p:txBody>
      </p:sp>
      <p:sp>
        <p:nvSpPr>
          <p:cNvPr id="14" name="Scheda Plugin"/>
          <p:cNvSpPr/>
          <p:nvPr/>
        </p:nvSpPr>
        <p:spPr>
          <a:xfrm>
            <a:off x="8082077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Icona Plugin fondo"/>
          <p:cNvSpPr/>
          <p:nvPr/>
        </p:nvSpPr>
        <p:spPr>
          <a:xfrm>
            <a:off x="8402117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6" name="Icona Plugi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2313432"/>
            <a:ext cx="356616" cy="356616"/>
          </a:xfrm>
          <a:prstGeom prst="rect">
            <a:avLst/>
          </a:prstGeom>
        </p:spPr>
      </p:pic>
      <p:sp>
        <p:nvSpPr>
          <p:cNvPr id="17" name="Titolo Plugin"/>
          <p:cNvSpPr txBox="1"/>
          <p:nvPr/>
        </p:nvSpPr>
        <p:spPr>
          <a:xfrm>
            <a:off x="8402117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2100" dirty="0"/>
          </a:p>
        </p:txBody>
      </p:sp>
      <p:sp>
        <p:nvSpPr>
          <p:cNvPr id="18" name="Testo Plugin"/>
          <p:cNvSpPr txBox="1"/>
          <p:nvPr/>
        </p:nvSpPr>
        <p:spPr>
          <a:xfrm>
            <a:off x="8402117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cassetta degli attrezzi: più skill, connettori e comandi insieme. Si installa in un clic o da file zip, e tutti lavorano allo stesso modo.</a:t>
            </a:r>
            <a:endParaRPr lang="en-US" sz="1600" dirty="0"/>
          </a:p>
        </p:txBody>
      </p:sp>
      <p:sp>
        <p:nvSpPr>
          <p:cNvPr id="19" name="nota Accesso minimo: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471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0" name="nota 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36108"/>
            <a:ext cx="329184" cy="329184"/>
          </a:xfrm>
          <a:prstGeom prst="rect">
            <a:avLst/>
          </a:prstGeom>
        </p:spPr>
      </p:pic>
      <p:sp>
        <p:nvSpPr>
          <p:cNvPr id="21" name="nota testo"/>
          <p:cNvSpPr txBox="1"/>
          <p:nvPr/>
        </p:nvSpPr>
        <p:spPr>
          <a:xfrm>
            <a:off x="1417320" y="521208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 minimo: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 connettori approvati dalla tua azienda, in sola lettura dove basta. Pagamenti e cancellazioni mai in automatico.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LAVORANO 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richiesta, dall’inizio alla fine</a:t>
            </a:r>
            <a:endParaRPr lang="en-US" sz="3400" dirty="0"/>
          </a:p>
        </p:txBody>
      </p:sp>
      <p:sp>
        <p:nvSpPr>
          <p:cNvPr id="4" name="Colonna ENTRA"/>
          <p:cNvSpPr txBox="1"/>
          <p:nvPr/>
        </p:nvSpPr>
        <p:spPr>
          <a:xfrm>
            <a:off x="685800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1200" dirty="0"/>
          </a:p>
        </p:txBody>
      </p:sp>
      <p:sp>
        <p:nvSpPr>
          <p:cNvPr id="5" name="ENTRA La richiesta"/>
          <p:cNvSpPr/>
          <p:nvPr/>
        </p:nvSpPr>
        <p:spPr>
          <a:xfrm>
            <a:off x="685800" y="2167128"/>
            <a:ext cx="3154680" cy="73152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ENTRA icona 0 fondo"/>
          <p:cNvSpPr/>
          <p:nvPr/>
        </p:nvSpPr>
        <p:spPr>
          <a:xfrm>
            <a:off x="822960" y="232257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7" name="ENTRA icona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423526"/>
            <a:ext cx="218724" cy="218724"/>
          </a:xfrm>
          <a:prstGeom prst="rect">
            <a:avLst/>
          </a:prstGeom>
        </p:spPr>
      </p:pic>
      <p:sp>
        <p:nvSpPr>
          <p:cNvPr id="8" name="ENTRA testo 0"/>
          <p:cNvSpPr txBox="1"/>
          <p:nvPr/>
        </p:nvSpPr>
        <p:spPr>
          <a:xfrm>
            <a:off x="1371600" y="2167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richiesta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italiano, come a un collega</a:t>
            </a:r>
            <a:endParaRPr lang="en-US" sz="1350" dirty="0"/>
          </a:p>
        </p:txBody>
      </p:sp>
      <p:sp>
        <p:nvSpPr>
          <p:cNvPr id="9" name="ENTRA I documenti"/>
          <p:cNvSpPr/>
          <p:nvPr/>
        </p:nvSpPr>
        <p:spPr>
          <a:xfrm>
            <a:off x="685800" y="2990088"/>
            <a:ext cx="3154680" cy="73152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ENTRA icona 1 fondo"/>
          <p:cNvSpPr/>
          <p:nvPr/>
        </p:nvSpPr>
        <p:spPr>
          <a:xfrm>
            <a:off x="822960" y="314553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ENTRA icon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10" y="3246486"/>
            <a:ext cx="218724" cy="218724"/>
          </a:xfrm>
          <a:prstGeom prst="rect">
            <a:avLst/>
          </a:prstGeom>
        </p:spPr>
      </p:pic>
      <p:sp>
        <p:nvSpPr>
          <p:cNvPr id="12" name="ENTRA testo 1"/>
          <p:cNvSpPr txBox="1"/>
          <p:nvPr/>
        </p:nvSpPr>
        <p:spPr>
          <a:xfrm>
            <a:off x="1371600" y="29900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documenti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Drive, tramite il connettore</a:t>
            </a:r>
            <a:endParaRPr lang="en-US" sz="1350" dirty="0"/>
          </a:p>
        </p:txBody>
      </p:sp>
      <p:sp>
        <p:nvSpPr>
          <p:cNvPr id="13" name="ENTRA Le email"/>
          <p:cNvSpPr/>
          <p:nvPr/>
        </p:nvSpPr>
        <p:spPr>
          <a:xfrm>
            <a:off x="685800" y="3813048"/>
            <a:ext cx="3154680" cy="73152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4" name="ENTRA icona 2 fondo"/>
          <p:cNvSpPr/>
          <p:nvPr/>
        </p:nvSpPr>
        <p:spPr>
          <a:xfrm>
            <a:off x="822960" y="396849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5" name="ENTRA icona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4069446"/>
            <a:ext cx="218724" cy="218724"/>
          </a:xfrm>
          <a:prstGeom prst="rect">
            <a:avLst/>
          </a:prstGeom>
        </p:spPr>
      </p:pic>
      <p:sp>
        <p:nvSpPr>
          <p:cNvPr id="16" name="ENTRA testo 2"/>
          <p:cNvSpPr txBox="1"/>
          <p:nvPr/>
        </p:nvSpPr>
        <p:spPr>
          <a:xfrm>
            <a:off x="1371600" y="38130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email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 posta, tramite il connettore</a:t>
            </a:r>
            <a:endParaRPr lang="en-US" sz="1350" dirty="0"/>
          </a:p>
        </p:txBody>
      </p:sp>
      <p:sp>
        <p:nvSpPr>
          <p:cNvPr id="17" name="Colonna ESCE"/>
          <p:cNvSpPr txBox="1"/>
          <p:nvPr/>
        </p:nvSpPr>
        <p:spPr>
          <a:xfrm>
            <a:off x="8366760" y="178308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</a:t>
            </a:r>
            <a:endParaRPr lang="en-US" sz="1200" dirty="0"/>
          </a:p>
        </p:txBody>
      </p:sp>
      <p:sp>
        <p:nvSpPr>
          <p:cNvPr id="18" name="ESCE Il documento"/>
          <p:cNvSpPr/>
          <p:nvPr/>
        </p:nvSpPr>
        <p:spPr>
          <a:xfrm>
            <a:off x="8366760" y="2167128"/>
            <a:ext cx="3139135" cy="594360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ESCE icona 0 fondo"/>
          <p:cNvSpPr/>
          <p:nvPr/>
        </p:nvSpPr>
        <p:spPr>
          <a:xfrm>
            <a:off x="8503920" y="225399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0" name="ESCE icona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870" y="2354946"/>
            <a:ext cx="218724" cy="218724"/>
          </a:xfrm>
          <a:prstGeom prst="rect">
            <a:avLst/>
          </a:prstGeom>
        </p:spPr>
      </p:pic>
      <p:sp>
        <p:nvSpPr>
          <p:cNvPr id="21" name="ESCE testo 0"/>
          <p:cNvSpPr txBox="1"/>
          <p:nvPr/>
        </p:nvSpPr>
        <p:spPr>
          <a:xfrm>
            <a:off x="9052560" y="2167128"/>
            <a:ext cx="2361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documento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formato aziendale</a:t>
            </a:r>
            <a:endParaRPr lang="en-US" sz="1350" dirty="0"/>
          </a:p>
        </p:txBody>
      </p:sp>
      <p:sp>
        <p:nvSpPr>
          <p:cNvPr id="22" name="ESCE Cosa manca"/>
          <p:cNvSpPr/>
          <p:nvPr/>
        </p:nvSpPr>
        <p:spPr>
          <a:xfrm>
            <a:off x="8366760" y="2852928"/>
            <a:ext cx="3139135" cy="594360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3" name="ESCE icona 1 fondo"/>
          <p:cNvSpPr/>
          <p:nvPr/>
        </p:nvSpPr>
        <p:spPr>
          <a:xfrm>
            <a:off x="8503920" y="293979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4" name="ESCE icona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870" y="3040746"/>
            <a:ext cx="218724" cy="218724"/>
          </a:xfrm>
          <a:prstGeom prst="rect">
            <a:avLst/>
          </a:prstGeom>
        </p:spPr>
      </p:pic>
      <p:sp>
        <p:nvSpPr>
          <p:cNvPr id="25" name="ESCE testo 1"/>
          <p:cNvSpPr txBox="1"/>
          <p:nvPr/>
        </p:nvSpPr>
        <p:spPr>
          <a:xfrm>
            <a:off x="9052560" y="2852928"/>
            <a:ext cx="2361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manca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da verificare, con le fonti</a:t>
            </a:r>
            <a:endParaRPr lang="en-US" sz="1350" dirty="0"/>
          </a:p>
        </p:txBody>
      </p:sp>
      <p:sp>
        <p:nvSpPr>
          <p:cNvPr id="26" name="ESCE Salvato"/>
          <p:cNvSpPr/>
          <p:nvPr/>
        </p:nvSpPr>
        <p:spPr>
          <a:xfrm>
            <a:off x="8366760" y="3538728"/>
            <a:ext cx="3139135" cy="594360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7" name="ESCE icona 2 fondo"/>
          <p:cNvSpPr/>
          <p:nvPr/>
        </p:nvSpPr>
        <p:spPr>
          <a:xfrm>
            <a:off x="8503920" y="362559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8" name="ESCE icona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870" y="3726546"/>
            <a:ext cx="218724" cy="218724"/>
          </a:xfrm>
          <a:prstGeom prst="rect">
            <a:avLst/>
          </a:prstGeom>
        </p:spPr>
      </p:pic>
      <p:sp>
        <p:nvSpPr>
          <p:cNvPr id="29" name="ESCE testo 2"/>
          <p:cNvSpPr txBox="1"/>
          <p:nvPr/>
        </p:nvSpPr>
        <p:spPr>
          <a:xfrm>
            <a:off x="9052560" y="3538728"/>
            <a:ext cx="2361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Salvato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 cartella giusta</a:t>
            </a:r>
            <a:endParaRPr lang="en-US" sz="1350" dirty="0"/>
          </a:p>
        </p:txBody>
      </p:sp>
      <p:sp>
        <p:nvSpPr>
          <p:cNvPr id="30" name="Colonna LAVORA"/>
          <p:cNvSpPr txBox="1"/>
          <p:nvPr/>
        </p:nvSpPr>
        <p:spPr>
          <a:xfrm>
            <a:off x="4389120" y="1783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LAVORA</a:t>
            </a:r>
            <a:endParaRPr lang="en-US" sz="1200" dirty="0"/>
          </a:p>
        </p:txBody>
      </p:sp>
      <p:sp>
        <p:nvSpPr>
          <p:cNvPr id="31" name="Motore"/>
          <p:cNvSpPr/>
          <p:nvPr/>
        </p:nvSpPr>
        <p:spPr>
          <a:xfrm>
            <a:off x="4389120" y="2167128"/>
            <a:ext cx="3429000" cy="4023360"/>
          </a:xfrm>
          <a:prstGeom prst="roundRect">
            <a:avLst>
              <a:gd name="adj" fmla="val 3733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2" name="Motore icona fondo"/>
          <p:cNvSpPr/>
          <p:nvPr/>
        </p:nvSpPr>
        <p:spPr>
          <a:xfrm>
            <a:off x="4663440" y="2423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Motore icon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5114" y="2554834"/>
            <a:ext cx="285293" cy="285293"/>
          </a:xfrm>
          <a:prstGeom prst="rect">
            <a:avLst/>
          </a:prstGeom>
        </p:spPr>
      </p:pic>
      <p:sp>
        <p:nvSpPr>
          <p:cNvPr id="34" name="Motore nome"/>
          <p:cNvSpPr txBox="1"/>
          <p:nvPr/>
        </p:nvSpPr>
        <p:spPr>
          <a:xfrm>
            <a:off x="534924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900" dirty="0"/>
          </a:p>
        </p:txBody>
      </p:sp>
      <p:sp>
        <p:nvSpPr>
          <p:cNvPr id="35" name="Blocco Sceglie la skill"/>
          <p:cNvSpPr/>
          <p:nvPr/>
        </p:nvSpPr>
        <p:spPr>
          <a:xfrm>
            <a:off x="4617720" y="3172968"/>
            <a:ext cx="2971800" cy="960628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Blocco testo Sceglie la skill"/>
          <p:cNvSpPr txBox="1"/>
          <p:nvPr/>
        </p:nvSpPr>
        <p:spPr>
          <a:xfrm>
            <a:off x="4800600" y="3264408"/>
            <a:ext cx="2606040" cy="823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Sceglie la skill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segue i passi, i modelli e i controlli scritti dentro.</a:t>
            </a:r>
            <a:endParaRPr lang="en-US" sz="1400" dirty="0"/>
          </a:p>
        </p:txBody>
      </p:sp>
      <p:sp>
        <p:nvSpPr>
          <p:cNvPr id="37" name="Blocco Usa i connettori"/>
          <p:cNvSpPr/>
          <p:nvPr/>
        </p:nvSpPr>
        <p:spPr>
          <a:xfrm>
            <a:off x="4617720" y="4270756"/>
            <a:ext cx="2971800" cy="960628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Blocco testo Usa i connettori"/>
          <p:cNvSpPr txBox="1"/>
          <p:nvPr/>
        </p:nvSpPr>
        <p:spPr>
          <a:xfrm>
            <a:off x="4800600" y="4362196"/>
            <a:ext cx="2606040" cy="823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i connettori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legge e salva solo dove ha accesso.</a:t>
            </a:r>
            <a:endParaRPr lang="en-US" sz="1400" dirty="0"/>
          </a:p>
        </p:txBody>
      </p:sp>
      <p:sp>
        <p:nvSpPr>
          <p:cNvPr id="39" name="Motore nota"/>
          <p:cNvSpPr txBox="1"/>
          <p:nvPr/>
        </p:nvSpPr>
        <p:spPr>
          <a:xfrm>
            <a:off x="4663440" y="550468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risultato lo ricontrolli tu.</a:t>
            </a:r>
            <a:endParaRPr lang="en-US" sz="1200" dirty="0"/>
          </a:p>
        </p:txBody>
      </p:sp>
      <p:pic>
        <p:nvPicPr>
          <p:cNvPr id="40" name="Freccia fluss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3632" y="3977640"/>
            <a:ext cx="402336" cy="402336"/>
          </a:xfrm>
          <a:prstGeom prst="rect">
            <a:avLst/>
          </a:prstGeom>
        </p:spPr>
      </p:pic>
      <p:pic>
        <p:nvPicPr>
          <p:cNvPr id="41" name="Freccia fluss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272" y="3977640"/>
            <a:ext cx="402336" cy="4023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VERO · REAL ESTATE 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plugin, 14 skill: dal file grezzo all’investitore</a:t>
            </a:r>
            <a:endParaRPr lang="en-US" sz="3400" dirty="0"/>
          </a:p>
        </p:txBody>
      </p:sp>
      <p:sp>
        <p:nvSpPr>
          <p:cNvPr id="4" name="Fase Progetto"/>
          <p:cNvSpPr/>
          <p:nvPr/>
        </p:nvSpPr>
        <p:spPr>
          <a:xfrm>
            <a:off x="685800" y="1828800"/>
            <a:ext cx="1989408" cy="3429000"/>
          </a:xfrm>
          <a:prstGeom prst="roundRect">
            <a:avLst>
              <a:gd name="adj" fmla="val 6435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numero 1"/>
          <p:cNvSpPr/>
          <p:nvPr/>
        </p:nvSpPr>
        <p:spPr>
          <a:xfrm>
            <a:off x="914400" y="2057400"/>
            <a:ext cx="384048" cy="384048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6" name="numero testo 1"/>
          <p:cNvSpPr txBox="1"/>
          <p:nvPr/>
        </p:nvSpPr>
        <p:spPr>
          <a:xfrm>
            <a:off x="9144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Fase nome 0"/>
          <p:cNvSpPr txBox="1"/>
          <p:nvPr/>
        </p:nvSpPr>
        <p:spPr>
          <a:xfrm>
            <a:off x="1417320" y="2011680"/>
            <a:ext cx="1120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</a:t>
            </a:r>
            <a:endParaRPr lang="en-US" sz="1500" dirty="0"/>
          </a:p>
        </p:txBody>
      </p:sp>
      <p:sp>
        <p:nvSpPr>
          <p:cNvPr id="8" name="Skill project-setup"/>
          <p:cNvSpPr/>
          <p:nvPr/>
        </p:nvSpPr>
        <p:spPr>
          <a:xfrm>
            <a:off x="868680" y="2697480"/>
            <a:ext cx="162364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" name="Skill testo project-setup"/>
          <p:cNvSpPr txBox="1"/>
          <p:nvPr/>
        </p:nvSpPr>
        <p:spPr>
          <a:xfrm>
            <a:off x="960120" y="2697480"/>
            <a:ext cx="1532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project-setup</a:t>
            </a:r>
            <a:endParaRPr lang="en-US" sz="1200" dirty="0"/>
          </a:p>
        </p:txBody>
      </p:sp>
      <p:sp>
        <p:nvSpPr>
          <p:cNvPr id="10" name="Skill architect-data-interpreter"/>
          <p:cNvSpPr/>
          <p:nvPr/>
        </p:nvSpPr>
        <p:spPr>
          <a:xfrm>
            <a:off x="868680" y="3081528"/>
            <a:ext cx="162364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1" name="Skill testo architect-data-interpreter"/>
          <p:cNvSpPr txBox="1"/>
          <p:nvPr/>
        </p:nvSpPr>
        <p:spPr>
          <a:xfrm>
            <a:off x="960120" y="3081528"/>
            <a:ext cx="1532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architect-data-interpreter</a:t>
            </a:r>
            <a:endParaRPr lang="en-US" sz="950" dirty="0"/>
          </a:p>
        </p:txBody>
      </p:sp>
      <p:pic>
        <p:nvPicPr>
          <p:cNvPr id="12" name="Freccia f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784" y="3387852"/>
            <a:ext cx="310896" cy="310896"/>
          </a:xfrm>
          <a:prstGeom prst="rect">
            <a:avLst/>
          </a:prstGeom>
        </p:spPr>
      </p:pic>
      <p:sp>
        <p:nvSpPr>
          <p:cNvPr id="13" name="Fase Numeri"/>
          <p:cNvSpPr/>
          <p:nvPr/>
        </p:nvSpPr>
        <p:spPr>
          <a:xfrm>
            <a:off x="3059256" y="1828800"/>
            <a:ext cx="1574948" cy="3429000"/>
          </a:xfrm>
          <a:prstGeom prst="roundRect">
            <a:avLst>
              <a:gd name="adj" fmla="val 812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4" name="numero 2"/>
          <p:cNvSpPr/>
          <p:nvPr/>
        </p:nvSpPr>
        <p:spPr>
          <a:xfrm>
            <a:off x="3287856" y="2057400"/>
            <a:ext cx="384048" cy="384048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5" name="numero testo 2"/>
          <p:cNvSpPr txBox="1"/>
          <p:nvPr/>
        </p:nvSpPr>
        <p:spPr>
          <a:xfrm>
            <a:off x="32878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Fase nome 1"/>
          <p:cNvSpPr txBox="1"/>
          <p:nvPr/>
        </p:nvSpPr>
        <p:spPr>
          <a:xfrm>
            <a:off x="3790776" y="2011680"/>
            <a:ext cx="706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</a:t>
            </a:r>
            <a:endParaRPr lang="en-US" sz="1500" dirty="0"/>
          </a:p>
        </p:txBody>
      </p:sp>
      <p:sp>
        <p:nvSpPr>
          <p:cNvPr id="17" name="Skill business-plan"/>
          <p:cNvSpPr/>
          <p:nvPr/>
        </p:nvSpPr>
        <p:spPr>
          <a:xfrm>
            <a:off x="3242136" y="2697480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8" name="Skill testo business-plan"/>
          <p:cNvSpPr txBox="1"/>
          <p:nvPr/>
        </p:nvSpPr>
        <p:spPr>
          <a:xfrm>
            <a:off x="3333576" y="2697480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business-plan</a:t>
            </a:r>
            <a:endParaRPr lang="en-US" sz="1200" dirty="0"/>
          </a:p>
        </p:txBody>
      </p:sp>
      <p:sp>
        <p:nvSpPr>
          <p:cNvPr id="19" name="Skill market-research"/>
          <p:cNvSpPr/>
          <p:nvPr/>
        </p:nvSpPr>
        <p:spPr>
          <a:xfrm>
            <a:off x="3242136" y="3081528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0" name="Skill testo market-research"/>
          <p:cNvSpPr txBox="1"/>
          <p:nvPr/>
        </p:nvSpPr>
        <p:spPr>
          <a:xfrm>
            <a:off x="3333576" y="3081528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market-research</a:t>
            </a:r>
            <a:endParaRPr lang="en-US" sz="1050" dirty="0"/>
          </a:p>
        </p:txBody>
      </p:sp>
      <p:sp>
        <p:nvSpPr>
          <p:cNvPr id="21" name="Skill deal-validator"/>
          <p:cNvSpPr/>
          <p:nvPr/>
        </p:nvSpPr>
        <p:spPr>
          <a:xfrm>
            <a:off x="3242136" y="3465576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2" name="Skill testo deal-validator"/>
          <p:cNvSpPr txBox="1"/>
          <p:nvPr/>
        </p:nvSpPr>
        <p:spPr>
          <a:xfrm>
            <a:off x="3333576" y="3465576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deal-validator</a:t>
            </a:r>
            <a:endParaRPr lang="en-US" sz="1200" dirty="0"/>
          </a:p>
        </p:txBody>
      </p:sp>
      <p:pic>
        <p:nvPicPr>
          <p:cNvPr id="23" name="Freccia f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80" y="3387852"/>
            <a:ext cx="310896" cy="310896"/>
          </a:xfrm>
          <a:prstGeom prst="rect">
            <a:avLst/>
          </a:prstGeom>
        </p:spPr>
      </p:pic>
      <p:sp>
        <p:nvSpPr>
          <p:cNvPr id="24" name="Fase Capitale e regole"/>
          <p:cNvSpPr/>
          <p:nvPr/>
        </p:nvSpPr>
        <p:spPr>
          <a:xfrm>
            <a:off x="5018252" y="1828800"/>
            <a:ext cx="2569652" cy="3429000"/>
          </a:xfrm>
          <a:prstGeom prst="roundRect">
            <a:avLst>
              <a:gd name="adj" fmla="val 498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5" name="numero 3"/>
          <p:cNvSpPr/>
          <p:nvPr/>
        </p:nvSpPr>
        <p:spPr>
          <a:xfrm>
            <a:off x="5246852" y="2057400"/>
            <a:ext cx="384048" cy="384048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6" name="numero testo 3"/>
          <p:cNvSpPr txBox="1"/>
          <p:nvPr/>
        </p:nvSpPr>
        <p:spPr>
          <a:xfrm>
            <a:off x="524685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Fase nome 2"/>
          <p:cNvSpPr txBox="1"/>
          <p:nvPr/>
        </p:nvSpPr>
        <p:spPr>
          <a:xfrm>
            <a:off x="5749772" y="2011680"/>
            <a:ext cx="1700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Capitale e regole</a:t>
            </a:r>
            <a:endParaRPr lang="en-US" sz="1500" dirty="0"/>
          </a:p>
        </p:txBody>
      </p:sp>
      <p:sp>
        <p:nvSpPr>
          <p:cNvPr id="28" name="Skill capital-structuring"/>
          <p:cNvSpPr/>
          <p:nvPr/>
        </p:nvSpPr>
        <p:spPr>
          <a:xfrm>
            <a:off x="5201132" y="2697480"/>
            <a:ext cx="22038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9" name="Skill testo capital-structuring"/>
          <p:cNvSpPr txBox="1"/>
          <p:nvPr/>
        </p:nvSpPr>
        <p:spPr>
          <a:xfrm>
            <a:off x="5292572" y="2697480"/>
            <a:ext cx="2112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capital-structuring</a:t>
            </a:r>
            <a:endParaRPr lang="en-US" sz="1050" dirty="0"/>
          </a:p>
        </p:txBody>
      </p:sp>
      <p:sp>
        <p:nvSpPr>
          <p:cNvPr id="30" name="Skill foreign-investment-compliance"/>
          <p:cNvSpPr/>
          <p:nvPr/>
        </p:nvSpPr>
        <p:spPr>
          <a:xfrm>
            <a:off x="5201132" y="3081528"/>
            <a:ext cx="22038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1" name="Skill testo foreign-investment-compliance"/>
          <p:cNvSpPr txBox="1"/>
          <p:nvPr/>
        </p:nvSpPr>
        <p:spPr>
          <a:xfrm>
            <a:off x="5292572" y="3081528"/>
            <a:ext cx="2112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foreign-investment-compliance</a:t>
            </a:r>
            <a:endParaRPr lang="en-US" sz="950" dirty="0"/>
          </a:p>
        </p:txBody>
      </p:sp>
      <p:sp>
        <p:nvSpPr>
          <p:cNvPr id="32" name="Skill tokenization-setup"/>
          <p:cNvSpPr/>
          <p:nvPr/>
        </p:nvSpPr>
        <p:spPr>
          <a:xfrm>
            <a:off x="5201132" y="3465576"/>
            <a:ext cx="22038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3" name="Skill testo tokenization-setup"/>
          <p:cNvSpPr txBox="1"/>
          <p:nvPr/>
        </p:nvSpPr>
        <p:spPr>
          <a:xfrm>
            <a:off x="5292572" y="3465576"/>
            <a:ext cx="2112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tokenization-setup</a:t>
            </a:r>
            <a:endParaRPr lang="en-US" sz="1050" dirty="0"/>
          </a:p>
        </p:txBody>
      </p:sp>
      <p:pic>
        <p:nvPicPr>
          <p:cNvPr id="34" name="Freccia fa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79" y="3387852"/>
            <a:ext cx="310896" cy="310896"/>
          </a:xfrm>
          <a:prstGeom prst="rect">
            <a:avLst/>
          </a:prstGeom>
        </p:spPr>
      </p:pic>
      <p:sp>
        <p:nvSpPr>
          <p:cNvPr id="35" name="Fase Fondi"/>
          <p:cNvSpPr/>
          <p:nvPr/>
        </p:nvSpPr>
        <p:spPr>
          <a:xfrm>
            <a:off x="7971951" y="1828800"/>
            <a:ext cx="1574948" cy="3429000"/>
          </a:xfrm>
          <a:prstGeom prst="roundRect">
            <a:avLst>
              <a:gd name="adj" fmla="val 812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6" name="numero 4"/>
          <p:cNvSpPr/>
          <p:nvPr/>
        </p:nvSpPr>
        <p:spPr>
          <a:xfrm>
            <a:off x="8200551" y="2057400"/>
            <a:ext cx="384048" cy="384048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7" name="numero testo 4"/>
          <p:cNvSpPr txBox="1"/>
          <p:nvPr/>
        </p:nvSpPr>
        <p:spPr>
          <a:xfrm>
            <a:off x="8200551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Fase nome 3"/>
          <p:cNvSpPr txBox="1"/>
          <p:nvPr/>
        </p:nvSpPr>
        <p:spPr>
          <a:xfrm>
            <a:off x="8703471" y="2011680"/>
            <a:ext cx="706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Fondi</a:t>
            </a:r>
            <a:endParaRPr lang="en-US" sz="1500" dirty="0"/>
          </a:p>
        </p:txBody>
      </p:sp>
      <p:sp>
        <p:nvSpPr>
          <p:cNvPr id="39" name="Skill dd-dataroom"/>
          <p:cNvSpPr/>
          <p:nvPr/>
        </p:nvSpPr>
        <p:spPr>
          <a:xfrm>
            <a:off x="8154831" y="2697480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0" name="Skill testo dd-dataroom"/>
          <p:cNvSpPr txBox="1"/>
          <p:nvPr/>
        </p:nvSpPr>
        <p:spPr>
          <a:xfrm>
            <a:off x="8246271" y="2697480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dd-dataroom</a:t>
            </a:r>
            <a:endParaRPr lang="en-US" sz="1200" dirty="0"/>
          </a:p>
        </p:txBody>
      </p:sp>
      <p:sp>
        <p:nvSpPr>
          <p:cNvPr id="41" name="Skill investor-teaser"/>
          <p:cNvSpPr/>
          <p:nvPr/>
        </p:nvSpPr>
        <p:spPr>
          <a:xfrm>
            <a:off x="8154831" y="3081528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2" name="Skill testo investor-teaser"/>
          <p:cNvSpPr txBox="1"/>
          <p:nvPr/>
        </p:nvSpPr>
        <p:spPr>
          <a:xfrm>
            <a:off x="8246271" y="3081528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investor-teaser</a:t>
            </a:r>
            <a:endParaRPr lang="en-US" sz="1050" dirty="0"/>
          </a:p>
        </p:txBody>
      </p:sp>
      <p:sp>
        <p:nvSpPr>
          <p:cNvPr id="43" name="Skill portfolio-ops"/>
          <p:cNvSpPr/>
          <p:nvPr/>
        </p:nvSpPr>
        <p:spPr>
          <a:xfrm>
            <a:off x="8154831" y="3465576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4" name="Skill testo portfolio-ops"/>
          <p:cNvSpPr txBox="1"/>
          <p:nvPr/>
        </p:nvSpPr>
        <p:spPr>
          <a:xfrm>
            <a:off x="8246271" y="3465576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portfolio-ops</a:t>
            </a:r>
            <a:endParaRPr lang="en-US" sz="1200" dirty="0"/>
          </a:p>
        </p:txBody>
      </p:sp>
      <p:pic>
        <p:nvPicPr>
          <p:cNvPr id="45" name="Freccia f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475" y="3387852"/>
            <a:ext cx="310896" cy="310896"/>
          </a:xfrm>
          <a:prstGeom prst="rect">
            <a:avLst/>
          </a:prstGeom>
        </p:spPr>
      </p:pic>
      <p:sp>
        <p:nvSpPr>
          <p:cNvPr id="46" name="Fase Vendita"/>
          <p:cNvSpPr/>
          <p:nvPr/>
        </p:nvSpPr>
        <p:spPr>
          <a:xfrm>
            <a:off x="9930947" y="1828800"/>
            <a:ext cx="1574948" cy="3429000"/>
          </a:xfrm>
          <a:prstGeom prst="roundRect">
            <a:avLst>
              <a:gd name="adj" fmla="val 8128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47" name="numero 5"/>
          <p:cNvSpPr/>
          <p:nvPr/>
        </p:nvSpPr>
        <p:spPr>
          <a:xfrm>
            <a:off x="10159547" y="2057400"/>
            <a:ext cx="384048" cy="384048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48" name="numero testo 5"/>
          <p:cNvSpPr txBox="1"/>
          <p:nvPr/>
        </p:nvSpPr>
        <p:spPr>
          <a:xfrm>
            <a:off x="1015954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Fase nome 4"/>
          <p:cNvSpPr txBox="1"/>
          <p:nvPr/>
        </p:nvSpPr>
        <p:spPr>
          <a:xfrm>
            <a:off x="10662467" y="2011680"/>
            <a:ext cx="706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1500" dirty="0"/>
          </a:p>
        </p:txBody>
      </p:sp>
      <p:sp>
        <p:nvSpPr>
          <p:cNvPr id="50" name="Skill property-content"/>
          <p:cNvSpPr/>
          <p:nvPr/>
        </p:nvSpPr>
        <p:spPr>
          <a:xfrm>
            <a:off x="10113827" y="2697480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1" name="Skill testo property-content"/>
          <p:cNvSpPr txBox="1"/>
          <p:nvPr/>
        </p:nvSpPr>
        <p:spPr>
          <a:xfrm>
            <a:off x="10205267" y="2697480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property-content</a:t>
            </a:r>
            <a:endParaRPr lang="en-US" sz="1050" dirty="0"/>
          </a:p>
        </p:txBody>
      </p:sp>
      <p:sp>
        <p:nvSpPr>
          <p:cNvPr id="52" name="Skill sales-brochure"/>
          <p:cNvSpPr/>
          <p:nvPr/>
        </p:nvSpPr>
        <p:spPr>
          <a:xfrm>
            <a:off x="10113827" y="3081528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3" name="Skill testo sales-brochure"/>
          <p:cNvSpPr txBox="1"/>
          <p:nvPr/>
        </p:nvSpPr>
        <p:spPr>
          <a:xfrm>
            <a:off x="10205267" y="3081528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sales-brochure</a:t>
            </a:r>
            <a:endParaRPr lang="en-US" sz="1200" dirty="0"/>
          </a:p>
        </p:txBody>
      </p:sp>
      <p:sp>
        <p:nvSpPr>
          <p:cNvPr id="54" name="Skill brand-comms"/>
          <p:cNvSpPr/>
          <p:nvPr/>
        </p:nvSpPr>
        <p:spPr>
          <a:xfrm>
            <a:off x="10113827" y="3465576"/>
            <a:ext cx="120918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5" name="Skill testo brand-comms"/>
          <p:cNvSpPr txBox="1"/>
          <p:nvPr/>
        </p:nvSpPr>
        <p:spPr>
          <a:xfrm>
            <a:off x="10205267" y="3465576"/>
            <a:ext cx="1117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brand-comms</a:t>
            </a:r>
            <a:endParaRPr lang="en-US" sz="1200" dirty="0"/>
          </a:p>
        </p:txBody>
      </p:sp>
      <p:sp>
        <p:nvSpPr>
          <p:cNvPr id="56" name="nota Una skill passa all’altra:"/>
          <p:cNvSpPr/>
          <p:nvPr/>
        </p:nvSpPr>
        <p:spPr>
          <a:xfrm>
            <a:off x="685800" y="5486400"/>
            <a:ext cx="10820095" cy="603504"/>
          </a:xfrm>
          <a:prstGeom prst="roundRect">
            <a:avLst>
              <a:gd name="adj" fmla="val 2121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57" name="nota ic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623560"/>
            <a:ext cx="329184" cy="329184"/>
          </a:xfrm>
          <a:prstGeom prst="rect">
            <a:avLst/>
          </a:prstGeom>
        </p:spPr>
      </p:pic>
      <p:sp>
        <p:nvSpPr>
          <p:cNvPr id="58" name="nota testo"/>
          <p:cNvSpPr txBox="1"/>
          <p:nvPr/>
        </p:nvSpPr>
        <p:spPr>
          <a:xfrm>
            <a:off x="1417320" y="5486400"/>
            <a:ext cx="9859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skill passa all’altra: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scheda dati di project-setup la legge business-plan, il modello validato lo legge investor-teaser.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VERO · REAL ESTATE 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scrivi, cosa ottieni</a:t>
            </a:r>
            <a:endParaRPr lang="en-US" sz="3400" dirty="0"/>
          </a:p>
        </p:txBody>
      </p:sp>
      <p:sp>
        <p:nvSpPr>
          <p:cNvPr id="4" name="Intestazione SKILL"/>
          <p:cNvSpPr txBox="1"/>
          <p:nvPr/>
        </p:nvSpPr>
        <p:spPr>
          <a:xfrm>
            <a:off x="822960" y="1783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100" dirty="0"/>
          </a:p>
        </p:txBody>
      </p:sp>
      <p:sp>
        <p:nvSpPr>
          <p:cNvPr id="5" name="Intestazione CHIEDI"/>
          <p:cNvSpPr txBox="1"/>
          <p:nvPr/>
        </p:nvSpPr>
        <p:spPr>
          <a:xfrm>
            <a:off x="3337560" y="1783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</a:t>
            </a:r>
            <a:endParaRPr lang="en-US" sz="1100" dirty="0"/>
          </a:p>
        </p:txBody>
      </p:sp>
      <p:sp>
        <p:nvSpPr>
          <p:cNvPr id="6" name="Intestazione LE SERVE"/>
          <p:cNvSpPr txBox="1"/>
          <p:nvPr/>
        </p:nvSpPr>
        <p:spPr>
          <a:xfrm>
            <a:off x="557784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SERVE</a:t>
            </a:r>
            <a:endParaRPr lang="en-US" sz="1100" dirty="0"/>
          </a:p>
        </p:txBody>
      </p:sp>
      <p:sp>
        <p:nvSpPr>
          <p:cNvPr id="7" name="Intestazione OTTIENI"/>
          <p:cNvSpPr txBox="1"/>
          <p:nvPr/>
        </p:nvSpPr>
        <p:spPr>
          <a:xfrm>
            <a:off x="8229600" y="1783080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OTTIENI</a:t>
            </a:r>
            <a:endParaRPr lang="en-US" sz="1100" dirty="0"/>
          </a:p>
        </p:txBody>
      </p:sp>
      <p:sp>
        <p:nvSpPr>
          <p:cNvPr id="8" name="Riga project-setup"/>
          <p:cNvSpPr/>
          <p:nvPr/>
        </p:nvSpPr>
        <p:spPr>
          <a:xfrm>
            <a:off x="685800" y="2103120"/>
            <a:ext cx="10820095" cy="711811"/>
          </a:xfrm>
          <a:prstGeom prst="roundRect">
            <a:avLst>
              <a:gd name="adj" fmla="val 12846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" name="Nome project-setup"/>
          <p:cNvSpPr/>
          <p:nvPr/>
        </p:nvSpPr>
        <p:spPr>
          <a:xfrm>
            <a:off x="795528" y="2257857"/>
            <a:ext cx="2295144" cy="402336"/>
          </a:xfrm>
          <a:prstGeom prst="roundRect">
            <a:avLst>
              <a:gd name="adj" fmla="val 1818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0" name="Nome testo project-setup"/>
          <p:cNvSpPr txBox="1"/>
          <p:nvPr/>
        </p:nvSpPr>
        <p:spPr>
          <a:xfrm>
            <a:off x="868680" y="225785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project-setup</a:t>
            </a:r>
            <a:endParaRPr lang="en-US" sz="1250" dirty="0"/>
          </a:p>
        </p:txBody>
      </p:sp>
      <p:sp>
        <p:nvSpPr>
          <p:cNvPr id="11" name="Chiedi project-setup"/>
          <p:cNvSpPr txBox="1"/>
          <p:nvPr/>
        </p:nvSpPr>
        <p:spPr>
          <a:xfrm>
            <a:off x="3337560" y="2103120"/>
            <a:ext cx="1965960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“Metti in ordine i file del Progetto Demo e dimmi cosa manca”</a:t>
            </a:r>
            <a:endParaRPr lang="en-US" sz="1400" dirty="0"/>
          </a:p>
        </p:txBody>
      </p:sp>
      <p:sp>
        <p:nvSpPr>
          <p:cNvPr id="12" name="Serve project-setup"/>
          <p:cNvSpPr txBox="1"/>
          <p:nvPr/>
        </p:nvSpPr>
        <p:spPr>
          <a:xfrm>
            <a:off x="5577840" y="2103120"/>
            <a:ext cx="2057400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Render, piante, listino e una email, tutti di esempio</a:t>
            </a:r>
            <a:endParaRPr lang="en-US" sz="1400" dirty="0"/>
          </a:p>
        </p:txBody>
      </p:sp>
      <p:pic>
        <p:nvPicPr>
          <p:cNvPr id="13" name="Freccia project-set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76" y="2331009"/>
            <a:ext cx="256032" cy="256032"/>
          </a:xfrm>
          <a:prstGeom prst="rect">
            <a:avLst/>
          </a:prstGeom>
        </p:spPr>
      </p:pic>
      <p:sp>
        <p:nvSpPr>
          <p:cNvPr id="14" name="Ottieni project-setup"/>
          <p:cNvSpPr txBox="1"/>
          <p:nvPr/>
        </p:nvSpPr>
        <p:spPr>
          <a:xfrm>
            <a:off x="8229600" y="2103120"/>
            <a:ext cx="3136392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Cartella standard, file rinominati, scheda dati e lista di cosa manca</a:t>
            </a:r>
            <a:endParaRPr lang="en-US" sz="1400" dirty="0"/>
          </a:p>
        </p:txBody>
      </p:sp>
      <p:sp>
        <p:nvSpPr>
          <p:cNvPr id="15" name="Riga foreign-investment-compliance"/>
          <p:cNvSpPr/>
          <p:nvPr/>
        </p:nvSpPr>
        <p:spPr>
          <a:xfrm>
            <a:off x="685800" y="2906371"/>
            <a:ext cx="10820095" cy="882087"/>
          </a:xfrm>
          <a:prstGeom prst="roundRect">
            <a:avLst>
              <a:gd name="adj" fmla="val 10366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6" name="Nome foreign-investment-compliance"/>
          <p:cNvSpPr/>
          <p:nvPr/>
        </p:nvSpPr>
        <p:spPr>
          <a:xfrm>
            <a:off x="795528" y="3146247"/>
            <a:ext cx="2295144" cy="402336"/>
          </a:xfrm>
          <a:prstGeom prst="roundRect">
            <a:avLst>
              <a:gd name="adj" fmla="val 1818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7" name="Nome testo foreign-investment-compliance"/>
          <p:cNvSpPr txBox="1"/>
          <p:nvPr/>
        </p:nvSpPr>
        <p:spPr>
          <a:xfrm>
            <a:off x="868680" y="314624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foreign-investment-compliance</a:t>
            </a:r>
            <a:endParaRPr lang="en-US" sz="1250" dirty="0"/>
          </a:p>
        </p:txBody>
      </p:sp>
      <p:sp>
        <p:nvSpPr>
          <p:cNvPr id="18" name="Chiedi foreign-investment-compliance"/>
          <p:cNvSpPr txBox="1"/>
          <p:nvPr/>
        </p:nvSpPr>
        <p:spPr>
          <a:xfrm>
            <a:off x="3337560" y="2906371"/>
            <a:ext cx="1965960" cy="88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 investitore con sede a Singapore può entrare in questa società immobiliare?”</a:t>
            </a:r>
            <a:endParaRPr lang="en-US" sz="1400" dirty="0"/>
          </a:p>
        </p:txBody>
      </p:sp>
      <p:sp>
        <p:nvSpPr>
          <p:cNvPr id="19" name="Serve foreign-investment-compliance"/>
          <p:cNvSpPr txBox="1"/>
          <p:nvPr/>
        </p:nvSpPr>
        <p:spPr>
          <a:xfrm>
            <a:off x="5577840" y="2906371"/>
            <a:ext cx="2057400" cy="88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 domanda: le regole le verifica sulle fonti ufficiali</a:t>
            </a:r>
            <a:endParaRPr lang="en-US" sz="1400" dirty="0"/>
          </a:p>
        </p:txBody>
      </p:sp>
      <p:pic>
        <p:nvPicPr>
          <p:cNvPr id="20" name="Freccia foreign-investment-complianc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6" y="3219399"/>
            <a:ext cx="256032" cy="256032"/>
          </a:xfrm>
          <a:prstGeom prst="rect">
            <a:avLst/>
          </a:prstGeom>
        </p:spPr>
      </p:pic>
      <p:sp>
        <p:nvSpPr>
          <p:cNvPr id="21" name="Ottieni foreign-investment-compliance"/>
          <p:cNvSpPr txBox="1"/>
          <p:nvPr/>
        </p:nvSpPr>
        <p:spPr>
          <a:xfrm>
            <a:off x="8229600" y="2906371"/>
            <a:ext cx="3136392" cy="88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Verdetto Lex Koller, limiti, struttura possibile, con le fonti</a:t>
            </a:r>
            <a:endParaRPr lang="en-US" sz="1400" dirty="0"/>
          </a:p>
        </p:txBody>
      </p:sp>
      <p:sp>
        <p:nvSpPr>
          <p:cNvPr id="22" name="Riga deal-validator"/>
          <p:cNvSpPr/>
          <p:nvPr/>
        </p:nvSpPr>
        <p:spPr>
          <a:xfrm>
            <a:off x="685800" y="3879898"/>
            <a:ext cx="10820095" cy="711811"/>
          </a:xfrm>
          <a:prstGeom prst="roundRect">
            <a:avLst>
              <a:gd name="adj" fmla="val 12846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3" name="Nome deal-validator"/>
          <p:cNvSpPr/>
          <p:nvPr/>
        </p:nvSpPr>
        <p:spPr>
          <a:xfrm>
            <a:off x="795528" y="4034636"/>
            <a:ext cx="2295144" cy="402336"/>
          </a:xfrm>
          <a:prstGeom prst="roundRect">
            <a:avLst>
              <a:gd name="adj" fmla="val 1818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24" name="Nome testo deal-validator"/>
          <p:cNvSpPr txBox="1"/>
          <p:nvPr/>
        </p:nvSpPr>
        <p:spPr>
          <a:xfrm>
            <a:off x="868680" y="403463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deal-validator</a:t>
            </a:r>
            <a:endParaRPr lang="en-US" sz="1250" dirty="0"/>
          </a:p>
        </p:txBody>
      </p:sp>
      <p:sp>
        <p:nvSpPr>
          <p:cNvPr id="25" name="Chiedi deal-validator"/>
          <p:cNvSpPr txBox="1"/>
          <p:nvPr/>
        </p:nvSpPr>
        <p:spPr>
          <a:xfrm>
            <a:off x="3337560" y="3879898"/>
            <a:ext cx="1965960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“Controlla questo business plan prima che lo mandiamo”</a:t>
            </a:r>
            <a:endParaRPr lang="en-US" sz="1400" dirty="0"/>
          </a:p>
        </p:txBody>
      </p:sp>
      <p:sp>
        <p:nvSpPr>
          <p:cNvPr id="26" name="Serve deal-validator"/>
          <p:cNvSpPr txBox="1"/>
          <p:nvPr/>
        </p:nvSpPr>
        <p:spPr>
          <a:xfrm>
            <a:off x="5577840" y="3879898"/>
            <a:ext cx="2057400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Excel di esempio</a:t>
            </a:r>
            <a:endParaRPr lang="en-US" sz="1400" dirty="0"/>
          </a:p>
        </p:txBody>
      </p:sp>
      <p:pic>
        <p:nvPicPr>
          <p:cNvPr id="27" name="Freccia deal-validato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4107788"/>
            <a:ext cx="256032" cy="256032"/>
          </a:xfrm>
          <a:prstGeom prst="rect">
            <a:avLst/>
          </a:prstGeom>
        </p:spPr>
      </p:pic>
      <p:sp>
        <p:nvSpPr>
          <p:cNvPr id="28" name="Ottieni deal-validator"/>
          <p:cNvSpPr txBox="1"/>
          <p:nvPr/>
        </p:nvSpPr>
        <p:spPr>
          <a:xfrm>
            <a:off x="8229600" y="3879898"/>
            <a:ext cx="3136392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 con riferimento di cella, scenari e un voto</a:t>
            </a:r>
            <a:endParaRPr lang="en-US" sz="1400" dirty="0"/>
          </a:p>
        </p:txBody>
      </p:sp>
      <p:sp>
        <p:nvSpPr>
          <p:cNvPr id="29" name="Riga investor-teaser"/>
          <p:cNvSpPr/>
          <p:nvPr/>
        </p:nvSpPr>
        <p:spPr>
          <a:xfrm>
            <a:off x="685800" y="4683149"/>
            <a:ext cx="10820095" cy="711811"/>
          </a:xfrm>
          <a:prstGeom prst="roundRect">
            <a:avLst>
              <a:gd name="adj" fmla="val 12846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0" name="Nome investor-teaser"/>
          <p:cNvSpPr/>
          <p:nvPr/>
        </p:nvSpPr>
        <p:spPr>
          <a:xfrm>
            <a:off x="795528" y="4837887"/>
            <a:ext cx="2295144" cy="402336"/>
          </a:xfrm>
          <a:prstGeom prst="roundRect">
            <a:avLst>
              <a:gd name="adj" fmla="val 1818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31" name="Nome testo investor-teaser"/>
          <p:cNvSpPr txBox="1"/>
          <p:nvPr/>
        </p:nvSpPr>
        <p:spPr>
          <a:xfrm>
            <a:off x="868680" y="4837887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investor-teaser</a:t>
            </a:r>
            <a:endParaRPr lang="en-US" sz="1250" dirty="0"/>
          </a:p>
        </p:txBody>
      </p:sp>
      <p:sp>
        <p:nvSpPr>
          <p:cNvPr id="32" name="Chiedi investor-teaser"/>
          <p:cNvSpPr txBox="1"/>
          <p:nvPr/>
        </p:nvSpPr>
        <p:spPr>
          <a:xfrm>
            <a:off x="3337560" y="4683149"/>
            <a:ext cx="1965960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“Fai il teaser per investitori da questo modello”</a:t>
            </a:r>
            <a:endParaRPr lang="en-US" sz="1400" dirty="0"/>
          </a:p>
        </p:txBody>
      </p:sp>
      <p:sp>
        <p:nvSpPr>
          <p:cNvPr id="33" name="Serve investor-teaser"/>
          <p:cNvSpPr txBox="1"/>
          <p:nvPr/>
        </p:nvSpPr>
        <p:spPr>
          <a:xfrm>
            <a:off x="5577840" y="4683149"/>
            <a:ext cx="2057400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controllato</a:t>
            </a:r>
            <a:endParaRPr lang="en-US" sz="1400" dirty="0"/>
          </a:p>
        </p:txBody>
      </p:sp>
      <p:pic>
        <p:nvPicPr>
          <p:cNvPr id="34" name="Freccia investor-teas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4911039"/>
            <a:ext cx="256032" cy="256032"/>
          </a:xfrm>
          <a:prstGeom prst="rect">
            <a:avLst/>
          </a:prstGeom>
        </p:spPr>
      </p:pic>
      <p:sp>
        <p:nvSpPr>
          <p:cNvPr id="35" name="Ottieni investor-teaser"/>
          <p:cNvSpPr txBox="1"/>
          <p:nvPr/>
        </p:nvSpPr>
        <p:spPr>
          <a:xfrm>
            <a:off x="8229600" y="4683149"/>
            <a:ext cx="3136392" cy="71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 HTML o PDF con numeri, grafici e limiti dichiarati</a:t>
            </a:r>
            <a:endParaRPr lang="en-US" sz="1400" dirty="0"/>
          </a:p>
        </p:txBody>
      </p:sp>
      <p:sp>
        <p:nvSpPr>
          <p:cNvPr id="36" name="nota Per una demo dal vivo:"/>
          <p:cNvSpPr/>
          <p:nvPr/>
        </p:nvSpPr>
        <p:spPr>
          <a:xfrm>
            <a:off x="685800" y="5577840"/>
            <a:ext cx="10820095" cy="603504"/>
          </a:xfrm>
          <a:prstGeom prst="roundRect">
            <a:avLst>
              <a:gd name="adj" fmla="val 21212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pic>
        <p:nvPicPr>
          <p:cNvPr id="37" name="nota ic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15000"/>
            <a:ext cx="329184" cy="329184"/>
          </a:xfrm>
          <a:prstGeom prst="rect">
            <a:avLst/>
          </a:prstGeom>
        </p:spPr>
      </p:pic>
      <p:sp>
        <p:nvSpPr>
          <p:cNvPr id="38" name="nota testo"/>
          <p:cNvSpPr txBox="1"/>
          <p:nvPr/>
        </p:nvSpPr>
        <p:spPr>
          <a:xfrm>
            <a:off x="1417320" y="5577840"/>
            <a:ext cx="9859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una demo dal vivo: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installato, Drive collegato, una cartella con soli dati di esempio. Mai dati veri di clienti o investitori.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MATERIALE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trovi nel materiale</a:t>
            </a:r>
            <a:endParaRPr lang="en-US" sz="3400" dirty="0"/>
          </a:p>
        </p:txBody>
      </p:sp>
      <p:sp>
        <p:nvSpPr>
          <p:cNvPr id="4" name="Sezione Capire"/>
          <p:cNvSpPr/>
          <p:nvPr/>
        </p:nvSpPr>
        <p:spPr>
          <a:xfrm>
            <a:off x="685800" y="1828800"/>
            <a:ext cx="10820095" cy="714086"/>
          </a:xfrm>
          <a:prstGeom prst="roundRect">
            <a:avLst>
              <a:gd name="adj" fmla="val 15366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Nome Capire"/>
          <p:cNvSpPr txBox="1"/>
          <p:nvPr/>
        </p:nvSpPr>
        <p:spPr>
          <a:xfrm>
            <a:off x="941832" y="1828800"/>
            <a:ext cx="2788920" cy="7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A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Capire</a:t>
            </a:r>
            <a:endParaRPr lang="en-US" sz="1500" dirty="0"/>
          </a:p>
        </p:txBody>
      </p:sp>
      <p:sp>
        <p:nvSpPr>
          <p:cNvPr id="6" name="Capitoli Capire"/>
          <p:cNvSpPr txBox="1"/>
          <p:nvPr/>
        </p:nvSpPr>
        <p:spPr>
          <a:xfrm>
            <a:off x="3931920" y="1828800"/>
            <a:ext cx="7299655" cy="7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Cos’è l’AI e cosa non è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 funziona e perché sbaglia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 strumenti</a:t>
            </a:r>
            <a:endParaRPr lang="en-US" sz="1400" dirty="0"/>
          </a:p>
        </p:txBody>
      </p:sp>
      <p:sp>
        <p:nvSpPr>
          <p:cNvPr id="7" name="Sezione Usare in sicurezza"/>
          <p:cNvSpPr/>
          <p:nvPr/>
        </p:nvSpPr>
        <p:spPr>
          <a:xfrm>
            <a:off x="685800" y="2670902"/>
            <a:ext cx="10820095" cy="714086"/>
          </a:xfrm>
          <a:prstGeom prst="roundRect">
            <a:avLst>
              <a:gd name="adj" fmla="val 15366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Nome Usare in sicurezza"/>
          <p:cNvSpPr txBox="1"/>
          <p:nvPr/>
        </p:nvSpPr>
        <p:spPr>
          <a:xfrm>
            <a:off x="941832" y="2670902"/>
            <a:ext cx="2788920" cy="7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B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in sicurezza</a:t>
            </a:r>
            <a:endParaRPr lang="en-US" sz="1500" dirty="0"/>
          </a:p>
        </p:txBody>
      </p:sp>
      <p:sp>
        <p:nvSpPr>
          <p:cNvPr id="9" name="Capitoli Usare in sicurezza"/>
          <p:cNvSpPr txBox="1"/>
          <p:nvPr/>
        </p:nvSpPr>
        <p:spPr>
          <a:xfrm>
            <a:off x="3931920" y="2670902"/>
            <a:ext cx="7299655" cy="7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 e privacy: spegni l’addestramento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Rischi dell’AI e come verificare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 regole in azienda</a:t>
            </a:r>
            <a:endParaRPr lang="en-US" sz="1400" dirty="0"/>
          </a:p>
        </p:txBody>
      </p:sp>
      <p:sp>
        <p:nvSpPr>
          <p:cNvPr id="10" name="Sezione Usare bene"/>
          <p:cNvSpPr/>
          <p:nvPr/>
        </p:nvSpPr>
        <p:spPr>
          <a:xfrm>
            <a:off x="685800" y="3513003"/>
            <a:ext cx="10820095" cy="912340"/>
          </a:xfrm>
          <a:prstGeom prst="roundRect">
            <a:avLst>
              <a:gd name="adj" fmla="val 12027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Nome Usare bene"/>
          <p:cNvSpPr txBox="1"/>
          <p:nvPr/>
        </p:nvSpPr>
        <p:spPr>
          <a:xfrm>
            <a:off x="941832" y="3513003"/>
            <a:ext cx="2788920" cy="91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C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bene</a:t>
            </a:r>
            <a:endParaRPr lang="en-US" sz="1500" dirty="0"/>
          </a:p>
        </p:txBody>
      </p:sp>
      <p:sp>
        <p:nvSpPr>
          <p:cNvPr id="12" name="Capitoli Usare bene"/>
          <p:cNvSpPr txBox="1"/>
          <p:nvPr/>
        </p:nvSpPr>
        <p:spPr>
          <a:xfrm>
            <a:off x="3931920" y="3513003"/>
            <a:ext cx="7299655" cy="91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Scrivere un buon prompt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Progetti, memoria, istruzioni e regole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 pronti per ruolo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Documenti, dati e ricerca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L’azienda pronta per l’AI</a:t>
            </a:r>
            <a:endParaRPr lang="en-US" sz="1400" dirty="0"/>
          </a:p>
        </p:txBody>
      </p:sp>
      <p:sp>
        <p:nvSpPr>
          <p:cNvPr id="13" name="Sezione Collegare e automatizzare"/>
          <p:cNvSpPr/>
          <p:nvPr/>
        </p:nvSpPr>
        <p:spPr>
          <a:xfrm>
            <a:off x="685800" y="4553359"/>
            <a:ext cx="10820095" cy="714086"/>
          </a:xfrm>
          <a:prstGeom prst="roundRect">
            <a:avLst>
              <a:gd name="adj" fmla="val 15366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4" name="Nome Collegare e automatizzare"/>
          <p:cNvSpPr txBox="1"/>
          <p:nvPr/>
        </p:nvSpPr>
        <p:spPr>
          <a:xfrm>
            <a:off x="941832" y="4553359"/>
            <a:ext cx="2788920" cy="7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D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Collegare e automatizzare</a:t>
            </a:r>
            <a:endParaRPr lang="en-US" sz="1500" dirty="0"/>
          </a:p>
        </p:txBody>
      </p:sp>
      <p:sp>
        <p:nvSpPr>
          <p:cNvPr id="15" name="Capitoli Collegare e automatizzare"/>
          <p:cNvSpPr txBox="1"/>
          <p:nvPr/>
        </p:nvSpPr>
        <p:spPr>
          <a:xfrm>
            <a:off x="3931920" y="4553359"/>
            <a:ext cx="7299655" cy="7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Connettori e MCP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Automazioni e agenti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 coding: basi</a:t>
            </a:r>
            <a:endParaRPr lang="en-US" sz="1400" dirty="0"/>
          </a:p>
        </p:txBody>
      </p:sp>
      <p:sp>
        <p:nvSpPr>
          <p:cNvPr id="16" name="Sezione Strumenti e verifica"/>
          <p:cNvSpPr/>
          <p:nvPr/>
        </p:nvSpPr>
        <p:spPr>
          <a:xfrm>
            <a:off x="685800" y="5395461"/>
            <a:ext cx="10820095" cy="685299"/>
          </a:xfrm>
          <a:prstGeom prst="roundRect">
            <a:avLst>
              <a:gd name="adj" fmla="val 1601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7" name="Nome Strumenti e verifica"/>
          <p:cNvSpPr txBox="1"/>
          <p:nvPr/>
        </p:nvSpPr>
        <p:spPr>
          <a:xfrm>
            <a:off x="941832" y="5395461"/>
            <a:ext cx="2788920" cy="68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E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e verifica</a:t>
            </a:r>
            <a:endParaRPr lang="en-US" sz="1500" dirty="0"/>
          </a:p>
        </p:txBody>
      </p:sp>
      <p:sp>
        <p:nvSpPr>
          <p:cNvPr id="18" name="Capitoli Strumenti e verifica"/>
          <p:cNvSpPr txBox="1"/>
          <p:nvPr/>
        </p:nvSpPr>
        <p:spPr>
          <a:xfrm>
            <a:off x="3931920" y="5395461"/>
            <a:ext cx="7299655" cy="68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 stack AI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Glossario     </a:t>
            </a:r>
            <a:pPr indent="0" marL="0">
              <a:buNone/>
            </a:pPr>
            <a:r>
              <a:rPr lang="en-US" sz="14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20  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ADESSO, 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cose da fare in 10 minuti</a:t>
            </a:r>
            <a:endParaRPr lang="en-US" sz="3400" dirty="0"/>
          </a:p>
        </p:txBody>
      </p:sp>
      <p:sp>
        <p:nvSpPr>
          <p:cNvPr id="4" name="Tempo"/>
          <p:cNvSpPr/>
          <p:nvPr/>
        </p:nvSpPr>
        <p:spPr>
          <a:xfrm>
            <a:off x="9905695" y="8686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pic>
        <p:nvPicPr>
          <p:cNvPr id="5" name="Tempo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978408"/>
            <a:ext cx="237744" cy="237744"/>
          </a:xfrm>
          <a:prstGeom prst="rect">
            <a:avLst/>
          </a:prstGeom>
        </p:spPr>
      </p:pic>
      <p:sp>
        <p:nvSpPr>
          <p:cNvPr id="6" name="Tempo testo"/>
          <p:cNvSpPr txBox="1"/>
          <p:nvPr/>
        </p:nvSpPr>
        <p:spPr>
          <a:xfrm>
            <a:off x="10362895" y="868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minuti</a:t>
            </a:r>
            <a:endParaRPr lang="en-US" sz="1400" dirty="0"/>
          </a:p>
        </p:txBody>
      </p:sp>
      <p:sp>
        <p:nvSpPr>
          <p:cNvPr id="7" name="Azione 1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numero 1"/>
          <p:cNvSpPr/>
          <p:nvPr/>
        </p:nvSpPr>
        <p:spPr>
          <a:xfrm>
            <a:off x="960120" y="21671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numero testo 1"/>
          <p:cNvSpPr txBox="1"/>
          <p:nvPr/>
        </p:nvSpPr>
        <p:spPr>
          <a:xfrm>
            <a:off x="9601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Icona azione 1 fondo"/>
          <p:cNvSpPr/>
          <p:nvPr/>
        </p:nvSpPr>
        <p:spPr>
          <a:xfrm>
            <a:off x="1691640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azion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259" y="2256739"/>
            <a:ext cx="332842" cy="332842"/>
          </a:xfrm>
          <a:prstGeom prst="rect">
            <a:avLst/>
          </a:prstGeom>
        </p:spPr>
      </p:pic>
      <p:sp>
        <p:nvSpPr>
          <p:cNvPr id="12" name="Azione titolo 1"/>
          <p:cNvSpPr txBox="1"/>
          <p:nvPr/>
        </p:nvSpPr>
        <p:spPr>
          <a:xfrm>
            <a:off x="2560320" y="20116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Spegni l’addestramento sulle tue chat</a:t>
            </a:r>
            <a:endParaRPr lang="en-US" sz="2000" dirty="0"/>
          </a:p>
        </p:txBody>
      </p:sp>
      <p:sp>
        <p:nvSpPr>
          <p:cNvPr id="13" name="Azione testo 1"/>
          <p:cNvSpPr txBox="1"/>
          <p:nvPr/>
        </p:nvSpPr>
        <p:spPr>
          <a:xfrm>
            <a:off x="2560320" y="24505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Nelle impostazioni privacy dello strumento che usi. I percorsi per 5 strumenti sono nel capitolo 4.</a:t>
            </a:r>
            <a:endParaRPr lang="en-US" sz="1500" dirty="0"/>
          </a:p>
        </p:txBody>
      </p:sp>
      <p:sp>
        <p:nvSpPr>
          <p:cNvPr id="14" name="Azione 2"/>
          <p:cNvSpPr/>
          <p:nvPr/>
        </p:nvSpPr>
        <p:spPr>
          <a:xfrm>
            <a:off x="685800" y="32004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numero 2"/>
          <p:cNvSpPr/>
          <p:nvPr/>
        </p:nvSpPr>
        <p:spPr>
          <a:xfrm>
            <a:off x="960120" y="35387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6" name="numero testo 2"/>
          <p:cNvSpPr txBox="1"/>
          <p:nvPr/>
        </p:nvSpPr>
        <p:spPr>
          <a:xfrm>
            <a:off x="96012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Icona azione 2 fondo"/>
          <p:cNvSpPr/>
          <p:nvPr/>
        </p:nvSpPr>
        <p:spPr>
          <a:xfrm>
            <a:off x="1691640" y="3474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cona azion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259" y="3628339"/>
            <a:ext cx="332842" cy="332842"/>
          </a:xfrm>
          <a:prstGeom prst="rect">
            <a:avLst/>
          </a:prstGeom>
        </p:spPr>
      </p:pic>
      <p:sp>
        <p:nvSpPr>
          <p:cNvPr id="19" name="Azione titolo 2"/>
          <p:cNvSpPr txBox="1"/>
          <p:nvPr/>
        </p:nvSpPr>
        <p:spPr>
          <a:xfrm>
            <a:off x="2560320" y="33832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Imposta le istruzioni personalizzate</a:t>
            </a:r>
            <a:endParaRPr lang="en-US" sz="2000" dirty="0"/>
          </a:p>
        </p:txBody>
      </p:sp>
      <p:sp>
        <p:nvSpPr>
          <p:cNvPr id="20" name="Azione testo 2"/>
          <p:cNvSpPr txBox="1"/>
          <p:nvPr/>
        </p:nvSpPr>
        <p:spPr>
          <a:xfrm>
            <a:off x="2560320" y="38221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sei e come vuoi le risposte: brevi, in italiano, con le fonti. Testo pronto da copiare nel capitolo 8.</a:t>
            </a:r>
            <a:endParaRPr lang="en-US" sz="1500" dirty="0"/>
          </a:p>
        </p:txBody>
      </p:sp>
      <p:sp>
        <p:nvSpPr>
          <p:cNvPr id="21" name="Azione 3"/>
          <p:cNvSpPr/>
          <p:nvPr/>
        </p:nvSpPr>
        <p:spPr>
          <a:xfrm>
            <a:off x="685800" y="45720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2" name="numero 3"/>
          <p:cNvSpPr/>
          <p:nvPr/>
        </p:nvSpPr>
        <p:spPr>
          <a:xfrm>
            <a:off x="960120" y="49103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3" name="numero testo 3"/>
          <p:cNvSpPr txBox="1"/>
          <p:nvPr/>
        </p:nvSpPr>
        <p:spPr>
          <a:xfrm>
            <a:off x="960120" y="4910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Icona azione 3 fondo"/>
          <p:cNvSpPr/>
          <p:nvPr/>
        </p:nvSpPr>
        <p:spPr>
          <a:xfrm>
            <a:off x="1691640" y="48463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5" name="Icona azion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259" y="4999939"/>
            <a:ext cx="332842" cy="332842"/>
          </a:xfrm>
          <a:prstGeom prst="rect">
            <a:avLst/>
          </a:prstGeom>
        </p:spPr>
      </p:pic>
      <p:sp>
        <p:nvSpPr>
          <p:cNvPr id="26" name="Azione titolo 3"/>
          <p:cNvSpPr txBox="1"/>
          <p:nvPr/>
        </p:nvSpPr>
        <p:spPr>
          <a:xfrm>
            <a:off x="2560320" y="47548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un prompt pronto per il tuo ruolo</a:t>
            </a:r>
            <a:endParaRPr lang="en-US" sz="2000" dirty="0"/>
          </a:p>
        </p:txBody>
      </p:sp>
      <p:sp>
        <p:nvSpPr>
          <p:cNvPr id="27" name="Azione testo 3"/>
          <p:cNvSpPr txBox="1"/>
          <p:nvPr/>
        </p:nvSpPr>
        <p:spPr>
          <a:xfrm>
            <a:off x="2560320" y="51937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9: scegli il tuo ruolo, copia un prompt e provalo su un caso vero, senza dati riservati.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L’INCONTRO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resto lo leggi con calma</a:t>
            </a:r>
            <a:endParaRPr lang="en-US" sz="3400" dirty="0"/>
          </a:p>
        </p:txBody>
      </p:sp>
      <p:sp>
        <p:nvSpPr>
          <p:cNvPr id="4" name="Come si usa"/>
          <p:cNvSpPr/>
          <p:nvPr/>
        </p:nvSpPr>
        <p:spPr>
          <a:xfrm>
            <a:off x="685800" y="1828800"/>
            <a:ext cx="4983480" cy="4206240"/>
          </a:xfrm>
          <a:prstGeom prst="roundRect">
            <a:avLst>
              <a:gd name="adj" fmla="val 3043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Come si usa titolo"/>
          <p:cNvSpPr txBox="1"/>
          <p:nvPr/>
        </p:nvSpPr>
        <p:spPr>
          <a:xfrm>
            <a:off x="10058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SI USA IL MATERIALE</a:t>
            </a:r>
            <a:endParaRPr lang="en-US" sz="1200" dirty="0"/>
          </a:p>
        </p:txBody>
      </p:sp>
      <p:sp>
        <p:nvSpPr>
          <p:cNvPr id="6" name="Uso 0 fondo"/>
          <p:cNvSpPr/>
          <p:nvPr/>
        </p:nvSpPr>
        <p:spPr>
          <a:xfrm>
            <a:off x="1005840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Us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726741"/>
            <a:ext cx="261518" cy="261518"/>
          </a:xfrm>
          <a:prstGeom prst="rect">
            <a:avLst/>
          </a:prstGeom>
        </p:spPr>
      </p:pic>
      <p:sp>
        <p:nvSpPr>
          <p:cNvPr id="8" name="Uso testo 0"/>
          <p:cNvSpPr txBox="1"/>
          <p:nvPr/>
        </p:nvSpPr>
        <p:spPr>
          <a:xfrm>
            <a:off x="169164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il link nel browser, anche dal telefono</a:t>
            </a:r>
            <a:endParaRPr lang="en-US" sz="1500" dirty="0"/>
          </a:p>
        </p:txBody>
      </p:sp>
      <p:sp>
        <p:nvSpPr>
          <p:cNvPr id="9" name="Uso 1 fondo"/>
          <p:cNvSpPr/>
          <p:nvPr/>
        </p:nvSpPr>
        <p:spPr>
          <a:xfrm>
            <a:off x="1005840" y="3429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Us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41" y="3549701"/>
            <a:ext cx="261518" cy="261518"/>
          </a:xfrm>
          <a:prstGeom prst="rect">
            <a:avLst/>
          </a:prstGeom>
        </p:spPr>
      </p:pic>
      <p:sp>
        <p:nvSpPr>
          <p:cNvPr id="11" name="Uso testo 1"/>
          <p:cNvSpPr txBox="1"/>
          <p:nvPr/>
        </p:nvSpPr>
        <p:spPr>
          <a:xfrm>
            <a:off x="169164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Italiano o inglese: interruttore in alto a destra</a:t>
            </a:r>
            <a:endParaRPr lang="en-US" sz="1500" dirty="0"/>
          </a:p>
        </p:txBody>
      </p:sp>
      <p:sp>
        <p:nvSpPr>
          <p:cNvPr id="12" name="Uso 2 fondo"/>
          <p:cNvSpPr/>
          <p:nvPr/>
        </p:nvSpPr>
        <p:spPr>
          <a:xfrm>
            <a:off x="1005840" y="42519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Us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4372661"/>
            <a:ext cx="261518" cy="261518"/>
          </a:xfrm>
          <a:prstGeom prst="rect">
            <a:avLst/>
          </a:prstGeom>
        </p:spPr>
      </p:pic>
      <p:sp>
        <p:nvSpPr>
          <p:cNvPr id="14" name="Uso testo 2"/>
          <p:cNvSpPr txBox="1"/>
          <p:nvPr/>
        </p:nvSpPr>
        <p:spPr>
          <a:xfrm>
            <a:off x="169164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nel menu a sinistra, ognuno con il riassunto in cima</a:t>
            </a:r>
            <a:endParaRPr lang="en-US" sz="1500" dirty="0"/>
          </a:p>
        </p:txBody>
      </p:sp>
      <p:sp>
        <p:nvSpPr>
          <p:cNvPr id="15" name="Uso 3 fondo"/>
          <p:cNvSpPr/>
          <p:nvPr/>
        </p:nvSpPr>
        <p:spPr>
          <a:xfrm>
            <a:off x="1005840" y="5074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Us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5195621"/>
            <a:ext cx="261518" cy="261518"/>
          </a:xfrm>
          <a:prstGeom prst="rect">
            <a:avLst/>
          </a:prstGeom>
        </p:spPr>
      </p:pic>
      <p:sp>
        <p:nvSpPr>
          <p:cNvPr id="17" name="Uso testo 3"/>
          <p:cNvSpPr txBox="1"/>
          <p:nvPr/>
        </p:nvSpPr>
        <p:spPr>
          <a:xfrm>
            <a:off x="1691640" y="5029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checklist si salva da sola sul tuo dispositivo</a:t>
            </a:r>
            <a:endParaRPr lang="en-US" sz="1500" dirty="0"/>
          </a:p>
        </p:txBody>
      </p:sp>
      <p:sp>
        <p:nvSpPr>
          <p:cNvPr id="18" name="Programma titolo"/>
          <p:cNvSpPr txBox="1"/>
          <p:nvPr/>
        </p:nvSpPr>
        <p:spPr>
          <a:xfrm>
            <a:off x="5989320" y="210312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PROGRAMMA</a:t>
            </a:r>
            <a:endParaRPr lang="en-US" sz="1200" dirty="0"/>
          </a:p>
        </p:txBody>
      </p:sp>
      <p:sp>
        <p:nvSpPr>
          <p:cNvPr id="19" name="Linea programma"/>
          <p:cNvSpPr/>
          <p:nvPr/>
        </p:nvSpPr>
        <p:spPr>
          <a:xfrm>
            <a:off x="6117336" y="2697480"/>
            <a:ext cx="0" cy="2346960"/>
          </a:xfrm>
          <a:prstGeom prst="line">
            <a:avLst/>
          </a:prstGeom>
          <a:noFill/>
          <a:ln w="25400">
            <a:solidFill>
              <a:srgbClr val="E4E8EE"/>
            </a:solidFill>
            <a:prstDash val="solid"/>
          </a:ln>
        </p:spPr>
      </p:sp>
      <p:sp>
        <p:nvSpPr>
          <p:cNvPr id="20" name="Punto Entro una settimana"/>
          <p:cNvSpPr/>
          <p:nvPr/>
        </p:nvSpPr>
        <p:spPr>
          <a:xfrm>
            <a:off x="5989320" y="262432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Quando Entro una settimana"/>
          <p:cNvSpPr txBox="1"/>
          <p:nvPr/>
        </p:nvSpPr>
        <p:spPr>
          <a:xfrm>
            <a:off x="6492240" y="256032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 una settimana</a:t>
            </a:r>
            <a:endParaRPr lang="en-US" sz="1600" dirty="0"/>
          </a:p>
        </p:txBody>
      </p:sp>
      <p:sp>
        <p:nvSpPr>
          <p:cNvPr id="22" name="Cosa Entro una settimana"/>
          <p:cNvSpPr txBox="1"/>
          <p:nvPr/>
        </p:nvSpPr>
        <p:spPr>
          <a:xfrm>
            <a:off x="6492240" y="290779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tutto il materiale, sezione D compresa. Circa 45 minuti.</a:t>
            </a:r>
            <a:endParaRPr lang="en-US" sz="1500" dirty="0"/>
          </a:p>
        </p:txBody>
      </p:sp>
      <p:sp>
        <p:nvSpPr>
          <p:cNvPr id="23" name="Punto Entro due settimane"/>
          <p:cNvSpPr/>
          <p:nvPr/>
        </p:nvSpPr>
        <p:spPr>
          <a:xfrm>
            <a:off x="5989320" y="379780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Quando Entro due settimane"/>
          <p:cNvSpPr txBox="1"/>
          <p:nvPr/>
        </p:nvSpPr>
        <p:spPr>
          <a:xfrm>
            <a:off x="6492240" y="373380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 due settimane</a:t>
            </a:r>
            <a:endParaRPr lang="en-US" sz="1600" dirty="0"/>
          </a:p>
        </p:txBody>
      </p:sp>
      <p:sp>
        <p:nvSpPr>
          <p:cNvPr id="25" name="Cosa Entro due settimane"/>
          <p:cNvSpPr txBox="1"/>
          <p:nvPr/>
        </p:nvSpPr>
        <p:spPr>
          <a:xfrm>
            <a:off x="6492240" y="408127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configurati, checklist da 18 punti e test. Circa 1 ora di pratica.</a:t>
            </a:r>
            <a:endParaRPr lang="en-US" sz="1500" dirty="0"/>
          </a:p>
        </p:txBody>
      </p:sp>
      <p:sp>
        <p:nvSpPr>
          <p:cNvPr id="26" name="Punto Poi"/>
          <p:cNvSpPr/>
          <p:nvPr/>
        </p:nvSpPr>
        <p:spPr>
          <a:xfrm>
            <a:off x="5989320" y="497128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Quando Poi"/>
          <p:cNvSpPr txBox="1"/>
          <p:nvPr/>
        </p:nvSpPr>
        <p:spPr>
          <a:xfrm>
            <a:off x="6492240" y="490728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</a:t>
            </a:r>
            <a:endParaRPr lang="en-US" sz="1600" dirty="0"/>
          </a:p>
        </p:txBody>
      </p:sp>
      <p:sp>
        <p:nvSpPr>
          <p:cNvPr id="28" name="Cosa Poi"/>
          <p:cNvSpPr txBox="1"/>
          <p:nvPr/>
        </p:nvSpPr>
        <p:spPr>
          <a:xfrm>
            <a:off x="6492240" y="525475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 i primi strumenti con la sezione D: connettori e skill, con accessi minimi. Ripasso ogni 6 mesi.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CHIUDERE</a:t>
            </a:r>
            <a:endParaRPr lang="en-US" sz="1200" dirty="0"/>
          </a:p>
        </p:txBody>
      </p:sp>
      <p:sp>
        <p:nvSpPr>
          <p:cNvPr id="3" name="Domande"/>
          <p:cNvSpPr txBox="1"/>
          <p:nvPr/>
        </p:nvSpPr>
        <p:spPr>
          <a:xfrm>
            <a:off x="685800" y="10515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5400" dirty="0"/>
          </a:p>
        </p:txBody>
      </p:sp>
      <p:sp>
        <p:nvSpPr>
          <p:cNvPr id="4" name="Da portare a casa"/>
          <p:cNvSpPr txBox="1"/>
          <p:nvPr/>
        </p:nvSpPr>
        <p:spPr>
          <a:xfrm>
            <a:off x="685800" y="22860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A CASA</a:t>
            </a:r>
            <a:endParaRPr lang="en-US" sz="1200" dirty="0"/>
          </a:p>
        </p:txBody>
      </p:sp>
      <p:pic>
        <p:nvPicPr>
          <p:cNvPr id="5" name="Spunta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61488"/>
            <a:ext cx="329184" cy="329184"/>
          </a:xfrm>
          <a:prstGeom prst="rect">
            <a:avLst/>
          </a:prstGeom>
        </p:spPr>
      </p:pic>
      <p:sp>
        <p:nvSpPr>
          <p:cNvPr id="6" name="Punto 0"/>
          <p:cNvSpPr txBox="1"/>
          <p:nvPr/>
        </p:nvSpPr>
        <p:spPr>
          <a:xfrm>
            <a:off x="1234440" y="269748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giusti nello strumento giusto. Segreto mai, in nessuna AI</a:t>
            </a:r>
            <a:endParaRPr lang="en-US" sz="2100" dirty="0"/>
          </a:p>
        </p:txBody>
      </p:sp>
      <p:pic>
        <p:nvPicPr>
          <p:cNvPr id="7" name="Spun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19856"/>
            <a:ext cx="329184" cy="329184"/>
          </a:xfrm>
          <a:prstGeom prst="rect">
            <a:avLst/>
          </a:prstGeom>
        </p:spPr>
      </p:pic>
      <p:sp>
        <p:nvSpPr>
          <p:cNvPr id="8" name="Punto 1"/>
          <p:cNvSpPr txBox="1"/>
          <p:nvPr/>
        </p:nvSpPr>
        <p:spPr>
          <a:xfrm>
            <a:off x="1234440" y="3355848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L’AI prevede, non sa: ricontrolla nomi, date e numeri</a:t>
            </a:r>
            <a:endParaRPr lang="en-US" sz="2100" dirty="0"/>
          </a:p>
        </p:txBody>
      </p:sp>
      <p:pic>
        <p:nvPicPr>
          <p:cNvPr id="9" name="Spunta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78224"/>
            <a:ext cx="329184" cy="329184"/>
          </a:xfrm>
          <a:prstGeom prst="rect">
            <a:avLst/>
          </a:prstGeom>
        </p:spPr>
      </p:pic>
      <p:sp>
        <p:nvSpPr>
          <p:cNvPr id="10" name="Punto 2"/>
          <p:cNvSpPr txBox="1"/>
          <p:nvPr/>
        </p:nvSpPr>
        <p:spPr>
          <a:xfrm>
            <a:off x="1234440" y="401421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 minimo, come a un nuovo collaboratore</a:t>
            </a:r>
            <a:endParaRPr lang="en-US" sz="2100" dirty="0"/>
          </a:p>
        </p:txBody>
      </p:sp>
      <p:sp>
        <p:nvSpPr>
          <p:cNvPr id="11" name="Se succede"/>
          <p:cNvSpPr/>
          <p:nvPr/>
        </p:nvSpPr>
        <p:spPr>
          <a:xfrm>
            <a:off x="685800" y="4892040"/>
            <a:ext cx="1082009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Telef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66360"/>
            <a:ext cx="411480" cy="411480"/>
          </a:xfrm>
          <a:prstGeom prst="rect">
            <a:avLst/>
          </a:prstGeom>
        </p:spPr>
      </p:pic>
      <p:sp>
        <p:nvSpPr>
          <p:cNvPr id="13" name="Se succede testo"/>
          <p:cNvSpPr txBox="1"/>
          <p:nvPr/>
        </p:nvSpPr>
        <p:spPr>
          <a:xfrm>
            <a:off x="1645920" y="4892040"/>
            <a:ext cx="9585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dato a un’AI un dato che non dovevi?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Avvisa subito il referente IT della tua azienda. Prima lo fai, meglio è. Senza vergogna.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dove vengono i dati</a:t>
            </a:r>
            <a:endParaRPr lang="en-US" sz="3400" dirty="0"/>
          </a:p>
        </p:txBody>
      </p:sp>
      <p:sp>
        <p:nvSpPr>
          <p:cNvPr id="4" name="Fonte Verizon DBIR 2026"/>
          <p:cNvSpPr txBox="1"/>
          <p:nvPr/>
        </p:nvSpPr>
        <p:spPr>
          <a:xfrm>
            <a:off x="685800" y="1828800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usa l’AI con account non aziendali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verizon.com</a:t>
            </a:r>
            <a:endParaRPr lang="en-US" sz="1300" dirty="0"/>
          </a:p>
        </p:txBody>
      </p:sp>
      <p:sp>
        <p:nvSpPr>
          <p:cNvPr id="5" name="Fonte Verizon DBIR 2025"/>
          <p:cNvSpPr txBox="1"/>
          <p:nvPr/>
        </p:nvSpPr>
        <p:spPr>
          <a:xfrm>
            <a:off x="685800" y="2670048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 AI nelle email truffa raddoppiato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verizon.com</a:t>
            </a:r>
            <a:endParaRPr lang="en-US" sz="1300" dirty="0"/>
          </a:p>
        </p:txBody>
      </p:sp>
      <p:sp>
        <p:nvSpPr>
          <p:cNvPr id="6" name="Fonte Gartner, 26.02.2025"/>
          <p:cNvSpPr txBox="1"/>
          <p:nvPr/>
        </p:nvSpPr>
        <p:spPr>
          <a:xfrm>
            <a:off x="685800" y="3511296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Gartner, 26.02.2025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dei progetti abbandonati, 63% senza dati adatti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gartner.com</a:t>
            </a:r>
            <a:endParaRPr lang="en-US" sz="1300" dirty="0"/>
          </a:p>
        </p:txBody>
      </p:sp>
      <p:sp>
        <p:nvSpPr>
          <p:cNvPr id="7" name="Fonte Bloomberg, 02.05.2023"/>
          <p:cNvSpPr txBox="1"/>
          <p:nvPr/>
        </p:nvSpPr>
        <p:spPr>
          <a:xfrm>
            <a:off x="6278728" y="1828800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Bloomberg, 02.05.2023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limita l’AI generativa dopo una fuga di dati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bloomberg.com</a:t>
            </a:r>
            <a:endParaRPr lang="en-US" sz="1300" dirty="0"/>
          </a:p>
        </p:txBody>
      </p:sp>
      <p:sp>
        <p:nvSpPr>
          <p:cNvPr id="8" name="Fonte CNBC, 02.05.2023"/>
          <p:cNvSpPr txBox="1"/>
          <p:nvPr/>
        </p:nvSpPr>
        <p:spPr>
          <a:xfrm>
            <a:off x="6278728" y="2670048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CNBC, 02.05.2023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codice riservato caricato in ChatGPT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cnbc.com</a:t>
            </a:r>
            <a:endParaRPr lang="en-US" sz="1300" dirty="0"/>
          </a:p>
        </p:txBody>
      </p:sp>
      <p:sp>
        <p:nvSpPr>
          <p:cNvPr id="9" name="Nota fonti"/>
          <p:cNvSpPr txBox="1"/>
          <p:nvPr/>
        </p:nvSpPr>
        <p:spPr>
          <a:xfrm>
            <a:off x="685800" y="576072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fonti, con i link, sono anche nell’ultimo capitolo del materiale.</a:t>
            </a:r>
            <a:endParaRPr lang="en-US" sz="1100" dirty="0"/>
          </a:p>
        </p:txBody>
      </p:sp>
      <p:sp>
        <p:nvSpPr>
          <p:cNvPr id="10" name="Crediti"/>
          <p:cNvSpPr txBox="1"/>
          <p:nvPr/>
        </p:nvSpPr>
        <p:spPr>
          <a:xfrm>
            <a:off x="685800" y="601675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Aron Clementi. Materiale formativo a scopo informativo: non sostituisce una consulenza legale o tecnica né le regole della tua azienda. Fonti verificate alla data indicata; strumenti e prezzi cambiano.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urezza e AI">
  <a:themeElements>
    <a:clrScheme name="Sicurezza e AI">
      <a:dk1>
        <a:srgbClr val="111827"/>
      </a:dk1>
      <a:lt1>
        <a:srgbClr val="FFFFFF"/>
      </a:lt1>
      <a:dk2>
        <a:srgbClr val="1B4D89"/>
      </a:dk2>
      <a:lt2>
        <a:srgbClr val="EAF2FC"/>
      </a:lt2>
      <a:accent1>
        <a:srgbClr val="1B4D89"/>
      </a:accent1>
      <a:accent2>
        <a:srgbClr val="2D6CB5"/>
      </a:accent2>
      <a:accent3>
        <a:srgbClr val="067647"/>
      </a:accent3>
      <a:accent4>
        <a:srgbClr val="A15C07"/>
      </a:accent4>
      <a:accent5>
        <a:srgbClr val="B42318"/>
      </a:accent5>
      <a:accent6>
        <a:srgbClr val="6B7280"/>
      </a:accent6>
      <a:hlink>
        <a:srgbClr val="2D6CB5"/>
      </a:hlink>
      <a:folHlink>
        <a:srgbClr val="1B4D89"/>
      </a:folHlink>
    </a:clrScheme>
    <a:fontScheme name="Sicurezza e A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Sicurezza e AI, materiale formativo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· Parte 1 · AI al lavoro</dc:title>
  <dc:subject>PptxGenJS Presentation</dc:subject>
  <dc:creator>Aron Clementi</dc:creator>
  <cp:lastModifiedBy>Aron Clementi</cp:lastModifiedBy>
  <cp:revision>1</cp:revision>
  <dcterms:created xsi:type="dcterms:W3CDTF">2026-10-26T23:00:03Z</dcterms:created>
  <dcterms:modified xsi:type="dcterms:W3CDTF">2026-10-26T23:00:03Z</dcterms:modified>
</cp:coreProperties>
</file>