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fa005f6-ae5f-134b-ceab-920fc8db923c}">
          <p14:sldIdLst>
            <p14:sldId id="256"/>
            <p14:sldId id="257"/>
          </p14:sldIdLst>
        </p14:section>
        <p14:section name="Perché" id="{68c7c518-0364-4677-b4ea-6f02db3a97ad}">
          <p14:sldIdLst>
            <p14:sldId id="258"/>
            <p14:sldId id="259"/>
            <p14:sldId id="260"/>
          </p14:sldIdLst>
        </p14:section>
        <p14:section name="Capire" id="{341d4204-9767-bbf7-ff59-879de878191a}">
          <p14:sldIdLst>
            <p14:sldId id="261"/>
          </p14:sldIdLst>
        </p14:section>
        <p14:section name="Regole chiave" id="{0d68ce2f-ee7a-f11d-6c36-12ec74e8dc5c}">
          <p14:sldIdLst>
            <p14:sldId id="262"/>
          </p14:sldIdLst>
        </p14:section>
        <p14:section name="In azienda" id="{00852f20-7b37-aa47-19c0-57a82ada4e7d}">
          <p14:sldIdLst>
            <p14:sldId id="263"/>
          </p14:sldIdLst>
        </p14:section>
        <p14:section name="Il materiale" id="{bc192994-2d2f-a7ca-7afc-6294ec2b389a}">
          <p14:sldIdLst>
            <p14:sldId id="264"/>
          </p14:sldIdLst>
        </p14:section>
        <p14:section name="Adesso" id="{4fcc21e5-0cdf-3601-4fd1-798f4f75242b}">
          <p14:sldIdLst>
            <p14:sldId id="265"/>
            <p14:sldId id="266"/>
          </p14:sldIdLst>
        </p14:section>
        <p14:section name="Chiusura" id="{8feffbcb-0a17-3ebb-6438-702c6bfc1565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parliamo di intelligenza artificiale al lavoro: cosa fa bene, dove sbaglia, quali dati non darle mai e come usarla bene. Non serve saper programmare. Come per la sicurezza, oggi c’è l’introduzione e il resto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temi, che nel materiale diventano le sezioni A, B, C e D. Prima capiamo cos’è e perché sbaglia. Poi la sicurezza: quali dati sì e quali no. Poi come usarla bene ogni giorno. Infine come un’azienda si organizza per farla lavorare davvero: dati in ordine, connettori, skill e agenti.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1 sull’AI. Pensate a un nuovo assunto bravissimo e instancabile, ma appena arrivato. Non gli date le chiavi della cassaforte il primo giorno: gli date istruzioni, accesso solo alle cartelle che servono e ricontrollate quello che fa. Con l’AI è uguale, soprattutto quando la colleghiamo ai nostri 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numeri. Due persone su tre usano l’AI con account personali, quindi con dati aziendali fuori dal controllo dell’azienda. I truffatori la usano già per scrivere email perfette. E secondo Gartner, entro il 2026 sarà abbandonato il 60% dei progetti AI senza dati pronti.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famoso. Gli ingegneri volevano solo lavorare più in fretta: hanno incollato codice riservato in un’AI pubblica. Samsung ha bloccato l’AI generativa sui computer aziendali. Il punto non è vietare l’AI, ma usarla con strumenti approvati dall’azienda e senza dati segreti.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L’AI non cerca la risposta in un archivio: prevede la parola successiva più probabile. Se l’informazione è nel documento che le date, la legge. Se non c’è, sceglie quella che suona meglio, anche se è sbagliata. Per questo serve sempre una verifica, soprattutto su numeri, nomi 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stesse quattro classi di dati della Sicurezza Parte 2, applicate all’AI. Pubblico sì. Interno solo negli strumenti approvati dall’azienda. Confidenziale solo lì e anonimizzato, salvo uno strumento che l’azienda approva per iscritto anche per i dati veri, per esempio l’account aziendale. Segreto mai, in nessuna AI. E l’AI non deve mai poter fare pagamenti o cancellare file e account da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capitolo più pratico per l’azienda. Un’AI collegata a cartelle in disordine, con file chiamati contratto_finale_v3_OK, dà risposte vaghe e versioni vecchie. Con una knowledge base ordinata dà risposte precise e citate. Nel materiale c’è un piano in 4 settimane per arrivarci.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sezioni, tutte per tutti. A, B e C: capire, usare in sicurezza, usare bene, con 27 prompt pronti per amministrazione, comunicazione, vendite, tecnico e cantiere, sviluppo, marketing, design, legale e direzione. La sezione D è la più importante per il lavoro in azienda: connettori e MCP, skill, agenti e basi di vibe coding. La E chiude con strumenti,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adesso. Primo: spegnere l’addestramento, così le vostre chat non servono a istruire il modello. Secondo: le istruzioni personalizzate, che tolgono all’AI l’abitudine di scrivere troppo. Terzo: un prompt pronto per il vostro lavoro, per vedere subito il risultato.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è un file da aprire nel browser, funziona anche senza internet.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L’AI è uno strumento potente: usata con le regole giuste fa risparmiare ore ogni settimana. Se avete dubbi su uno strumento o su un dato, chiedete prima di usarlo.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verizon.com/business/resources/reports/2025-dbir-data-breach-investigations-report.pdf" TargetMode="External"/><Relationship Id="rId3" Type="http://schemas.openxmlformats.org/officeDocument/2006/relationships/hyperlink" Target="https://www.gartner.com/en/newsroom/press-releases/2025-02-26-lack-of-ai-ready-data-puts-ai-projects-at-risk" TargetMode="External"/><Relationship Id="rId4" Type="http://schemas.openxmlformats.org/officeDocument/2006/relationships/hyperlink" Target="https://www.bloomberg.com/news/articles/2023-05-02/samsung-bans-chatgpt-and-other-generative-ai-use-by-staff-after-leak" TargetMode="External"/><Relationship Id="rId5" Type="http://schemas.openxmlformats.org/officeDocument/2006/relationships/hyperlink" Target="https://www.cnbc.com/2023/05/02/samsung-bans-use-of-ai-like-chatgpt-for-staff-after-misuse-of-chatbot.html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213969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al lavoro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sa fare l’AI, dove sbaglia, quali dati non darle e come farla lavorare bene, per te e per l’azienda.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on serve saper programmare"/>
          <p:cNvSpPr/>
          <p:nvPr/>
        </p:nvSpPr>
        <p:spPr>
          <a:xfrm>
            <a:off x="2061972" y="4892040"/>
            <a:ext cx="2802636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on serve saper programmare"/>
          <p:cNvSpPr txBox="1"/>
          <p:nvPr/>
        </p:nvSpPr>
        <p:spPr>
          <a:xfrm>
            <a:off x="2061972" y="4892040"/>
            <a:ext cx="28026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5001768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5001768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20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3400" dirty="0"/>
          </a:p>
        </p:txBody>
      </p:sp>
      <p:sp>
        <p:nvSpPr>
          <p:cNvPr id="16" name="Dato testo 20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capitoli, dalle basi agli agenti</a:t>
            </a:r>
            <a:endParaRPr lang="en-US" sz="1400" dirty="0"/>
          </a:p>
        </p:txBody>
      </p:sp>
      <p:sp>
        <p:nvSpPr>
          <p:cNvPr id="17" name="Dato 27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3400" dirty="0"/>
          </a:p>
        </p:txBody>
      </p:sp>
      <p:sp>
        <p:nvSpPr>
          <p:cNvPr id="18" name="Dato testo 27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pronti, per 9 ruoli</a:t>
            </a:r>
            <a:endParaRPr lang="en-US" sz="1400" dirty="0"/>
          </a:p>
        </p:txBody>
      </p:sp>
      <p:sp>
        <p:nvSpPr>
          <p:cNvPr id="19" name="Dato 45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3400" dirty="0"/>
          </a:p>
        </p:txBody>
      </p:sp>
      <p:sp>
        <p:nvSpPr>
          <p:cNvPr id="20" name="Dato testo 45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lettura, poi 1 ora di pratica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 l’AI, come funziona e perché a volte inventa.</a:t>
            </a:r>
            <a:endParaRPr lang="en-US" sz="1500" dirty="0"/>
          </a:p>
        </p:txBody>
      </p:sp>
      <p:sp>
        <p:nvSpPr>
          <p:cNvPr id="9" name="Scheda Usare in sicurezza"/>
          <p:cNvSpPr/>
          <p:nvPr/>
        </p:nvSpPr>
        <p:spPr>
          <a:xfrm>
            <a:off x="3459404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Usare in sicurezza fondo"/>
          <p:cNvSpPr/>
          <p:nvPr/>
        </p:nvSpPr>
        <p:spPr>
          <a:xfrm>
            <a:off x="3779444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Usare in sicurezz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036" y="2313432"/>
            <a:ext cx="356616" cy="356616"/>
          </a:xfrm>
          <a:prstGeom prst="rect">
            <a:avLst/>
          </a:prstGeom>
        </p:spPr>
      </p:pic>
      <p:sp>
        <p:nvSpPr>
          <p:cNvPr id="12" name="Titolo Usare in sicurezza"/>
          <p:cNvSpPr txBox="1"/>
          <p:nvPr/>
        </p:nvSpPr>
        <p:spPr>
          <a:xfrm>
            <a:off x="3779444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2100" dirty="0"/>
          </a:p>
        </p:txBody>
      </p:sp>
      <p:sp>
        <p:nvSpPr>
          <p:cNvPr id="13" name="Testo Usare in sicurezza"/>
          <p:cNvSpPr txBox="1"/>
          <p:nvPr/>
        </p:nvSpPr>
        <p:spPr>
          <a:xfrm>
            <a:off x="3779444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 dati darle, come spegnere l’addestramento, le regole in azienda.</a:t>
            </a:r>
            <a:endParaRPr lang="en-US" sz="1500" dirty="0"/>
          </a:p>
        </p:txBody>
      </p:sp>
      <p:sp>
        <p:nvSpPr>
          <p:cNvPr id="14" name="Scheda Usare bene"/>
          <p:cNvSpPr/>
          <p:nvPr/>
        </p:nvSpPr>
        <p:spPr>
          <a:xfrm>
            <a:off x="6233008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Usare bene fondo"/>
          <p:cNvSpPr/>
          <p:nvPr/>
        </p:nvSpPr>
        <p:spPr>
          <a:xfrm>
            <a:off x="655304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Usare be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313432"/>
            <a:ext cx="356616" cy="356616"/>
          </a:xfrm>
          <a:prstGeom prst="rect">
            <a:avLst/>
          </a:prstGeom>
        </p:spPr>
      </p:pic>
      <p:sp>
        <p:nvSpPr>
          <p:cNvPr id="17" name="Titolo Usare bene"/>
          <p:cNvSpPr txBox="1"/>
          <p:nvPr/>
        </p:nvSpPr>
        <p:spPr>
          <a:xfrm>
            <a:off x="6553048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2100" dirty="0"/>
          </a:p>
        </p:txBody>
      </p:sp>
      <p:sp>
        <p:nvSpPr>
          <p:cNvPr id="18" name="Testo Usare bene"/>
          <p:cNvSpPr txBox="1"/>
          <p:nvPr/>
        </p:nvSpPr>
        <p:spPr>
          <a:xfrm>
            <a:off x="6553048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chiari, istruzioni salvate e prompt pronti per il tuo ruolo.</a:t>
            </a:r>
            <a:endParaRPr lang="en-US" sz="1500" dirty="0"/>
          </a:p>
        </p:txBody>
      </p:sp>
      <p:sp>
        <p:nvSpPr>
          <p:cNvPr id="19" name="Scheda Collegare e automatizzare"/>
          <p:cNvSpPr/>
          <p:nvPr/>
        </p:nvSpPr>
        <p:spPr>
          <a:xfrm>
            <a:off x="9006611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Icona Collegare e automatizzare fondo"/>
          <p:cNvSpPr/>
          <p:nvPr/>
        </p:nvSpPr>
        <p:spPr>
          <a:xfrm>
            <a:off x="9326651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1" name="Icona Collegare e automatizzar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243" y="2313432"/>
            <a:ext cx="356616" cy="356616"/>
          </a:xfrm>
          <a:prstGeom prst="rect">
            <a:avLst/>
          </a:prstGeom>
        </p:spPr>
      </p:pic>
      <p:sp>
        <p:nvSpPr>
          <p:cNvPr id="22" name="Titolo Collegare e automatizzare"/>
          <p:cNvSpPr txBox="1"/>
          <p:nvPr/>
        </p:nvSpPr>
        <p:spPr>
          <a:xfrm>
            <a:off x="9326651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2100" dirty="0"/>
          </a:p>
        </p:txBody>
      </p:sp>
      <p:sp>
        <p:nvSpPr>
          <p:cNvPr id="23" name="Testo Collegare e automatizzare"/>
          <p:cNvSpPr txBox="1"/>
          <p:nvPr/>
        </p:nvSpPr>
        <p:spPr>
          <a:xfrm>
            <a:off x="9326651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Connettori, skill e agenti, con accessi limitati.</a:t>
            </a:r>
            <a:endParaRPr lang="en-US" sz="1500" dirty="0"/>
          </a:p>
        </p:txBody>
      </p:sp>
      <p:sp>
        <p:nvSpPr>
          <p:cNvPr id="24" name="nota Non serve saper programmare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chiedere, cosa controllare e cosa non darle mai.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Tratta l’AI come un nuovo collaboratore: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velocissimo, ma da istruire e controllare.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468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Istruzioni chiare, accesso solo a quello che serve, e il suo lavoro lo ricontrolli tu.</a:t>
            </a:r>
            <a:endParaRPr lang="en-US" sz="2000" dirty="0"/>
          </a:p>
        </p:txBody>
      </p:sp>
      <p:sp>
        <p:nvSpPr>
          <p:cNvPr id="5" name="Riquadro schema"/>
          <p:cNvSpPr/>
          <p:nvPr/>
        </p:nvSpPr>
        <p:spPr>
          <a:xfrm>
            <a:off x="685800" y="3291840"/>
            <a:ext cx="10820095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563" y="3364992"/>
            <a:ext cx="8508569" cy="2788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L’AI è già al lavoro, spesso senza regole</a:t>
            </a:r>
            <a:endParaRPr lang="en-US" sz="3400" dirty="0"/>
          </a:p>
        </p:txBody>
      </p:sp>
      <p:sp>
        <p:nvSpPr>
          <p:cNvPr id="4" name="Numero 67%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7%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5000" dirty="0"/>
          </a:p>
        </p:txBody>
      </p:sp>
      <p:sp>
        <p:nvSpPr>
          <p:cNvPr id="6" name="Etichetta 67%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degli utenti usa servizi AI con account non aziendali</a:t>
            </a:r>
            <a:endParaRPr lang="en-US" sz="1700" dirty="0"/>
          </a:p>
        </p:txBody>
      </p:sp>
      <p:sp>
        <p:nvSpPr>
          <p:cNvPr id="7" name="Fonte 67%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100" dirty="0"/>
          </a:p>
        </p:txBody>
      </p:sp>
      <p:sp>
        <p:nvSpPr>
          <p:cNvPr id="8" name="Numero 2x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x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2x</a:t>
            </a:r>
            <a:endParaRPr lang="en-US" sz="5000" dirty="0"/>
          </a:p>
        </p:txBody>
      </p:sp>
      <p:sp>
        <p:nvSpPr>
          <p:cNvPr id="10" name="Etichetta 2x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scritto dall’AI nelle email truffa: raddoppiato in due anni</a:t>
            </a:r>
            <a:endParaRPr lang="en-US" sz="1700" dirty="0"/>
          </a:p>
        </p:txBody>
      </p:sp>
      <p:sp>
        <p:nvSpPr>
          <p:cNvPr id="11" name="Fonte 2x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100" dirty="0"/>
          </a:p>
        </p:txBody>
      </p:sp>
      <p:sp>
        <p:nvSpPr>
          <p:cNvPr id="12" name="Numero 60%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60%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000" dirty="0"/>
          </a:p>
        </p:txBody>
      </p:sp>
      <p:sp>
        <p:nvSpPr>
          <p:cNvPr id="14" name="Etichetta 60%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 progetti AI senza dati pronti verrà abbandonato entro il 2026</a:t>
            </a:r>
            <a:endParaRPr lang="en-US" sz="1700" dirty="0"/>
          </a:p>
        </p:txBody>
      </p:sp>
      <p:sp>
        <p:nvSpPr>
          <p:cNvPr id="15" name="Fonte 60%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2025</a:t>
            </a:r>
            <a:endParaRPr lang="en-US" sz="1100" dirty="0"/>
          </a:p>
        </p:txBody>
      </p:sp>
      <p:sp>
        <p:nvSpPr>
          <p:cNvPr id="16" name="nota Il rischio non è usarla.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rischio non è usarla.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È usarla con l’account sbagliato, i dati sbagliati e nessuna regola.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Codice riservato incollato in una chat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Primavera 2023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Primavera 2023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PRIMAVERA 2023</a:t>
            </a:r>
            <a:endParaRPr lang="en-US" sz="1200" dirty="0"/>
          </a:p>
        </p:txBody>
      </p:sp>
      <p:sp>
        <p:nvSpPr>
          <p:cNvPr id="7" name="Fatto Primavera 2023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Alcuni dipendenti Samsung incollano in ChatGPT codice interno riservato per farsi aiutare.</a:t>
            </a:r>
            <a:endParaRPr lang="en-US" sz="1700" dirty="0"/>
          </a:p>
        </p:txBody>
      </p:sp>
      <p:sp>
        <p:nvSpPr>
          <p:cNvPr id="8" name="Punto Il problem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Il problem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10" name="Fatto Il problem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Quei dati finiscono sui server di un’altra azienda, fuori dal controllo di Samsung.</a:t>
            </a:r>
            <a:endParaRPr lang="en-US" sz="1700" dirty="0"/>
          </a:p>
        </p:txBody>
      </p:sp>
      <p:sp>
        <p:nvSpPr>
          <p:cNvPr id="11" name="Punto Maggio 2023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Maggio 2023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MAGGIO 2023</a:t>
            </a:r>
            <a:endParaRPr lang="en-US" sz="1200" dirty="0"/>
          </a:p>
        </p:txBody>
      </p:sp>
      <p:sp>
        <p:nvSpPr>
          <p:cNvPr id="13" name="Fatto Maggio 2023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blocca l’AI generativa sui computer aziendali e chiede di non inserire dati riservati.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 non era l’AI, ma dati riservati in un’AI pubblica, senza regole su cosa inserire. Strumenti approvati, addestramento spento, Segreto mai.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spegnere l’addestramento in 5 strumenti: capitolo 4. Le regole sui dati in azienda: capitolo 6.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Bloomberg, 02.05.2023 · CNBC, 02.05.2023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sa: prevede la parola più probabile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86380"/>
            <a:ext cx="7315200" cy="23368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412480" y="1828800"/>
            <a:ext cx="3093415" cy="4251960"/>
          </a:xfrm>
          <a:prstGeom prst="roundRect">
            <a:avLst>
              <a:gd name="adj" fmla="val 413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Per questo a volte inventa"/>
          <p:cNvSpPr txBox="1"/>
          <p:nvPr/>
        </p:nvSpPr>
        <p:spPr>
          <a:xfrm>
            <a:off x="8686800" y="2148840"/>
            <a:ext cx="2544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a volte inventa</a:t>
            </a:r>
            <a:endParaRPr lang="en-US" sz="1800" dirty="0"/>
          </a:p>
        </p:txBody>
      </p:sp>
      <p:sp>
        <p:nvSpPr>
          <p:cNvPr id="7" name="Testo Per questo a volte inventa"/>
          <p:cNvSpPr txBox="1"/>
          <p:nvPr/>
        </p:nvSpPr>
        <p:spPr>
          <a:xfrm>
            <a:off x="8686800" y="2834640"/>
            <a:ext cx="2544775" cy="1216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il dato non c’è, sceglie la risposta più probabile e la scrive con sicurezza. Si chiama allucinazione.</a:t>
            </a:r>
            <a:endParaRPr lang="en-US" sz="1500" dirty="0"/>
          </a:p>
        </p:txBody>
      </p:sp>
      <p:sp>
        <p:nvSpPr>
          <p:cNvPr id="8" name="Punto Cosa fai tu"/>
          <p:cNvSpPr txBox="1"/>
          <p:nvPr/>
        </p:nvSpPr>
        <p:spPr>
          <a:xfrm>
            <a:off x="8686800" y="4344162"/>
            <a:ext cx="254477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fai tu</a:t>
            </a:r>
            <a:endParaRPr lang="en-US" sz="1800" dirty="0"/>
          </a:p>
        </p:txBody>
      </p:sp>
      <p:sp>
        <p:nvSpPr>
          <p:cNvPr id="9" name="Testo Cosa fai tu"/>
          <p:cNvSpPr txBox="1"/>
          <p:nvPr/>
        </p:nvSpPr>
        <p:spPr>
          <a:xfrm>
            <a:off x="8686800" y="4751070"/>
            <a:ext cx="254477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 le fonti e ricontrolla nomi, date e numeri. Per i calcoli, fagli usare Excel o il codice.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2: “Come funziona e perché sbaglia”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DATI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puoi dare all’AI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</a:t>
            </a:r>
            <a:endParaRPr lang="en-US" sz="1400" dirty="0"/>
          </a:p>
        </p:txBody>
      </p:sp>
      <p:sp>
        <p:nvSpPr>
          <p:cNvPr id="9" name="Verdetto Pubblico"/>
          <p:cNvSpPr/>
          <p:nvPr/>
        </p:nvSpPr>
        <p:spPr>
          <a:xfrm>
            <a:off x="868680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0" name="Verdetto testo Pubblico"/>
          <p:cNvSpPr txBox="1"/>
          <p:nvPr/>
        </p:nvSpPr>
        <p:spPr>
          <a:xfrm>
            <a:off x="1005840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Sì</a:t>
            </a:r>
            <a:endParaRPr lang="en-US" sz="1500" dirty="0"/>
          </a:p>
        </p:txBody>
      </p:sp>
      <p:sp>
        <p:nvSpPr>
          <p:cNvPr id="11" name="Livello Interno"/>
          <p:cNvSpPr/>
          <p:nvPr/>
        </p:nvSpPr>
        <p:spPr>
          <a:xfrm>
            <a:off x="3447974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4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5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</a:t>
            </a:r>
            <a:endParaRPr lang="en-US" sz="1400" dirty="0"/>
          </a:p>
        </p:txBody>
      </p:sp>
      <p:sp>
        <p:nvSpPr>
          <p:cNvPr id="16" name="Verdetto Interno"/>
          <p:cNvSpPr/>
          <p:nvPr/>
        </p:nvSpPr>
        <p:spPr>
          <a:xfrm>
            <a:off x="3630854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7" name="Verdetto testo Interno"/>
          <p:cNvSpPr txBox="1"/>
          <p:nvPr/>
        </p:nvSpPr>
        <p:spPr>
          <a:xfrm>
            <a:off x="3768014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</a:t>
            </a:r>
            <a:endParaRPr lang="en-US" sz="1500" dirty="0"/>
          </a:p>
        </p:txBody>
      </p:sp>
      <p:sp>
        <p:nvSpPr>
          <p:cNvPr id="18" name="Livello Confidenziale"/>
          <p:cNvSpPr/>
          <p:nvPr/>
        </p:nvSpPr>
        <p:spPr>
          <a:xfrm>
            <a:off x="6210148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0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21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22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</a:t>
            </a:r>
            <a:endParaRPr lang="en-US" sz="1400" dirty="0"/>
          </a:p>
        </p:txBody>
      </p:sp>
      <p:sp>
        <p:nvSpPr>
          <p:cNvPr id="23" name="Verdetto Confidenziale"/>
          <p:cNvSpPr/>
          <p:nvPr/>
        </p:nvSpPr>
        <p:spPr>
          <a:xfrm>
            <a:off x="6393028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4" name="Verdetto testo Confidenziale"/>
          <p:cNvSpPr txBox="1"/>
          <p:nvPr/>
        </p:nvSpPr>
        <p:spPr>
          <a:xfrm>
            <a:off x="6530188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approvati, anonimizzato</a:t>
            </a:r>
            <a:endParaRPr lang="en-US" sz="1500" dirty="0"/>
          </a:p>
        </p:txBody>
      </p:sp>
      <p:sp>
        <p:nvSpPr>
          <p:cNvPr id="25" name="Livello Segreto"/>
          <p:cNvSpPr/>
          <p:nvPr/>
        </p:nvSpPr>
        <p:spPr>
          <a:xfrm>
            <a:off x="8972321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7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8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9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password, dati bancari, documenti d’identità, salute</a:t>
            </a:r>
            <a:endParaRPr lang="en-US" sz="1400" dirty="0"/>
          </a:p>
        </p:txBody>
      </p:sp>
      <p:sp>
        <p:nvSpPr>
          <p:cNvPr id="30" name="Verdetto Segreto"/>
          <p:cNvSpPr/>
          <p:nvPr/>
        </p:nvSpPr>
        <p:spPr>
          <a:xfrm>
            <a:off x="9155201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31" name="Verdetto testo Segreto"/>
          <p:cNvSpPr txBox="1"/>
          <p:nvPr/>
        </p:nvSpPr>
        <p:spPr>
          <a:xfrm>
            <a:off x="9292361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Mai, in nessuna AI</a:t>
            </a:r>
            <a:endParaRPr lang="en-US" sz="1500" dirty="0"/>
          </a:p>
        </p:txBody>
      </p:sp>
      <p:sp>
        <p:nvSpPr>
          <p:cNvPr id="32" name="nota Anonimizzare è facile:"/>
          <p:cNvSpPr/>
          <p:nvPr/>
        </p:nvSpPr>
        <p:spPr>
          <a:xfrm>
            <a:off x="685800" y="553212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3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10428"/>
            <a:ext cx="329184" cy="329184"/>
          </a:xfrm>
          <a:prstGeom prst="rect">
            <a:avLst/>
          </a:prstGeom>
        </p:spPr>
      </p:pic>
      <p:sp>
        <p:nvSpPr>
          <p:cNvPr id="34" name="nota testo"/>
          <p:cNvSpPr txBox="1"/>
          <p:nvPr/>
        </p:nvSpPr>
        <p:spPr>
          <a:xfrm>
            <a:off x="1417320" y="553212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Anonimizzare è facile: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 al posto del nome, CHF X al posto dell’importo. Dati veri solo dove l’azienda lo approva per iscritto.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AZIENDA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Dati in ordine, AI che funziona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06980"/>
            <a:ext cx="6949440" cy="28956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046720" y="1828800"/>
            <a:ext cx="3459175" cy="4251960"/>
          </a:xfrm>
          <a:prstGeom prst="roundRect">
            <a:avLst>
              <a:gd name="adj" fmla="val 37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63% delle organizzazioni"/>
          <p:cNvSpPr txBox="1"/>
          <p:nvPr/>
        </p:nvSpPr>
        <p:spPr>
          <a:xfrm>
            <a:off x="8321040" y="2148840"/>
            <a:ext cx="291053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delle organizzazioni</a:t>
            </a:r>
            <a:endParaRPr lang="en-US" sz="1800" dirty="0"/>
          </a:p>
        </p:txBody>
      </p:sp>
      <p:sp>
        <p:nvSpPr>
          <p:cNvPr id="7" name="Testo 63% delle organizzazioni"/>
          <p:cNvSpPr txBox="1"/>
          <p:nvPr/>
        </p:nvSpPr>
        <p:spPr>
          <a:xfrm>
            <a:off x="8321040" y="2834640"/>
            <a:ext cx="291053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ha, o non sa se ha, dati gestiti in modo adatto all’AI (Gartner 2025).</a:t>
            </a:r>
            <a:endParaRPr lang="en-US" sz="1500" dirty="0"/>
          </a:p>
        </p:txBody>
      </p:sp>
      <p:sp>
        <p:nvSpPr>
          <p:cNvPr id="8" name="Punto La knowledge base"/>
          <p:cNvSpPr txBox="1"/>
          <p:nvPr/>
        </p:nvSpPr>
        <p:spPr>
          <a:xfrm>
            <a:off x="8321040" y="3879342"/>
            <a:ext cx="291053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knowledge base</a:t>
            </a:r>
            <a:endParaRPr lang="en-US" sz="1800" dirty="0"/>
          </a:p>
        </p:txBody>
      </p:sp>
      <p:sp>
        <p:nvSpPr>
          <p:cNvPr id="9" name="Testo La knowledge base"/>
          <p:cNvSpPr txBox="1"/>
          <p:nvPr/>
        </p:nvSpPr>
        <p:spPr>
          <a:xfrm>
            <a:off x="8321040" y="4286250"/>
            <a:ext cx="291053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Ruoli, processi scritti, modelli e decisioni in un posto solo. Poi connettori e skill, in sola lettura dove basta.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11: “L’azienda pronta per l’AI”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materiale</a:t>
            </a:r>
            <a:endParaRPr lang="en-US" sz="3400" dirty="0"/>
          </a:p>
        </p:txBody>
      </p:sp>
      <p:sp>
        <p:nvSpPr>
          <p:cNvPr id="4" name="Sezione Capire"/>
          <p:cNvSpPr/>
          <p:nvPr/>
        </p:nvSpPr>
        <p:spPr>
          <a:xfrm>
            <a:off x="685800" y="1828800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Nome Capire"/>
          <p:cNvSpPr txBox="1"/>
          <p:nvPr/>
        </p:nvSpPr>
        <p:spPr>
          <a:xfrm>
            <a:off x="941832" y="1828800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1500" dirty="0"/>
          </a:p>
        </p:txBody>
      </p:sp>
      <p:sp>
        <p:nvSpPr>
          <p:cNvPr id="6" name="Capitoli Capire"/>
          <p:cNvSpPr txBox="1"/>
          <p:nvPr/>
        </p:nvSpPr>
        <p:spPr>
          <a:xfrm>
            <a:off x="3931920" y="1828800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 l’AI e cosa non è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 funziona e perché sbaglia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 strumenti</a:t>
            </a:r>
            <a:endParaRPr lang="en-US" sz="1400" dirty="0"/>
          </a:p>
        </p:txBody>
      </p:sp>
      <p:sp>
        <p:nvSpPr>
          <p:cNvPr id="7" name="Sezione Usare in sicurezza"/>
          <p:cNvSpPr/>
          <p:nvPr/>
        </p:nvSpPr>
        <p:spPr>
          <a:xfrm>
            <a:off x="685800" y="2670902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ome Usare in sicurezza"/>
          <p:cNvSpPr txBox="1"/>
          <p:nvPr/>
        </p:nvSpPr>
        <p:spPr>
          <a:xfrm>
            <a:off x="941832" y="2670902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1500" dirty="0"/>
          </a:p>
        </p:txBody>
      </p:sp>
      <p:sp>
        <p:nvSpPr>
          <p:cNvPr id="9" name="Capitoli Usare in sicurezza"/>
          <p:cNvSpPr txBox="1"/>
          <p:nvPr/>
        </p:nvSpPr>
        <p:spPr>
          <a:xfrm>
            <a:off x="3931920" y="2670902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 e privacy: spegni l’addestramento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 dell’AI e come verificare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 regole in azienda</a:t>
            </a:r>
            <a:endParaRPr lang="en-US" sz="1400" dirty="0"/>
          </a:p>
        </p:txBody>
      </p:sp>
      <p:sp>
        <p:nvSpPr>
          <p:cNvPr id="10" name="Sezione Usare bene"/>
          <p:cNvSpPr/>
          <p:nvPr/>
        </p:nvSpPr>
        <p:spPr>
          <a:xfrm>
            <a:off x="685800" y="3513003"/>
            <a:ext cx="10820095" cy="912340"/>
          </a:xfrm>
          <a:prstGeom prst="roundRect">
            <a:avLst>
              <a:gd name="adj" fmla="val 12027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1" name="Nome Usare bene"/>
          <p:cNvSpPr txBox="1"/>
          <p:nvPr/>
        </p:nvSpPr>
        <p:spPr>
          <a:xfrm>
            <a:off x="941832" y="3513003"/>
            <a:ext cx="2788920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1500" dirty="0"/>
          </a:p>
        </p:txBody>
      </p:sp>
      <p:sp>
        <p:nvSpPr>
          <p:cNvPr id="12" name="Capitoli Usare bene"/>
          <p:cNvSpPr txBox="1"/>
          <p:nvPr/>
        </p:nvSpPr>
        <p:spPr>
          <a:xfrm>
            <a:off x="3931920" y="3513003"/>
            <a:ext cx="7299655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Scrivere un buon prompt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Progetti, memoria, istruzioni e regole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 pronti per ruolo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Documenti, dati e ricerca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L’azienda pronta per l’AI</a:t>
            </a:r>
            <a:endParaRPr lang="en-US" sz="1400" dirty="0"/>
          </a:p>
        </p:txBody>
      </p:sp>
      <p:sp>
        <p:nvSpPr>
          <p:cNvPr id="13" name="Sezione Collegare e automatizzare"/>
          <p:cNvSpPr/>
          <p:nvPr/>
        </p:nvSpPr>
        <p:spPr>
          <a:xfrm>
            <a:off x="685800" y="4553359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Nome Collegare e automatizzare"/>
          <p:cNvSpPr txBox="1"/>
          <p:nvPr/>
        </p:nvSpPr>
        <p:spPr>
          <a:xfrm>
            <a:off x="941832" y="4553359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D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1500" dirty="0"/>
          </a:p>
        </p:txBody>
      </p:sp>
      <p:sp>
        <p:nvSpPr>
          <p:cNvPr id="15" name="Capitoli Collegare e automatizzare"/>
          <p:cNvSpPr txBox="1"/>
          <p:nvPr/>
        </p:nvSpPr>
        <p:spPr>
          <a:xfrm>
            <a:off x="3931920" y="4553359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 e MCP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Automazioni e agenti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 coding: basi</a:t>
            </a:r>
            <a:endParaRPr lang="en-US" sz="1400" dirty="0"/>
          </a:p>
        </p:txBody>
      </p:sp>
      <p:sp>
        <p:nvSpPr>
          <p:cNvPr id="16" name="Sezione Strumenti e verifica"/>
          <p:cNvSpPr/>
          <p:nvPr/>
        </p:nvSpPr>
        <p:spPr>
          <a:xfrm>
            <a:off x="685800" y="5395461"/>
            <a:ext cx="10820095" cy="685299"/>
          </a:xfrm>
          <a:prstGeom prst="roundRect">
            <a:avLst>
              <a:gd name="adj" fmla="val 1601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Nome Strumenti e verifica"/>
          <p:cNvSpPr txBox="1"/>
          <p:nvPr/>
        </p:nvSpPr>
        <p:spPr>
          <a:xfrm>
            <a:off x="941832" y="5395461"/>
            <a:ext cx="2788920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E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500" dirty="0"/>
          </a:p>
        </p:txBody>
      </p:sp>
      <p:sp>
        <p:nvSpPr>
          <p:cNvPr id="18" name="Capitoli Strumenti e verifica"/>
          <p:cNvSpPr txBox="1"/>
          <p:nvPr/>
        </p:nvSpPr>
        <p:spPr>
          <a:xfrm>
            <a:off x="3931920" y="5395461"/>
            <a:ext cx="7299655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 stack AI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Spegni l’addestramento sulle tue chat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Nelle impostazioni privacy dello strumento che usi. I percorsi per 5 strumenti sono nel capitolo 4.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 le istruzioni personalizzate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sei e come vuoi le risposte: brevi, in italiano, con le fonti. Testo pronto da copiare nel capitolo 8.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un prompt pronto per il tuo ruolo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Capitolo 9: scegli il tuo ruolo, copia un prompt e provalo su un caso vero, senza dati riservati.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file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tutto il materiale, sezione D compresa. Circa 45 minuti.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configurati, checklist da 18 punti e test. Circa 1 ora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 i primi strumenti con la sezione D: connettori e skill, con accessi minimi. Ripasso ogni 6 mesi.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giusti nello strumento giusto. Segreto mai, in nessuna AI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L’AI prevede, non sa: ricontrolla nomi, date e numeri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come a un nuovo collaboratore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dato a un’AI un dato che non dovevi?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usa l’AI con account non aziendali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Verizon DBIR 2025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Gartner, 26.02.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Gartner, 26.02.2025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dei progetti abbandonati, 63% senza dati adatti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gartner.com</a:t>
            </a:r>
            <a:endParaRPr lang="en-US" sz="1300" dirty="0"/>
          </a:p>
        </p:txBody>
      </p:sp>
      <p:sp>
        <p:nvSpPr>
          <p:cNvPr id="7" name="Fonte Bloomberg, 02.05.2023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limita l’AI generativa dopo una fuga di dati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bloomberg.com</a:t>
            </a:r>
            <a:endParaRPr lang="en-US" sz="1300" dirty="0"/>
          </a:p>
        </p:txBody>
      </p:sp>
      <p:sp>
        <p:nvSpPr>
          <p:cNvPr id="8" name="Fonte CNBC, 02.05.2023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codice riservato caricato in ChatGPT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cnbc.com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9893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· Parte 1 · AI al lavoro</dc:title>
  <dc:subject>PptxGenJS Presentation</dc:subject>
  <dc:creator>Aron Clementi</dc:creator>
  <cp:lastModifiedBy>Aron Clementi</cp:lastModifiedBy>
  <cp:revision>1</cp:revision>
  <dcterms:created xsi:type="dcterms:W3CDTF">2026-10-06T13:14:16Z</dcterms:created>
  <dcterms:modified xsi:type="dcterms:W3CDTF">2026-10-06T13:14:16Z</dcterms:modified>
</cp:coreProperties>
</file>