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Apertura" id="{260ebeeb-3e8d-6c69-b10e-310ebe632842}">
          <p14:sldIdLst>
            <p14:sldId id="256"/>
            <p14:sldId id="257"/>
          </p14:sldIdLst>
        </p14:section>
        <p14:section name="Perché" id="{6f22dbd6-460f-3303-5d59-85c7f5d33266}">
          <p14:sldIdLst>
            <p14:sldId id="258"/>
            <p14:sldId id="259"/>
            <p14:sldId id="260"/>
          </p14:sldIdLst>
        </p14:section>
        <p14:section name="Le basi" id="{045c52ea-5098-fa79-81b7-e11f30797e67}">
          <p14:sldIdLst>
            <p14:sldId id="261"/>
            <p14:sldId id="262"/>
            <p14:sldId id="263"/>
          </p14:sldIdLst>
        </p14:section>
        <p14:section name="Il materiale" id="{5738a986-7e3e-bcea-d49a-808ed0ac139a}">
          <p14:sldIdLst>
            <p14:sldId id="264"/>
            <p14:sldId id="265"/>
          </p14:sldIdLst>
        </p14:section>
        <p14:section name="Adesso" id="{ec578b4a-31c7-b994-9567-d189d2525493}">
          <p14:sldIdLst>
            <p14:sldId id="266"/>
            <p14:sldId id="267"/>
          </p14:sldIdLst>
        </p14:section>
        <p14:section name="Chiusura" id="{3b7bf724-fef0-25dd-058b-361dea76194d}">
          <p14:sldIdLst>
            <p14:sldId id="268"/>
            <p14:sldId id="269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Benvenuti. In 25 minuti vediamo tre cose: perché questo tema ci riguarda tutti, le basi per capire gli strumenti che usiamo ogni giorno e cosa fare subito. Il resto è nel materiale, da leggere con calma dopo l’incontro. Non serve nessuna base tecnica.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Questa formazione parte dalle basi, come un corso di informatica: prima capiamo come funzionano le cose che usiamo ogni giorno, poi vediamo come ci attaccano, poi come proteggerci. Chi è già pratico troverà nel materiale i capitoli “Da zero” e potrà saltarli.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Il messaggio di tutta la Parte 1. Entrare in un sistema ben protetto è difficile; convincere una persona a cliccare, a dare un codice o a fare un bonifico è molto più facile. Quasi due violazioni su tre passano da una persona. La buona notizia: si impara a riconoscerle.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Non è un problema lontano. In Svizzera l’Ufficio federale della cibersicurezza ha ricevuto circa 65’000 segnalazioni nel 2025, e la truffa più frequente è la telefonata di un finto poliziotto, procuratore o funzionario. E con l’AI le email truffa sono scritte meglio: niente più errori di grammatica a tradirle.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Un caso famoso ma semplice. Il cofondatore di Twitter non ha cliccato niente di strano: i criminali hanno convinto il suo operatore a trasferire il numero. Twitter stesso ha confermato che il numero era stato compromesso per una svista dell’operatore. Il punto per noi: il telefono non è solo un telefono, è la chiave di molti account.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Questa è informatica di base, ed è la cosa più importante da capire. Le foto, la posta, i documenti non stanno nel telefono: stanno su un server, e telefono, computer e sito sono solo finestre. Conseguenza: perdere il telefono è un fastidio, perdere l’account è un disastro. E un file salvato solo sul computer, invece, esiste solo lì: se si rompe il computer, è perso.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Seconda base. L’indirizzo email è il tuo nome utente quasi ovunque, e soprattutto è la porta di recupero di tutti gli altri account. Se un criminale entra nella tua email, clicca “password dimenticata” su banca e social e le reimposta. Per questo la prima cosa che faremo tra poco riguarda proprio l’email.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Altre tre basi che evitano la maggior parte dei guai. Password diverse per ogni sito: quando un sito viene violato, i criminali provano la stessa email e password ovunque. Il dominio: è l’unica parte dell’indirizzo che non si può falsificare. E la sincronizzazione: comoda, ma copia anche gli errori e i file cifrati da un ransomware. Tutto il resto è nella sezione B del livello 1.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Il materiale della Parte 1 ha tre livelli, in tre file separati. Tutti partono dal primo. Il secondo è per chi è più esposto: chi gestisce pagamenti, chi ha un ruolo dirigenziale, chi ha crypto o un profilo pubblico. Il terzo è facoltativo, per chi vuole il controllo totale della propria privacy.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Ecco come è costruito il livello 1. La sezione A spiega i 12 rischi reali di oggi e fa provare cinque attacchi simulati, senza alcun rischio. La sezione B è il corso di informatica di base: account, email, cloud, password, verifica in due passaggi, browser, condivisione, dispositivi e backup. La sezione C chiude con gli strumenti consigliati, la checklist e il test.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Facciamolo adesso, tutti insieme, con il telefono in mano. Chi ha difficoltà alzi la mano: ci aiutiamo. Sono le tre azioni con il miglior rapporto tra tempo e protezione. Gli aggiornamenti si fanno sempre dalle impostazioni: una pagina web che vi dice di aggiornare è quasi sempre una trappola.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Il materiale è un file da aprire nel browser, funziona anche senza internet. Mostrate dal vivo dove sono l’interruttore della lingua, il menu dei capitoli e la checklist. Il programma è indicativo: decidetelo con il vostro responsabile.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Tre frasi da ricordare. E una regola: se succede qualcosa, avvisare subito è sempre la scelta giusta. Nessuno verrà rimproverato per aver segnalato un errore; i danni veri arrivano quando si aspetta.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 fonti dei numeri e dei casi citati. Tutte verificabili, con data.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85800" y="1828800"/>
            <a:ext cx="6675120" cy="16002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5200" b="1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defRPr>
            </a:lvl1pPr>
          </a:lstStyle>
          <a:p>
            <a:pPr algn="l" indent="0" marL="0">
              <a:buNone/>
            </a:pPr>
            <a:endParaRPr lang="en-US" sz="52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685800" y="3611880"/>
            <a:ext cx="649224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0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algn="l" indent="0" marL="0">
              <a:buNone/>
            </a:pPr>
            <a:endParaRPr lang="en-US" sz="20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20095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200" b="1" spc="200" kern="0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indent="0" marL="0">
              <a:buNone/>
            </a:pP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04672"/>
            <a:ext cx="10820095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400" b="1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defRPr>
            </a:lvl1pPr>
          </a:lstStyle>
          <a:p>
            <a:pPr algn="l" indent="0" marL="0">
              <a:buNone/>
            </a:pPr>
            <a:endParaRPr lang="en-US" sz="3400" dirty="0"/>
          </a:p>
        </p:txBody>
      </p:sp>
      <p:sp>
        <p:nvSpPr>
          <p:cNvPr id="4" name="Text 0"/>
          <p:cNvSpPr/>
          <p:nvPr/>
        </p:nvSpPr>
        <p:spPr>
          <a:xfrm>
            <a:off x="685800" y="638251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Sicurezza · Parte 1 · Capire e proteggersi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57255" y="6382512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TATEMENT">
    <p:bg>
      <p:bgPr>
        <a:solidFill>
          <a:schemeClr val="bg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685800"/>
            <a:ext cx="10820095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200" b="1" spc="200" kern="0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indent="0" marL="0">
              <a:buNone/>
            </a:pPr>
            <a:endParaRPr lang="en-US" sz="1200" dirty="0"/>
          </a:p>
        </p:txBody>
      </p:sp>
      <p:sp>
        <p:nvSpPr>
          <p:cNvPr id="3" name="Text 0"/>
          <p:cNvSpPr/>
          <p:nvPr/>
        </p:nvSpPr>
        <p:spPr>
          <a:xfrm>
            <a:off x="685800" y="638251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Sicurezza · Parte 1 · Capire e proteggersi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57255" y="6382512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57255" y="6382512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image" Target="../media/image-12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image" Target="../media/image-13-4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hyperlink" Target="https://www.bacs.admin.ch/it/25w52-it" TargetMode="External"/><Relationship Id="rId2" Type="http://schemas.openxmlformats.org/officeDocument/2006/relationships/hyperlink" Target="https://www.verizon.com/business/resources/T161/reports/2026-dbir-data-breach-investigations-report.pdf" TargetMode="External"/><Relationship Id="rId3" Type="http://schemas.openxmlformats.org/officeDocument/2006/relationships/hyperlink" Target="https://www.verizon.com/business/resources/reports/2025-dbir-data-breach-investigations-report.pdf" TargetMode="External"/><Relationship Id="rId4" Type="http://schemas.openxmlformats.org/officeDocument/2006/relationships/hyperlink" Target="https://www.ic3.gov/AnnualReport/Reports/2025_IC3Report.pdf" TargetMode="External"/><Relationship Id="rId5" Type="http://schemas.openxmlformats.org/officeDocument/2006/relationships/hyperlink" Target="https://techcrunch.com/2019/08/30/someone-hacked-jack-dorseys-own-twitter-account/" TargetMode="External"/><Relationship Id="rId6" Type="http://schemas.openxmlformats.org/officeDocument/2006/relationships/slideLayout" Target="../slideLayouts/slideLayout3.xml"/><Relationship Id="rId7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tichetta"/>
          <p:cNvSpPr txBox="1"/>
          <p:nvPr/>
        </p:nvSpPr>
        <p:spPr>
          <a:xfrm>
            <a:off x="685800" y="1353312"/>
            <a:ext cx="6400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SICUREZZA · PARTE 1</a:t>
            </a:r>
            <a:endParaRPr lang="en-US" sz="14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685800" y="1828800"/>
            <a:ext cx="667512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5200" b="1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Capire e proteggersi</a:t>
            </a:r>
            <a:endParaRPr lang="en-US" sz="5200" dirty="0"/>
          </a:p>
        </p:txBody>
      </p:sp>
      <p:sp>
        <p:nvSpPr>
          <p:cNvPr id="4" name="Text 0"/>
          <p:cNvSpPr/>
          <p:nvPr>
            <p:ph idx="101" type="body" hasCustomPrompt="1"/>
          </p:nvPr>
        </p:nvSpPr>
        <p:spPr>
          <a:xfrm>
            <a:off x="685800" y="3611880"/>
            <a:ext cx="64922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Come funzionano gli strumenti che usi ogni giorno, come ti attaccano e come ti difendi.</a:t>
            </a:r>
            <a:endParaRPr lang="en-US" sz="2000" dirty="0"/>
          </a:p>
        </p:txBody>
      </p:sp>
      <p:sp>
        <p:nvSpPr>
          <p:cNvPr id="5" name="pill Per tutti"/>
          <p:cNvSpPr/>
          <p:nvPr/>
        </p:nvSpPr>
        <p:spPr>
          <a:xfrm>
            <a:off x="685800" y="4892040"/>
            <a:ext cx="1239012" cy="402336"/>
          </a:xfrm>
          <a:prstGeom prst="roundRect">
            <a:avLst>
              <a:gd name="adj" fmla="val 50000"/>
            </a:avLst>
          </a:prstGeom>
          <a:solidFill>
            <a:srgbClr val="F6F8FB"/>
          </a:solidFill>
          <a:ln w="12700">
            <a:solidFill>
              <a:srgbClr val="E4E8EE"/>
            </a:solidFill>
            <a:prstDash val="solid"/>
          </a:ln>
        </p:spPr>
      </p:sp>
      <p:sp>
        <p:nvSpPr>
          <p:cNvPr id="6" name="pill testo Per tutti"/>
          <p:cNvSpPr txBox="1"/>
          <p:nvPr/>
        </p:nvSpPr>
        <p:spPr>
          <a:xfrm>
            <a:off x="685800" y="4892040"/>
            <a:ext cx="123901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 tutti</a:t>
            </a:r>
            <a:endParaRPr lang="en-US" sz="1300" dirty="0"/>
          </a:p>
        </p:txBody>
      </p:sp>
      <p:sp>
        <p:nvSpPr>
          <p:cNvPr id="7" name="pill Nessuna base tecnica"/>
          <p:cNvSpPr/>
          <p:nvPr/>
        </p:nvSpPr>
        <p:spPr>
          <a:xfrm>
            <a:off x="2061972" y="4892040"/>
            <a:ext cx="2194560" cy="402336"/>
          </a:xfrm>
          <a:prstGeom prst="roundRect">
            <a:avLst>
              <a:gd name="adj" fmla="val 50000"/>
            </a:avLst>
          </a:prstGeom>
          <a:solidFill>
            <a:srgbClr val="F6F8FB"/>
          </a:solidFill>
          <a:ln w="12700">
            <a:solidFill>
              <a:srgbClr val="E4E8EE"/>
            </a:solidFill>
            <a:prstDash val="solid"/>
          </a:ln>
        </p:spPr>
      </p:sp>
      <p:sp>
        <p:nvSpPr>
          <p:cNvPr id="8" name="pill testo Nessuna base tecnica"/>
          <p:cNvSpPr txBox="1"/>
          <p:nvPr/>
        </p:nvSpPr>
        <p:spPr>
          <a:xfrm>
            <a:off x="2061972" y="4892040"/>
            <a:ext cx="21945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Nessuna base tecnica</a:t>
            </a:r>
            <a:endParaRPr lang="en-US" sz="1300" dirty="0"/>
          </a:p>
        </p:txBody>
      </p:sp>
      <p:sp>
        <p:nvSpPr>
          <p:cNvPr id="9" name="pill 25 minuti + domande"/>
          <p:cNvSpPr/>
          <p:nvPr/>
        </p:nvSpPr>
        <p:spPr>
          <a:xfrm>
            <a:off x="4393692" y="4892040"/>
            <a:ext cx="2107692" cy="402336"/>
          </a:xfrm>
          <a:prstGeom prst="roundRect">
            <a:avLst>
              <a:gd name="adj" fmla="val 50000"/>
            </a:avLst>
          </a:prstGeom>
          <a:solidFill>
            <a:srgbClr val="F6F8FB"/>
          </a:solidFill>
          <a:ln w="12700">
            <a:solidFill>
              <a:srgbClr val="E4E8EE"/>
            </a:solidFill>
            <a:prstDash val="solid"/>
          </a:ln>
        </p:spPr>
      </p:sp>
      <p:sp>
        <p:nvSpPr>
          <p:cNvPr id="10" name="pill testo 25 minuti + domande"/>
          <p:cNvSpPr txBox="1"/>
          <p:nvPr/>
        </p:nvSpPr>
        <p:spPr>
          <a:xfrm>
            <a:off x="4393692" y="4892040"/>
            <a:ext cx="210769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 minuti + domande</a:t>
            </a:r>
            <a:endParaRPr lang="en-US" sz="1300" dirty="0"/>
          </a:p>
        </p:txBody>
      </p:sp>
      <p:sp>
        <p:nvSpPr>
          <p:cNvPr id="11" name="Firma"/>
          <p:cNvSpPr txBox="1"/>
          <p:nvPr/>
        </p:nvSpPr>
        <p:spPr>
          <a:xfrm>
            <a:off x="685800" y="6172200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Il percorso completo: Sicurezza e AI · materiale da leggere dopo l’incontro</a:t>
            </a:r>
            <a:endParaRPr lang="en-US" sz="1100" dirty="0"/>
          </a:p>
        </p:txBody>
      </p:sp>
      <p:sp>
        <p:nvSpPr>
          <p:cNvPr id="12" name="Pannello"/>
          <p:cNvSpPr/>
          <p:nvPr/>
        </p:nvSpPr>
        <p:spPr>
          <a:xfrm>
            <a:off x="7818120" y="685800"/>
            <a:ext cx="3685032" cy="5486400"/>
          </a:xfrm>
          <a:prstGeom prst="roundRect">
            <a:avLst>
              <a:gd name="adj" fmla="val 3474"/>
            </a:avLst>
          </a:prstGeom>
          <a:solidFill>
            <a:srgbClr val="EAF2FC"/>
          </a:solidFill>
          <a:ln w="12700">
            <a:solidFill>
              <a:srgbClr val="EAF2FC"/>
            </a:solidFill>
            <a:prstDash val="solid"/>
          </a:ln>
        </p:spPr>
      </p:sp>
      <p:sp>
        <p:nvSpPr>
          <p:cNvPr id="13" name="Icona copertina fondo"/>
          <p:cNvSpPr/>
          <p:nvPr/>
        </p:nvSpPr>
        <p:spPr>
          <a:xfrm>
            <a:off x="8275320" y="1097280"/>
            <a:ext cx="1051560" cy="1051560"/>
          </a:xfrm>
          <a:prstGeom prst="roundRect">
            <a:avLst>
              <a:gd name="adj" fmla="val 1217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14" name="Icona copertina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27694" y="1349654"/>
            <a:ext cx="546811" cy="546811"/>
          </a:xfrm>
          <a:prstGeom prst="rect">
            <a:avLst/>
          </a:prstGeom>
        </p:spPr>
      </p:pic>
      <p:sp>
        <p:nvSpPr>
          <p:cNvPr id="15" name="Dato 3"/>
          <p:cNvSpPr txBox="1"/>
          <p:nvPr/>
        </p:nvSpPr>
        <p:spPr>
          <a:xfrm>
            <a:off x="8275320" y="2514600"/>
            <a:ext cx="2926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3400" dirty="0"/>
          </a:p>
        </p:txBody>
      </p:sp>
      <p:sp>
        <p:nvSpPr>
          <p:cNvPr id="16" name="Dato testo 3"/>
          <p:cNvSpPr txBox="1"/>
          <p:nvPr/>
        </p:nvSpPr>
        <p:spPr>
          <a:xfrm>
            <a:off x="8275320" y="3081528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livelli, dal più semplice al più completo</a:t>
            </a:r>
            <a:endParaRPr lang="en-US" sz="1400" dirty="0"/>
          </a:p>
        </p:txBody>
      </p:sp>
      <p:sp>
        <p:nvSpPr>
          <p:cNvPr id="17" name="Dato 42"/>
          <p:cNvSpPr txBox="1"/>
          <p:nvPr/>
        </p:nvSpPr>
        <p:spPr>
          <a:xfrm>
            <a:off x="8275320" y="3703320"/>
            <a:ext cx="2926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42</a:t>
            </a:r>
            <a:endParaRPr lang="en-US" sz="3400" dirty="0"/>
          </a:p>
        </p:txBody>
      </p:sp>
      <p:sp>
        <p:nvSpPr>
          <p:cNvPr id="18" name="Dato testo 42"/>
          <p:cNvSpPr txBox="1"/>
          <p:nvPr/>
        </p:nvSpPr>
        <p:spPr>
          <a:xfrm>
            <a:off x="8275320" y="4270248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capitoli in tutto</a:t>
            </a:r>
            <a:endParaRPr lang="en-US" sz="1400" dirty="0"/>
          </a:p>
        </p:txBody>
      </p:sp>
      <p:sp>
        <p:nvSpPr>
          <p:cNvPr id="19" name="Dato 40 min"/>
          <p:cNvSpPr txBox="1"/>
          <p:nvPr/>
        </p:nvSpPr>
        <p:spPr>
          <a:xfrm>
            <a:off x="8275320" y="4892040"/>
            <a:ext cx="2926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40 min</a:t>
            </a:r>
            <a:endParaRPr lang="en-US" sz="3400" dirty="0"/>
          </a:p>
        </p:txBody>
      </p:sp>
      <p:sp>
        <p:nvSpPr>
          <p:cNvPr id="20" name="Dato testo 40 min"/>
          <p:cNvSpPr txBox="1"/>
          <p:nvPr/>
        </p:nvSpPr>
        <p:spPr>
          <a:xfrm>
            <a:off x="8275320" y="5458968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 leggere il livello 1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200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INTRODUZIONE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04672"/>
            <a:ext cx="108200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 cosa parliamo oggi</a:t>
            </a:r>
            <a:endParaRPr lang="en-US" sz="3400" dirty="0"/>
          </a:p>
        </p:txBody>
      </p:sp>
      <p:sp>
        <p:nvSpPr>
          <p:cNvPr id="4" name="Scheda Capire"/>
          <p:cNvSpPr/>
          <p:nvPr/>
        </p:nvSpPr>
        <p:spPr>
          <a:xfrm>
            <a:off x="685800" y="1828800"/>
            <a:ext cx="3423818" cy="3063240"/>
          </a:xfrm>
          <a:prstGeom prst="roundRect">
            <a:avLst>
              <a:gd name="adj" fmla="val 4179"/>
            </a:avLst>
          </a:prstGeom>
          <a:solidFill>
            <a:srgbClr val="F6F8FB"/>
          </a:solidFill>
          <a:ln w="12700">
            <a:solidFill>
              <a:srgbClr val="E4E8EE"/>
            </a:solidFill>
            <a:prstDash val="solid"/>
          </a:ln>
        </p:spPr>
      </p:sp>
      <p:sp>
        <p:nvSpPr>
          <p:cNvPr id="5" name="Icona Capire fondo"/>
          <p:cNvSpPr/>
          <p:nvPr/>
        </p:nvSpPr>
        <p:spPr>
          <a:xfrm>
            <a:off x="1005840" y="2148840"/>
            <a:ext cx="685800" cy="685800"/>
          </a:xfrm>
          <a:prstGeom prst="roundRect">
            <a:avLst>
              <a:gd name="adj" fmla="val 18667"/>
            </a:avLst>
          </a:prstGeom>
          <a:solidFill>
            <a:srgbClr val="EAF2FC"/>
          </a:solidFill>
          <a:ln w="12700">
            <a:solidFill>
              <a:srgbClr val="EAF2FC"/>
            </a:solidFill>
            <a:prstDash val="solid"/>
          </a:ln>
        </p:spPr>
      </p:sp>
      <p:pic>
        <p:nvPicPr>
          <p:cNvPr id="6" name="Icona Capire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70432" y="2313432"/>
            <a:ext cx="356616" cy="356616"/>
          </a:xfrm>
          <a:prstGeom prst="rect">
            <a:avLst/>
          </a:prstGeom>
        </p:spPr>
      </p:pic>
      <p:sp>
        <p:nvSpPr>
          <p:cNvPr id="7" name="Titolo Capire"/>
          <p:cNvSpPr txBox="1"/>
          <p:nvPr/>
        </p:nvSpPr>
        <p:spPr>
          <a:xfrm>
            <a:off x="1005840" y="3017520"/>
            <a:ext cx="2783738" cy="3802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Capire</a:t>
            </a:r>
            <a:endParaRPr lang="en-US" sz="2100" dirty="0"/>
          </a:p>
        </p:txBody>
      </p:sp>
      <p:sp>
        <p:nvSpPr>
          <p:cNvPr id="8" name="Testo Capire"/>
          <p:cNvSpPr txBox="1"/>
          <p:nvPr/>
        </p:nvSpPr>
        <p:spPr>
          <a:xfrm>
            <a:off x="1005840" y="3470910"/>
            <a:ext cx="2783738" cy="13571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Come funzionano account, email, cloud, telefono e computer. Dove stanno davvero i tuoi dati.</a:t>
            </a:r>
            <a:endParaRPr lang="en-US" sz="1600" dirty="0"/>
          </a:p>
        </p:txBody>
      </p:sp>
      <p:sp>
        <p:nvSpPr>
          <p:cNvPr id="9" name="Scheda Riconoscere"/>
          <p:cNvSpPr/>
          <p:nvPr/>
        </p:nvSpPr>
        <p:spPr>
          <a:xfrm>
            <a:off x="4383938" y="1828800"/>
            <a:ext cx="3423818" cy="3063240"/>
          </a:xfrm>
          <a:prstGeom prst="roundRect">
            <a:avLst>
              <a:gd name="adj" fmla="val 4179"/>
            </a:avLst>
          </a:prstGeom>
          <a:solidFill>
            <a:srgbClr val="F6F8FB"/>
          </a:solidFill>
          <a:ln w="12700">
            <a:solidFill>
              <a:srgbClr val="E4E8EE"/>
            </a:solidFill>
            <a:prstDash val="solid"/>
          </a:ln>
        </p:spPr>
      </p:sp>
      <p:sp>
        <p:nvSpPr>
          <p:cNvPr id="10" name="Icona Riconoscere fondo"/>
          <p:cNvSpPr/>
          <p:nvPr/>
        </p:nvSpPr>
        <p:spPr>
          <a:xfrm>
            <a:off x="4703978" y="2148840"/>
            <a:ext cx="685800" cy="685800"/>
          </a:xfrm>
          <a:prstGeom prst="roundRect">
            <a:avLst>
              <a:gd name="adj" fmla="val 18667"/>
            </a:avLst>
          </a:prstGeom>
          <a:solidFill>
            <a:srgbClr val="EAF2FC"/>
          </a:solidFill>
          <a:ln w="12700">
            <a:solidFill>
              <a:srgbClr val="EAF2FC"/>
            </a:solidFill>
            <a:prstDash val="solid"/>
          </a:ln>
        </p:spPr>
      </p:sp>
      <p:pic>
        <p:nvPicPr>
          <p:cNvPr id="11" name="Icona Riconoscere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68570" y="2313432"/>
            <a:ext cx="356616" cy="356616"/>
          </a:xfrm>
          <a:prstGeom prst="rect">
            <a:avLst/>
          </a:prstGeom>
        </p:spPr>
      </p:pic>
      <p:sp>
        <p:nvSpPr>
          <p:cNvPr id="12" name="Titolo Riconoscere"/>
          <p:cNvSpPr txBox="1"/>
          <p:nvPr/>
        </p:nvSpPr>
        <p:spPr>
          <a:xfrm>
            <a:off x="4703978" y="3017520"/>
            <a:ext cx="2783738" cy="3802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Riconoscere</a:t>
            </a:r>
            <a:endParaRPr lang="en-US" sz="2100" dirty="0"/>
          </a:p>
        </p:txBody>
      </p:sp>
      <p:sp>
        <p:nvSpPr>
          <p:cNvPr id="13" name="Testo Riconoscere"/>
          <p:cNvSpPr txBox="1"/>
          <p:nvPr/>
        </p:nvSpPr>
        <p:spPr>
          <a:xfrm>
            <a:off x="4703978" y="3470910"/>
            <a:ext cx="2783738" cy="13571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 truffe più comuni di oggi e i segnali che le tradiscono, prima di cliccare o rispondere.</a:t>
            </a:r>
            <a:endParaRPr lang="en-US" sz="1600" dirty="0"/>
          </a:p>
        </p:txBody>
      </p:sp>
      <p:sp>
        <p:nvSpPr>
          <p:cNvPr id="14" name="Scheda Proteggersi"/>
          <p:cNvSpPr/>
          <p:nvPr/>
        </p:nvSpPr>
        <p:spPr>
          <a:xfrm>
            <a:off x="8082077" y="1828800"/>
            <a:ext cx="3423818" cy="3063240"/>
          </a:xfrm>
          <a:prstGeom prst="roundRect">
            <a:avLst>
              <a:gd name="adj" fmla="val 4179"/>
            </a:avLst>
          </a:prstGeom>
          <a:solidFill>
            <a:srgbClr val="F6F8FB"/>
          </a:solidFill>
          <a:ln w="12700">
            <a:solidFill>
              <a:srgbClr val="E4E8EE"/>
            </a:solidFill>
            <a:prstDash val="solid"/>
          </a:ln>
        </p:spPr>
      </p:sp>
      <p:sp>
        <p:nvSpPr>
          <p:cNvPr id="15" name="Icona Proteggersi fondo"/>
          <p:cNvSpPr/>
          <p:nvPr/>
        </p:nvSpPr>
        <p:spPr>
          <a:xfrm>
            <a:off x="8402117" y="2148840"/>
            <a:ext cx="685800" cy="685800"/>
          </a:xfrm>
          <a:prstGeom prst="roundRect">
            <a:avLst>
              <a:gd name="adj" fmla="val 18667"/>
            </a:avLst>
          </a:prstGeom>
          <a:solidFill>
            <a:srgbClr val="EAF2FC"/>
          </a:solidFill>
          <a:ln w="12700">
            <a:solidFill>
              <a:srgbClr val="EAF2FC"/>
            </a:solidFill>
            <a:prstDash val="solid"/>
          </a:ln>
        </p:spPr>
      </p:sp>
      <p:pic>
        <p:nvPicPr>
          <p:cNvPr id="16" name="Icona Proteggersi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66709" y="2313432"/>
            <a:ext cx="356616" cy="356616"/>
          </a:xfrm>
          <a:prstGeom prst="rect">
            <a:avLst/>
          </a:prstGeom>
        </p:spPr>
      </p:pic>
      <p:sp>
        <p:nvSpPr>
          <p:cNvPr id="17" name="Titolo Proteggersi"/>
          <p:cNvSpPr txBox="1"/>
          <p:nvPr/>
        </p:nvSpPr>
        <p:spPr>
          <a:xfrm>
            <a:off x="8402117" y="3017520"/>
            <a:ext cx="2783738" cy="3802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Proteggersi</a:t>
            </a:r>
            <a:endParaRPr lang="en-US" sz="2100" dirty="0"/>
          </a:p>
        </p:txBody>
      </p:sp>
      <p:sp>
        <p:nvSpPr>
          <p:cNvPr id="18" name="Testo Proteggersi"/>
          <p:cNvSpPr txBox="1"/>
          <p:nvPr/>
        </p:nvSpPr>
        <p:spPr>
          <a:xfrm>
            <a:off x="8402117" y="3470910"/>
            <a:ext cx="2783738" cy="13571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Poche abitudini e pochi strumenti che chiudono le porte principali, al lavoro e a casa.</a:t>
            </a:r>
            <a:endParaRPr lang="en-US" sz="1600" dirty="0"/>
          </a:p>
        </p:txBody>
      </p:sp>
      <p:sp>
        <p:nvSpPr>
          <p:cNvPr id="19" name="nota Non serve essere tecnici."/>
          <p:cNvSpPr/>
          <p:nvPr/>
        </p:nvSpPr>
        <p:spPr>
          <a:xfrm>
            <a:off x="685800" y="5212080"/>
            <a:ext cx="10820095" cy="777240"/>
          </a:xfrm>
          <a:prstGeom prst="roundRect">
            <a:avLst>
              <a:gd name="adj" fmla="val 16471"/>
            </a:avLst>
          </a:prstGeom>
          <a:solidFill>
            <a:srgbClr val="EAF2FC"/>
          </a:solidFill>
          <a:ln w="12700">
            <a:solidFill>
              <a:srgbClr val="EAF2FC"/>
            </a:solidFill>
            <a:prstDash val="solid"/>
          </a:ln>
        </p:spPr>
      </p:sp>
      <p:pic>
        <p:nvPicPr>
          <p:cNvPr id="20" name="nota icona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4400" y="5436108"/>
            <a:ext cx="329184" cy="329184"/>
          </a:xfrm>
          <a:prstGeom prst="rect">
            <a:avLst/>
          </a:prstGeom>
        </p:spPr>
      </p:pic>
      <p:sp>
        <p:nvSpPr>
          <p:cNvPr id="21" name="nota testo"/>
          <p:cNvSpPr txBox="1"/>
          <p:nvPr/>
        </p:nvSpPr>
        <p:spPr>
          <a:xfrm>
            <a:off x="1417320" y="5212080"/>
            <a:ext cx="985997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4D8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Non serve essere tecnici. </a:t>
            </a:r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Serve sapere cosa usi, dove stanno i tuoi dati e chi ha le chiavi.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57255" y="6382512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685800"/>
            <a:ext cx="108200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IL PUNTO</a:t>
            </a:r>
            <a:endParaRPr lang="en-US" sz="1200" dirty="0"/>
          </a:p>
        </p:txBody>
      </p:sp>
      <p:sp>
        <p:nvSpPr>
          <p:cNvPr id="3" name="Messaggio"/>
          <p:cNvSpPr txBox="1"/>
          <p:nvPr/>
        </p:nvSpPr>
        <p:spPr>
          <a:xfrm>
            <a:off x="685800" y="1097280"/>
            <a:ext cx="10820095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3800" b="1" dirty="0">
                <a:solidFill>
                  <a:srgbClr val="11182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 truffatori non forzano i computer.</a:t>
            </a:r>
            <a:endParaRPr lang="en-US" sz="38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3800" b="1" dirty="0">
                <a:solidFill>
                  <a:srgbClr val="1B4D8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Ingannano le persone.</a:t>
            </a:r>
            <a:endParaRPr lang="en-US" sz="3800" dirty="0"/>
          </a:p>
        </p:txBody>
      </p:sp>
      <p:sp>
        <p:nvSpPr>
          <p:cNvPr id="4" name="Sottotesto"/>
          <p:cNvSpPr txBox="1"/>
          <p:nvPr/>
        </p:nvSpPr>
        <p:spPr>
          <a:xfrm>
            <a:off x="685800" y="2667000"/>
            <a:ext cx="10058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 questo la prima difesa sei tu: capire cosa usi e accorgerti quando qualcosa non torna.</a:t>
            </a:r>
            <a:endParaRPr lang="en-US" sz="2000" dirty="0"/>
          </a:p>
        </p:txBody>
      </p:sp>
      <p:sp>
        <p:nvSpPr>
          <p:cNvPr id="5" name="Dato"/>
          <p:cNvSpPr/>
          <p:nvPr/>
        </p:nvSpPr>
        <p:spPr>
          <a:xfrm>
            <a:off x="685800" y="4800600"/>
            <a:ext cx="10820095" cy="1051560"/>
          </a:xfrm>
          <a:prstGeom prst="roundRect">
            <a:avLst>
              <a:gd name="adj" fmla="val 1217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ato numero"/>
          <p:cNvSpPr txBox="1"/>
          <p:nvPr/>
        </p:nvSpPr>
        <p:spPr>
          <a:xfrm>
            <a:off x="1005840" y="4800600"/>
            <a:ext cx="14630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chemeClr val="accent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62%</a:t>
            </a:r>
            <a:endParaRPr lang="en-US" sz="3800" dirty="0"/>
          </a:p>
        </p:txBody>
      </p:sp>
      <p:sp>
        <p:nvSpPr>
          <p:cNvPr id="7" name="Dato testo"/>
          <p:cNvSpPr txBox="1"/>
          <p:nvPr/>
        </p:nvSpPr>
        <p:spPr>
          <a:xfrm>
            <a:off x="2560320" y="4800600"/>
            <a:ext cx="8671255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delle violazioni di dati passa da una persona: un errore o una manipolazione</a:t>
            </a:r>
            <a:endParaRPr lang="en-US" sz="1700" dirty="0"/>
          </a:p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Verizon DBIR 2026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57255" y="6382512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200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 NUMERI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04672"/>
            <a:ext cx="108200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Succede qui, e succede spesso</a:t>
            </a:r>
            <a:endParaRPr lang="en-US" sz="3400" dirty="0"/>
          </a:p>
        </p:txBody>
      </p:sp>
      <p:sp>
        <p:nvSpPr>
          <p:cNvPr id="4" name="Numero 65’000"/>
          <p:cNvSpPr/>
          <p:nvPr/>
        </p:nvSpPr>
        <p:spPr>
          <a:xfrm>
            <a:off x="685800" y="1828800"/>
            <a:ext cx="3423818" cy="2971800"/>
          </a:xfrm>
          <a:prstGeom prst="roundRect">
            <a:avLst>
              <a:gd name="adj" fmla="val 4308"/>
            </a:avLst>
          </a:prstGeom>
          <a:solidFill>
            <a:srgbClr val="F6F8FB"/>
          </a:solidFill>
          <a:ln w="12700">
            <a:solidFill>
              <a:srgbClr val="E4E8EE"/>
            </a:solidFill>
            <a:prstDash val="solid"/>
          </a:ln>
        </p:spPr>
      </p:sp>
      <p:sp>
        <p:nvSpPr>
          <p:cNvPr id="5" name="Cifra 65’000"/>
          <p:cNvSpPr txBox="1"/>
          <p:nvPr/>
        </p:nvSpPr>
        <p:spPr>
          <a:xfrm>
            <a:off x="1051560" y="2103120"/>
            <a:ext cx="269229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5000" b="1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65’000</a:t>
            </a:r>
            <a:endParaRPr lang="en-US" sz="5000" dirty="0"/>
          </a:p>
        </p:txBody>
      </p:sp>
      <p:sp>
        <p:nvSpPr>
          <p:cNvPr id="6" name="Etichetta 65’000"/>
          <p:cNvSpPr txBox="1"/>
          <p:nvPr/>
        </p:nvSpPr>
        <p:spPr>
          <a:xfrm>
            <a:off x="1051560" y="3108960"/>
            <a:ext cx="269229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segnalazioni all’Ufficio federale della cibersicurezza nel 2025</a:t>
            </a:r>
            <a:endParaRPr lang="en-US" sz="1700" dirty="0"/>
          </a:p>
        </p:txBody>
      </p:sp>
      <p:sp>
        <p:nvSpPr>
          <p:cNvPr id="7" name="Fonte 65’000"/>
          <p:cNvSpPr txBox="1"/>
          <p:nvPr/>
        </p:nvSpPr>
        <p:spPr>
          <a:xfrm>
            <a:off x="1051560" y="4343400"/>
            <a:ext cx="269229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UFCS 2025 · cifra arrotondata</a:t>
            </a:r>
            <a:endParaRPr lang="en-US" sz="1100" dirty="0"/>
          </a:p>
        </p:txBody>
      </p:sp>
      <p:sp>
        <p:nvSpPr>
          <p:cNvPr id="8" name="Numero 26%"/>
          <p:cNvSpPr/>
          <p:nvPr/>
        </p:nvSpPr>
        <p:spPr>
          <a:xfrm>
            <a:off x="4383938" y="1828800"/>
            <a:ext cx="3423818" cy="2971800"/>
          </a:xfrm>
          <a:prstGeom prst="roundRect">
            <a:avLst>
              <a:gd name="adj" fmla="val 4308"/>
            </a:avLst>
          </a:prstGeom>
          <a:solidFill>
            <a:srgbClr val="F6F8FB"/>
          </a:solidFill>
          <a:ln w="12700">
            <a:solidFill>
              <a:srgbClr val="E4E8EE"/>
            </a:solidFill>
            <a:prstDash val="solid"/>
          </a:ln>
        </p:spPr>
      </p:sp>
      <p:sp>
        <p:nvSpPr>
          <p:cNvPr id="9" name="Cifra 26%"/>
          <p:cNvSpPr txBox="1"/>
          <p:nvPr/>
        </p:nvSpPr>
        <p:spPr>
          <a:xfrm>
            <a:off x="4749698" y="2103120"/>
            <a:ext cx="269229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5000" b="1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26%</a:t>
            </a:r>
            <a:endParaRPr lang="en-US" sz="5000" dirty="0"/>
          </a:p>
        </p:txBody>
      </p:sp>
      <p:sp>
        <p:nvSpPr>
          <p:cNvPr id="10" name="Etichetta 26%"/>
          <p:cNvSpPr txBox="1"/>
          <p:nvPr/>
        </p:nvSpPr>
        <p:spPr>
          <a:xfrm>
            <a:off x="4749698" y="3108960"/>
            <a:ext cx="269229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sono telefonate di finte autorità: la truffa più segnalata in Svizzera</a:t>
            </a:r>
            <a:endParaRPr lang="en-US" sz="1700" dirty="0"/>
          </a:p>
        </p:txBody>
      </p:sp>
      <p:sp>
        <p:nvSpPr>
          <p:cNvPr id="11" name="Fonte 26%"/>
          <p:cNvSpPr txBox="1"/>
          <p:nvPr/>
        </p:nvSpPr>
        <p:spPr>
          <a:xfrm>
            <a:off x="4749698" y="4343400"/>
            <a:ext cx="269229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UFCS 2025</a:t>
            </a:r>
            <a:endParaRPr lang="en-US" sz="1100" dirty="0"/>
          </a:p>
        </p:txBody>
      </p:sp>
      <p:sp>
        <p:nvSpPr>
          <p:cNvPr id="12" name="Numero 20,9 mld"/>
          <p:cNvSpPr/>
          <p:nvPr/>
        </p:nvSpPr>
        <p:spPr>
          <a:xfrm>
            <a:off x="8082077" y="1828800"/>
            <a:ext cx="3423818" cy="2971800"/>
          </a:xfrm>
          <a:prstGeom prst="roundRect">
            <a:avLst>
              <a:gd name="adj" fmla="val 4308"/>
            </a:avLst>
          </a:prstGeom>
          <a:solidFill>
            <a:srgbClr val="F6F8FB"/>
          </a:solidFill>
          <a:ln w="12700">
            <a:solidFill>
              <a:srgbClr val="E4E8EE"/>
            </a:solidFill>
            <a:prstDash val="solid"/>
          </a:ln>
        </p:spPr>
      </p:sp>
      <p:sp>
        <p:nvSpPr>
          <p:cNvPr id="13" name="Cifra 20,9 mld"/>
          <p:cNvSpPr txBox="1"/>
          <p:nvPr/>
        </p:nvSpPr>
        <p:spPr>
          <a:xfrm>
            <a:off x="8447837" y="2103120"/>
            <a:ext cx="269229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800" b="1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20,9 mld</a:t>
            </a:r>
            <a:endParaRPr lang="en-US" sz="3800" dirty="0"/>
          </a:p>
        </p:txBody>
      </p:sp>
      <p:sp>
        <p:nvSpPr>
          <p:cNvPr id="14" name="Etichetta 20,9 mld"/>
          <p:cNvSpPr txBox="1"/>
          <p:nvPr/>
        </p:nvSpPr>
        <p:spPr>
          <a:xfrm>
            <a:off x="8447837" y="3108960"/>
            <a:ext cx="269229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 dollari di perdite denunciate all’FBI nel 2025</a:t>
            </a:r>
            <a:endParaRPr lang="en-US" sz="1700" dirty="0"/>
          </a:p>
        </p:txBody>
      </p:sp>
      <p:sp>
        <p:nvSpPr>
          <p:cNvPr id="15" name="Fonte 20,9 mld"/>
          <p:cNvSpPr txBox="1"/>
          <p:nvPr/>
        </p:nvSpPr>
        <p:spPr>
          <a:xfrm>
            <a:off x="8447837" y="4343400"/>
            <a:ext cx="269229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FBI IC3 2025</a:t>
            </a:r>
            <a:endParaRPr lang="en-US" sz="1100" dirty="0"/>
          </a:p>
        </p:txBody>
      </p:sp>
      <p:sp>
        <p:nvSpPr>
          <p:cNvPr id="16" name="nota E l’AI aiuta i truffatori:"/>
          <p:cNvSpPr/>
          <p:nvPr/>
        </p:nvSpPr>
        <p:spPr>
          <a:xfrm>
            <a:off x="685800" y="5120640"/>
            <a:ext cx="10820095" cy="822960"/>
          </a:xfrm>
          <a:prstGeom prst="roundRect">
            <a:avLst>
              <a:gd name="adj" fmla="val 15556"/>
            </a:avLst>
          </a:prstGeom>
          <a:solidFill>
            <a:srgbClr val="FFF8E6"/>
          </a:solidFill>
          <a:ln w="12700">
            <a:solidFill>
              <a:srgbClr val="FFF8E6"/>
            </a:solidFill>
            <a:prstDash val="solid"/>
          </a:ln>
        </p:spPr>
      </p:sp>
      <p:pic>
        <p:nvPicPr>
          <p:cNvPr id="17" name="nota icona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0" y="5367528"/>
            <a:ext cx="329184" cy="329184"/>
          </a:xfrm>
          <a:prstGeom prst="rect">
            <a:avLst/>
          </a:prstGeom>
        </p:spPr>
      </p:pic>
      <p:sp>
        <p:nvSpPr>
          <p:cNvPr id="18" name="nota testo"/>
          <p:cNvSpPr txBox="1"/>
          <p:nvPr/>
        </p:nvSpPr>
        <p:spPr>
          <a:xfrm>
            <a:off x="1417320" y="5120640"/>
            <a:ext cx="985997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15C0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 l’AI aiuta i truffatori: </a:t>
            </a:r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il testo delle email truffa scritto dall’AI è raddoppiato in due anni (Verizon DBIR 2025).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57255" y="6382512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200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 CASO VERO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04672"/>
            <a:ext cx="108200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Gli hanno preso il numero, non il telefono</a:t>
            </a:r>
            <a:endParaRPr lang="en-US" sz="3400" dirty="0"/>
          </a:p>
        </p:txBody>
      </p:sp>
      <p:sp>
        <p:nvSpPr>
          <p:cNvPr id="4" name="Linea del tempo"/>
          <p:cNvSpPr/>
          <p:nvPr/>
        </p:nvSpPr>
        <p:spPr>
          <a:xfrm>
            <a:off x="804672" y="2057400"/>
            <a:ext cx="0" cy="2596896"/>
          </a:xfrm>
          <a:prstGeom prst="line">
            <a:avLst/>
          </a:prstGeom>
          <a:noFill/>
          <a:ln w="25400">
            <a:solidFill>
              <a:srgbClr val="E4E8EE"/>
            </a:solidFill>
            <a:prstDash val="solid"/>
          </a:ln>
        </p:spPr>
      </p:sp>
      <p:sp>
        <p:nvSpPr>
          <p:cNvPr id="5" name="Punto 30 agosto 2019"/>
          <p:cNvSpPr/>
          <p:nvPr/>
        </p:nvSpPr>
        <p:spPr>
          <a:xfrm>
            <a:off x="685800" y="1938528"/>
            <a:ext cx="237744" cy="237744"/>
          </a:xfrm>
          <a:prstGeom prst="ellipse">
            <a:avLst/>
          </a:prstGeom>
          <a:solidFill>
            <a:srgbClr val="1B4D89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6" name="Quando 30 agosto 2019"/>
          <p:cNvSpPr txBox="1"/>
          <p:nvPr/>
        </p:nvSpPr>
        <p:spPr>
          <a:xfrm>
            <a:off x="1188720" y="1874520"/>
            <a:ext cx="6035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 AGOSTO 2019</a:t>
            </a:r>
            <a:endParaRPr lang="en-US" sz="1200" dirty="0"/>
          </a:p>
        </p:txBody>
      </p:sp>
      <p:sp>
        <p:nvSpPr>
          <p:cNvPr id="7" name="Fatto 30 agosto 2019"/>
          <p:cNvSpPr txBox="1"/>
          <p:nvPr/>
        </p:nvSpPr>
        <p:spPr>
          <a:xfrm>
            <a:off x="1188720" y="2203704"/>
            <a:ext cx="6035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L’account Twitter di Jack Dorsey, cofondatore e capo di Twitter, pubblica messaggi offensivi.</a:t>
            </a:r>
            <a:endParaRPr lang="en-US" sz="1700" dirty="0"/>
          </a:p>
        </p:txBody>
      </p:sp>
      <p:sp>
        <p:nvSpPr>
          <p:cNvPr id="8" name="Punto Come"/>
          <p:cNvSpPr/>
          <p:nvPr/>
        </p:nvSpPr>
        <p:spPr>
          <a:xfrm>
            <a:off x="685800" y="3236976"/>
            <a:ext cx="237744" cy="237744"/>
          </a:xfrm>
          <a:prstGeom prst="ellipse">
            <a:avLst/>
          </a:prstGeom>
          <a:solidFill>
            <a:srgbClr val="1B4D89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9" name="Quando Come"/>
          <p:cNvSpPr txBox="1"/>
          <p:nvPr/>
        </p:nvSpPr>
        <p:spPr>
          <a:xfrm>
            <a:off x="1188720" y="3172968"/>
            <a:ext cx="6035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COME</a:t>
            </a:r>
            <a:endParaRPr lang="en-US" sz="1200" dirty="0"/>
          </a:p>
        </p:txBody>
      </p:sp>
      <p:sp>
        <p:nvSpPr>
          <p:cNvPr id="10" name="Fatto Come"/>
          <p:cNvSpPr txBox="1"/>
          <p:nvPr/>
        </p:nvSpPr>
        <p:spPr>
          <a:xfrm>
            <a:off x="1188720" y="3502152"/>
            <a:ext cx="6035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Nessuno ha violato Twitter. I criminali hanno ottenuto dall’operatore telefonico il suo numero su un’altra SIM.</a:t>
            </a:r>
            <a:endParaRPr lang="en-US" sz="1700" dirty="0"/>
          </a:p>
        </p:txBody>
      </p:sp>
      <p:sp>
        <p:nvSpPr>
          <p:cNvPr id="11" name="Punto Il risultato"/>
          <p:cNvSpPr/>
          <p:nvPr/>
        </p:nvSpPr>
        <p:spPr>
          <a:xfrm>
            <a:off x="685800" y="4535424"/>
            <a:ext cx="237744" cy="237744"/>
          </a:xfrm>
          <a:prstGeom prst="ellipse">
            <a:avLst/>
          </a:prstGeom>
          <a:solidFill>
            <a:srgbClr val="B42318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2" name="Quando Il risultato"/>
          <p:cNvSpPr txBox="1"/>
          <p:nvPr/>
        </p:nvSpPr>
        <p:spPr>
          <a:xfrm>
            <a:off x="1188720" y="4471416"/>
            <a:ext cx="6035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IL RISULTATO</a:t>
            </a:r>
            <a:endParaRPr lang="en-US" sz="1200" dirty="0"/>
          </a:p>
        </p:txBody>
      </p:sp>
      <p:sp>
        <p:nvSpPr>
          <p:cNvPr id="13" name="Fatto Il risultato"/>
          <p:cNvSpPr txBox="1"/>
          <p:nvPr/>
        </p:nvSpPr>
        <p:spPr>
          <a:xfrm>
            <a:off x="1188720" y="4800600"/>
            <a:ext cx="6035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 il suo numero potevano scrivere a suo nome via SMS. Si chiama SIM swap e colpisce anche persone comuni.</a:t>
            </a:r>
            <a:endParaRPr lang="en-US" sz="1700" dirty="0"/>
          </a:p>
        </p:txBody>
      </p:sp>
      <p:sp>
        <p:nvSpPr>
          <p:cNvPr id="14" name="Lezione"/>
          <p:cNvSpPr/>
          <p:nvPr/>
        </p:nvSpPr>
        <p:spPr>
          <a:xfrm>
            <a:off x="7589520" y="1828800"/>
            <a:ext cx="3916375" cy="2103120"/>
          </a:xfrm>
          <a:prstGeom prst="roundRect">
            <a:avLst>
              <a:gd name="adj" fmla="val 6087"/>
            </a:avLst>
          </a:prstGeom>
          <a:solidFill>
            <a:srgbClr val="ECFDF3"/>
          </a:solidFill>
          <a:ln w="12700">
            <a:solidFill>
              <a:srgbClr val="ECFDF3"/>
            </a:solidFill>
            <a:prstDash val="solid"/>
          </a:ln>
        </p:spPr>
      </p:sp>
      <p:pic>
        <p:nvPicPr>
          <p:cNvPr id="15" name="Lezione icona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63840" y="2103120"/>
            <a:ext cx="384048" cy="384048"/>
          </a:xfrm>
          <a:prstGeom prst="rect">
            <a:avLst/>
          </a:prstGeom>
        </p:spPr>
      </p:pic>
      <p:sp>
        <p:nvSpPr>
          <p:cNvPr id="16" name="Lezione titolo"/>
          <p:cNvSpPr txBox="1"/>
          <p:nvPr/>
        </p:nvSpPr>
        <p:spPr>
          <a:xfrm>
            <a:off x="8366760" y="2103120"/>
            <a:ext cx="286481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chemeClr val="accent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lezione</a:t>
            </a:r>
            <a:endParaRPr lang="en-US" sz="1900" dirty="0"/>
          </a:p>
        </p:txBody>
      </p:sp>
      <p:sp>
        <p:nvSpPr>
          <p:cNvPr id="17" name="Lezione testo"/>
          <p:cNvSpPr txBox="1"/>
          <p:nvPr/>
        </p:nvSpPr>
        <p:spPr>
          <a:xfrm>
            <a:off x="7863840" y="2633472"/>
            <a:ext cx="3367735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Il numero di telefono è una chiave: qui è bastato per scrivere a suo nome. Se un account si recupera con un SMS, chi prende il numero entra al posto tuo.</a:t>
            </a:r>
            <a:endParaRPr lang="en-US" sz="1600" dirty="0"/>
          </a:p>
        </p:txBody>
      </p:sp>
      <p:sp>
        <p:nvSpPr>
          <p:cNvPr id="18" name="Nel materiale"/>
          <p:cNvSpPr/>
          <p:nvPr/>
        </p:nvSpPr>
        <p:spPr>
          <a:xfrm>
            <a:off x="7589520" y="4114800"/>
            <a:ext cx="3916375" cy="1828800"/>
          </a:xfrm>
          <a:prstGeom prst="roundRect">
            <a:avLst>
              <a:gd name="adj" fmla="val 7000"/>
            </a:avLst>
          </a:prstGeom>
          <a:solidFill>
            <a:srgbClr val="F6F8FB"/>
          </a:solidFill>
          <a:ln w="12700">
            <a:solidFill>
              <a:srgbClr val="E4E8EE"/>
            </a:solidFill>
            <a:prstDash val="solid"/>
          </a:ln>
        </p:spPr>
      </p:sp>
      <p:pic>
        <p:nvPicPr>
          <p:cNvPr id="19" name="Materiale icona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63840" y="4361688"/>
            <a:ext cx="347472" cy="347472"/>
          </a:xfrm>
          <a:prstGeom prst="rect">
            <a:avLst/>
          </a:prstGeom>
        </p:spPr>
      </p:pic>
      <p:sp>
        <p:nvSpPr>
          <p:cNvPr id="20" name="Materiale titolo"/>
          <p:cNvSpPr txBox="1"/>
          <p:nvPr/>
        </p:nvSpPr>
        <p:spPr>
          <a:xfrm>
            <a:off x="8366760" y="4361688"/>
            <a:ext cx="286481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Nel materiale</a:t>
            </a:r>
            <a:endParaRPr lang="en-US" sz="1600" dirty="0"/>
          </a:p>
        </p:txBody>
      </p:sp>
      <p:sp>
        <p:nvSpPr>
          <p:cNvPr id="21" name="Materiale testo"/>
          <p:cNvSpPr txBox="1"/>
          <p:nvPr/>
        </p:nvSpPr>
        <p:spPr>
          <a:xfrm>
            <a:off x="7863840" y="4800600"/>
            <a:ext cx="3367735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Livello 1, capitolo 7: verifica in due passaggi più sicura degli SMS. Livello 2, capitolo 2: un numero solo per il recupero.</a:t>
            </a:r>
            <a:endParaRPr lang="en-US" sz="1400" dirty="0"/>
          </a:p>
        </p:txBody>
      </p:sp>
      <p:sp>
        <p:nvSpPr>
          <p:cNvPr id="22" name="Fonte"/>
          <p:cNvSpPr txBox="1"/>
          <p:nvPr/>
        </p:nvSpPr>
        <p:spPr>
          <a:xfrm>
            <a:off x="685800" y="5989320"/>
            <a:ext cx="6675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Fonte: TechCrunch, 30.08.2019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57255" y="6382512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200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 BASI · 1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04672"/>
            <a:ext cx="108200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 tuoi dati stanno su un server</a:t>
            </a:r>
            <a:endParaRPr lang="en-US" sz="3400" dirty="0"/>
          </a:p>
        </p:txBody>
      </p:sp>
      <p:pic>
        <p:nvPicPr>
          <p:cNvPr id="4" name="Schema dall’HTML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2585720"/>
            <a:ext cx="7040880" cy="2738120"/>
          </a:xfrm>
          <a:prstGeom prst="rect">
            <a:avLst/>
          </a:prstGeom>
        </p:spPr>
      </p:pic>
      <p:sp>
        <p:nvSpPr>
          <p:cNvPr id="5" name="Spiegazione"/>
          <p:cNvSpPr/>
          <p:nvPr/>
        </p:nvSpPr>
        <p:spPr>
          <a:xfrm>
            <a:off x="8138160" y="1828800"/>
            <a:ext cx="3367735" cy="4251960"/>
          </a:xfrm>
          <a:prstGeom prst="roundRect">
            <a:avLst>
              <a:gd name="adj" fmla="val 3801"/>
            </a:avLst>
          </a:prstGeom>
          <a:solidFill>
            <a:srgbClr val="F6F8FB"/>
          </a:solidFill>
          <a:ln w="12700">
            <a:solidFill>
              <a:srgbClr val="E4E8EE"/>
            </a:solidFill>
            <a:prstDash val="solid"/>
          </a:ln>
        </p:spPr>
      </p:sp>
      <p:sp>
        <p:nvSpPr>
          <p:cNvPr id="6" name="Punto Sito e app sono solo finestre"/>
          <p:cNvSpPr txBox="1"/>
          <p:nvPr/>
        </p:nvSpPr>
        <p:spPr>
          <a:xfrm>
            <a:off x="8412480" y="2148840"/>
            <a:ext cx="2819095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Sito e app sono solo finestre</a:t>
            </a:r>
            <a:endParaRPr lang="en-US" sz="1800" dirty="0"/>
          </a:p>
        </p:txBody>
      </p:sp>
      <p:sp>
        <p:nvSpPr>
          <p:cNvPr id="7" name="Testo Sito e app sono solo finestre"/>
          <p:cNvSpPr txBox="1"/>
          <p:nvPr/>
        </p:nvSpPr>
        <p:spPr>
          <a:xfrm>
            <a:off x="8412480" y="2834640"/>
            <a:ext cx="2819095" cy="984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Sul telefono o sul computer mostrano lo stesso account, che vive su un server. Cambi da una parte, lo vedi ovunque.</a:t>
            </a:r>
            <a:endParaRPr lang="en-US" sz="1500" dirty="0"/>
          </a:p>
        </p:txBody>
      </p:sp>
      <p:sp>
        <p:nvSpPr>
          <p:cNvPr id="8" name="Punto Chi entra nell’account vede tutto"/>
          <p:cNvSpPr txBox="1"/>
          <p:nvPr/>
        </p:nvSpPr>
        <p:spPr>
          <a:xfrm>
            <a:off x="8412480" y="4111752"/>
            <a:ext cx="2819095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Chi entra nell’account vede tutto</a:t>
            </a:r>
            <a:endParaRPr lang="en-US" sz="1800" dirty="0"/>
          </a:p>
        </p:txBody>
      </p:sp>
      <p:sp>
        <p:nvSpPr>
          <p:cNvPr id="9" name="Testo Chi entra nell’account vede tutto"/>
          <p:cNvSpPr txBox="1"/>
          <p:nvPr/>
        </p:nvSpPr>
        <p:spPr>
          <a:xfrm>
            <a:off x="8412480" y="4797552"/>
            <a:ext cx="2819095" cy="984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 qualsiasi parte del mondo, senza toccare il tuo telefono. Per questo contano password e 2FA.</a:t>
            </a:r>
            <a:endParaRPr lang="en-US" sz="1500" dirty="0"/>
          </a:p>
        </p:txBody>
      </p:sp>
      <p:sp>
        <p:nvSpPr>
          <p:cNvPr id="10" name="Didascalia"/>
          <p:cNvSpPr txBox="1"/>
          <p:nvPr/>
        </p:nvSpPr>
        <p:spPr>
          <a:xfrm>
            <a:off x="685800" y="5989320"/>
            <a:ext cx="7040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Schema dal livello 1, capitolo 5: “App, siti, account e file: dove vive cosa”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57255" y="6382512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200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 BASI · 2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04672"/>
            <a:ext cx="108200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L’email principale apre tutto</a:t>
            </a:r>
            <a:endParaRPr lang="en-US" sz="3400" dirty="0"/>
          </a:p>
        </p:txBody>
      </p:sp>
      <p:pic>
        <p:nvPicPr>
          <p:cNvPr id="4" name="Schema dall’HTML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2996438"/>
            <a:ext cx="7040880" cy="1916684"/>
          </a:xfrm>
          <a:prstGeom prst="rect">
            <a:avLst/>
          </a:prstGeom>
        </p:spPr>
      </p:pic>
      <p:sp>
        <p:nvSpPr>
          <p:cNvPr id="5" name="Spiegazione"/>
          <p:cNvSpPr/>
          <p:nvPr/>
        </p:nvSpPr>
        <p:spPr>
          <a:xfrm>
            <a:off x="8138160" y="1828800"/>
            <a:ext cx="3367735" cy="4251960"/>
          </a:xfrm>
          <a:prstGeom prst="roundRect">
            <a:avLst>
              <a:gd name="adj" fmla="val 3801"/>
            </a:avLst>
          </a:prstGeom>
          <a:solidFill>
            <a:srgbClr val="F6F8FB"/>
          </a:solidFill>
          <a:ln w="12700">
            <a:solidFill>
              <a:srgbClr val="E4E8EE"/>
            </a:solidFill>
            <a:prstDash val="solid"/>
          </a:ln>
        </p:spPr>
      </p:sp>
      <p:sp>
        <p:nvSpPr>
          <p:cNvPr id="6" name="Punto Ogni “password dimenticata” arriva lì"/>
          <p:cNvSpPr txBox="1"/>
          <p:nvPr/>
        </p:nvSpPr>
        <p:spPr>
          <a:xfrm>
            <a:off x="8412480" y="2148840"/>
            <a:ext cx="2819095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Ogni “password dimenticata” arriva lì</a:t>
            </a:r>
            <a:endParaRPr lang="en-US" sz="1800" dirty="0"/>
          </a:p>
        </p:txBody>
      </p:sp>
      <p:sp>
        <p:nvSpPr>
          <p:cNvPr id="7" name="Testo Ogni “password dimenticata” arriva lì"/>
          <p:cNvSpPr txBox="1"/>
          <p:nvPr/>
        </p:nvSpPr>
        <p:spPr>
          <a:xfrm>
            <a:off x="8412480" y="2834640"/>
            <a:ext cx="2819095" cy="984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Banca, social, lavoro, negozi: per recuperare l’accesso ti mandano un link a quella email.</a:t>
            </a:r>
            <a:endParaRPr lang="en-US" sz="1500" dirty="0"/>
          </a:p>
        </p:txBody>
      </p:sp>
      <p:sp>
        <p:nvSpPr>
          <p:cNvPr id="8" name="Punto Proteggila più di tutto"/>
          <p:cNvSpPr txBox="1"/>
          <p:nvPr/>
        </p:nvSpPr>
        <p:spPr>
          <a:xfrm>
            <a:off x="8412480" y="4111752"/>
            <a:ext cx="2819095" cy="3337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Proteggila più di tutto</a:t>
            </a:r>
            <a:endParaRPr lang="en-US" sz="1800" dirty="0"/>
          </a:p>
        </p:txBody>
      </p:sp>
      <p:sp>
        <p:nvSpPr>
          <p:cNvPr id="9" name="Testo Proteggila più di tutto"/>
          <p:cNvSpPr txBox="1"/>
          <p:nvPr/>
        </p:nvSpPr>
        <p:spPr>
          <a:xfrm>
            <a:off x="8412480" y="4518660"/>
            <a:ext cx="2819095" cy="7520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Chi la prende, prende anche il resto. Password unica e verifica in due passaggi.</a:t>
            </a:r>
            <a:endParaRPr lang="en-US" sz="1500" dirty="0"/>
          </a:p>
        </p:txBody>
      </p:sp>
      <p:sp>
        <p:nvSpPr>
          <p:cNvPr id="10" name="Didascalia"/>
          <p:cNvSpPr txBox="1"/>
          <p:nvPr/>
        </p:nvSpPr>
        <p:spPr>
          <a:xfrm>
            <a:off x="685800" y="5989320"/>
            <a:ext cx="7040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Schema dal livello 1, capitolo 4: “Account ed email: come funzionano”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57255" y="6382512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200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 BASI · 3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04672"/>
            <a:ext cx="108200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Tre regole che ti salvano</a:t>
            </a:r>
            <a:endParaRPr lang="en-US" sz="3400" dirty="0"/>
          </a:p>
        </p:txBody>
      </p:sp>
      <p:sp>
        <p:nvSpPr>
          <p:cNvPr id="4" name="Scheda Una password per ogni sito"/>
          <p:cNvSpPr/>
          <p:nvPr/>
        </p:nvSpPr>
        <p:spPr>
          <a:xfrm>
            <a:off x="685800" y="1828800"/>
            <a:ext cx="3423818" cy="3063240"/>
          </a:xfrm>
          <a:prstGeom prst="roundRect">
            <a:avLst>
              <a:gd name="adj" fmla="val 4179"/>
            </a:avLst>
          </a:prstGeom>
          <a:solidFill>
            <a:srgbClr val="F6F8FB"/>
          </a:solidFill>
          <a:ln w="12700">
            <a:solidFill>
              <a:srgbClr val="E4E8EE"/>
            </a:solidFill>
            <a:prstDash val="solid"/>
          </a:ln>
        </p:spPr>
      </p:sp>
      <p:sp>
        <p:nvSpPr>
          <p:cNvPr id="5" name="Icona Una password per ogni sito fondo"/>
          <p:cNvSpPr/>
          <p:nvPr/>
        </p:nvSpPr>
        <p:spPr>
          <a:xfrm>
            <a:off x="1005840" y="2148840"/>
            <a:ext cx="685800" cy="685800"/>
          </a:xfrm>
          <a:prstGeom prst="roundRect">
            <a:avLst>
              <a:gd name="adj" fmla="val 18667"/>
            </a:avLst>
          </a:prstGeom>
          <a:solidFill>
            <a:srgbClr val="EAF2FC"/>
          </a:solidFill>
          <a:ln w="12700">
            <a:solidFill>
              <a:srgbClr val="EAF2FC"/>
            </a:solidFill>
            <a:prstDash val="solid"/>
          </a:ln>
        </p:spPr>
      </p:sp>
      <p:pic>
        <p:nvPicPr>
          <p:cNvPr id="6" name="Icona Una password per ogni sito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70432" y="2313432"/>
            <a:ext cx="356616" cy="356616"/>
          </a:xfrm>
          <a:prstGeom prst="rect">
            <a:avLst/>
          </a:prstGeom>
        </p:spPr>
      </p:pic>
      <p:sp>
        <p:nvSpPr>
          <p:cNvPr id="7" name="Titolo Una password per ogni sito"/>
          <p:cNvSpPr txBox="1"/>
          <p:nvPr/>
        </p:nvSpPr>
        <p:spPr>
          <a:xfrm>
            <a:off x="1005840" y="3017520"/>
            <a:ext cx="2783738" cy="7056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Una password per ogni sito</a:t>
            </a:r>
            <a:endParaRPr lang="en-US" sz="2100" dirty="0"/>
          </a:p>
        </p:txBody>
      </p:sp>
      <p:sp>
        <p:nvSpPr>
          <p:cNvPr id="8" name="Testo Una password per ogni sito"/>
          <p:cNvSpPr txBox="1"/>
          <p:nvPr/>
        </p:nvSpPr>
        <p:spPr>
          <a:xfrm>
            <a:off x="1005840" y="3796284"/>
            <a:ext cx="2783738" cy="10317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 usi la stessa ovunque, un sito violato apre tutti gli altri. Il password manager le ricorda per te.</a:t>
            </a:r>
            <a:endParaRPr lang="en-US" sz="1600" dirty="0"/>
          </a:p>
        </p:txBody>
      </p:sp>
      <p:sp>
        <p:nvSpPr>
          <p:cNvPr id="9" name="Scheda Leggi il dominio"/>
          <p:cNvSpPr/>
          <p:nvPr/>
        </p:nvSpPr>
        <p:spPr>
          <a:xfrm>
            <a:off x="4383938" y="1828800"/>
            <a:ext cx="3423818" cy="3063240"/>
          </a:xfrm>
          <a:prstGeom prst="roundRect">
            <a:avLst>
              <a:gd name="adj" fmla="val 4179"/>
            </a:avLst>
          </a:prstGeom>
          <a:solidFill>
            <a:srgbClr val="F6F8FB"/>
          </a:solidFill>
          <a:ln w="12700">
            <a:solidFill>
              <a:srgbClr val="E4E8EE"/>
            </a:solidFill>
            <a:prstDash val="solid"/>
          </a:ln>
        </p:spPr>
      </p:sp>
      <p:sp>
        <p:nvSpPr>
          <p:cNvPr id="10" name="Icona Leggi il dominio fondo"/>
          <p:cNvSpPr/>
          <p:nvPr/>
        </p:nvSpPr>
        <p:spPr>
          <a:xfrm>
            <a:off x="4703978" y="2148840"/>
            <a:ext cx="685800" cy="685800"/>
          </a:xfrm>
          <a:prstGeom prst="roundRect">
            <a:avLst>
              <a:gd name="adj" fmla="val 18667"/>
            </a:avLst>
          </a:prstGeom>
          <a:solidFill>
            <a:srgbClr val="EAF2FC"/>
          </a:solidFill>
          <a:ln w="12700">
            <a:solidFill>
              <a:srgbClr val="EAF2FC"/>
            </a:solidFill>
            <a:prstDash val="solid"/>
          </a:ln>
        </p:spPr>
      </p:sp>
      <p:pic>
        <p:nvPicPr>
          <p:cNvPr id="11" name="Icona Leggi il dominio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68570" y="2313432"/>
            <a:ext cx="356616" cy="356616"/>
          </a:xfrm>
          <a:prstGeom prst="rect">
            <a:avLst/>
          </a:prstGeom>
        </p:spPr>
      </p:pic>
      <p:sp>
        <p:nvSpPr>
          <p:cNvPr id="12" name="Titolo Leggi il dominio"/>
          <p:cNvSpPr txBox="1"/>
          <p:nvPr/>
        </p:nvSpPr>
        <p:spPr>
          <a:xfrm>
            <a:off x="4703978" y="3017520"/>
            <a:ext cx="2783738" cy="3802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Leggi il dominio</a:t>
            </a:r>
            <a:endParaRPr lang="en-US" sz="2100" dirty="0"/>
          </a:p>
        </p:txBody>
      </p:sp>
      <p:sp>
        <p:nvSpPr>
          <p:cNvPr id="13" name="Testo Leggi il dominio"/>
          <p:cNvSpPr txBox="1"/>
          <p:nvPr/>
        </p:nvSpPr>
        <p:spPr>
          <a:xfrm>
            <a:off x="4703978" y="3470910"/>
            <a:ext cx="2783738" cy="13571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Prima di scrivere una password guarda il nome prima della prima barra: postfinance.ch. Il resto si può inventare.</a:t>
            </a:r>
            <a:endParaRPr lang="en-US" sz="1600" dirty="0"/>
          </a:p>
        </p:txBody>
      </p:sp>
      <p:sp>
        <p:nvSpPr>
          <p:cNvPr id="14" name="Scheda Sincronizzato non è backup"/>
          <p:cNvSpPr/>
          <p:nvPr/>
        </p:nvSpPr>
        <p:spPr>
          <a:xfrm>
            <a:off x="8082077" y="1828800"/>
            <a:ext cx="3423818" cy="3063240"/>
          </a:xfrm>
          <a:prstGeom prst="roundRect">
            <a:avLst>
              <a:gd name="adj" fmla="val 4179"/>
            </a:avLst>
          </a:prstGeom>
          <a:solidFill>
            <a:srgbClr val="F6F8FB"/>
          </a:solidFill>
          <a:ln w="12700">
            <a:solidFill>
              <a:srgbClr val="E4E8EE"/>
            </a:solidFill>
            <a:prstDash val="solid"/>
          </a:ln>
        </p:spPr>
      </p:sp>
      <p:sp>
        <p:nvSpPr>
          <p:cNvPr id="15" name="Icona Sincronizzato non è backup fondo"/>
          <p:cNvSpPr/>
          <p:nvPr/>
        </p:nvSpPr>
        <p:spPr>
          <a:xfrm>
            <a:off x="8402117" y="2148840"/>
            <a:ext cx="685800" cy="685800"/>
          </a:xfrm>
          <a:prstGeom prst="roundRect">
            <a:avLst>
              <a:gd name="adj" fmla="val 18667"/>
            </a:avLst>
          </a:prstGeom>
          <a:solidFill>
            <a:srgbClr val="EAF2FC"/>
          </a:solidFill>
          <a:ln w="12700">
            <a:solidFill>
              <a:srgbClr val="EAF2FC"/>
            </a:solidFill>
            <a:prstDash val="solid"/>
          </a:ln>
        </p:spPr>
      </p:sp>
      <p:pic>
        <p:nvPicPr>
          <p:cNvPr id="16" name="Icona Sincronizzato non è backup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66709" y="2313432"/>
            <a:ext cx="356616" cy="356616"/>
          </a:xfrm>
          <a:prstGeom prst="rect">
            <a:avLst/>
          </a:prstGeom>
        </p:spPr>
      </p:pic>
      <p:sp>
        <p:nvSpPr>
          <p:cNvPr id="17" name="Titolo Sincronizzato non è backup"/>
          <p:cNvSpPr txBox="1"/>
          <p:nvPr/>
        </p:nvSpPr>
        <p:spPr>
          <a:xfrm>
            <a:off x="8402117" y="3017520"/>
            <a:ext cx="2783738" cy="7056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Sincronizzato non è backup</a:t>
            </a:r>
            <a:endParaRPr lang="en-US" sz="2100" dirty="0"/>
          </a:p>
        </p:txBody>
      </p:sp>
      <p:sp>
        <p:nvSpPr>
          <p:cNvPr id="18" name="Testo Sincronizzato non è backup"/>
          <p:cNvSpPr txBox="1"/>
          <p:nvPr/>
        </p:nvSpPr>
        <p:spPr>
          <a:xfrm>
            <a:off x="8402117" y="3796284"/>
            <a:ext cx="2783738" cy="10317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 file cancellato o cifrato da un virus viene copiato ovunque in pochi secondi. Serve una copia separata.</a:t>
            </a:r>
            <a:endParaRPr lang="en-US" sz="1600" dirty="0"/>
          </a:p>
        </p:txBody>
      </p:sp>
      <p:sp>
        <p:nvSpPr>
          <p:cNvPr id="19" name="nota Il resto delle basi è nel livello 1:"/>
          <p:cNvSpPr/>
          <p:nvPr/>
        </p:nvSpPr>
        <p:spPr>
          <a:xfrm>
            <a:off x="685800" y="5212080"/>
            <a:ext cx="10820095" cy="777240"/>
          </a:xfrm>
          <a:prstGeom prst="roundRect">
            <a:avLst>
              <a:gd name="adj" fmla="val 16471"/>
            </a:avLst>
          </a:prstGeom>
          <a:solidFill>
            <a:srgbClr val="EAF2FC"/>
          </a:solidFill>
          <a:ln w="12700">
            <a:solidFill>
              <a:srgbClr val="EAF2FC"/>
            </a:solidFill>
            <a:prstDash val="solid"/>
          </a:ln>
        </p:spPr>
      </p:sp>
      <p:pic>
        <p:nvPicPr>
          <p:cNvPr id="20" name="nota icona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4400" y="5436108"/>
            <a:ext cx="329184" cy="329184"/>
          </a:xfrm>
          <a:prstGeom prst="rect">
            <a:avLst/>
          </a:prstGeom>
        </p:spPr>
      </p:pic>
      <p:sp>
        <p:nvSpPr>
          <p:cNvPr id="21" name="nota testo"/>
          <p:cNvSpPr txBox="1"/>
          <p:nvPr/>
        </p:nvSpPr>
        <p:spPr>
          <a:xfrm>
            <a:off x="1417320" y="5212080"/>
            <a:ext cx="985997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4D8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Il resto delle basi è nel livello 1: </a:t>
            </a:r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account, condivisione, computer e telefono, passkey e chiavi hardware.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57255" y="6382512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200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IL MATERIALE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04672"/>
            <a:ext cx="108200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Tre livelli: parti dal primo</a:t>
            </a:r>
            <a:endParaRPr lang="en-US" sz="3400" dirty="0"/>
          </a:p>
        </p:txBody>
      </p:sp>
      <p:sp>
        <p:nvSpPr>
          <p:cNvPr id="4" name="Livello Essenziale"/>
          <p:cNvSpPr/>
          <p:nvPr/>
        </p:nvSpPr>
        <p:spPr>
          <a:xfrm>
            <a:off x="685800" y="1828800"/>
            <a:ext cx="3423818" cy="4160520"/>
          </a:xfrm>
          <a:prstGeom prst="roundRect">
            <a:avLst>
              <a:gd name="adj" fmla="val 3739"/>
            </a:avLst>
          </a:prstGeom>
          <a:solidFill>
            <a:srgbClr val="EAF2FC"/>
          </a:solidFill>
          <a:ln w="12700">
            <a:solidFill>
              <a:srgbClr val="1B4D89"/>
            </a:solidFill>
            <a:prstDash val="solid"/>
          </a:ln>
        </p:spPr>
      </p:sp>
      <p:sp>
        <p:nvSpPr>
          <p:cNvPr id="5" name="Icona Essenziale fondo"/>
          <p:cNvSpPr/>
          <p:nvPr/>
        </p:nvSpPr>
        <p:spPr>
          <a:xfrm>
            <a:off x="1005840" y="2148840"/>
            <a:ext cx="640080" cy="64008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6" name="Icona Essenziale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59459" y="2302459"/>
            <a:ext cx="332842" cy="332842"/>
          </a:xfrm>
          <a:prstGeom prst="rect">
            <a:avLst/>
          </a:prstGeom>
        </p:spPr>
      </p:pic>
      <p:sp>
        <p:nvSpPr>
          <p:cNvPr id="7" name="Badge Essenziale"/>
          <p:cNvSpPr txBox="1"/>
          <p:nvPr/>
        </p:nvSpPr>
        <p:spPr>
          <a:xfrm>
            <a:off x="1828800" y="2286000"/>
            <a:ext cx="205221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 INIZIARE</a:t>
            </a:r>
            <a:endParaRPr lang="en-US" sz="1100" dirty="0"/>
          </a:p>
        </p:txBody>
      </p:sp>
      <p:sp>
        <p:nvSpPr>
          <p:cNvPr id="8" name="Nome Essenziale"/>
          <p:cNvSpPr txBox="1"/>
          <p:nvPr/>
        </p:nvSpPr>
        <p:spPr>
          <a:xfrm>
            <a:off x="1005840" y="2971800"/>
            <a:ext cx="278373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Essenziale</a:t>
            </a:r>
            <a:endParaRPr lang="en-US" sz="2400" dirty="0"/>
          </a:p>
        </p:txBody>
      </p:sp>
      <p:sp>
        <p:nvSpPr>
          <p:cNvPr id="9" name="Per chi Essenziale"/>
          <p:cNvSpPr txBox="1"/>
          <p:nvPr/>
        </p:nvSpPr>
        <p:spPr>
          <a:xfrm>
            <a:off x="1005840" y="3520440"/>
            <a:ext cx="278373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 tutti, anche da zero</a:t>
            </a:r>
            <a:endParaRPr lang="en-US" sz="1500" dirty="0"/>
          </a:p>
        </p:txBody>
      </p:sp>
      <p:sp>
        <p:nvSpPr>
          <p:cNvPr id="10" name="Cosa Essenziale"/>
          <p:cNvSpPr txBox="1"/>
          <p:nvPr/>
        </p:nvSpPr>
        <p:spPr>
          <a:xfrm>
            <a:off x="1005840" y="4297680"/>
            <a:ext cx="278373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Basi di informatica, i rischi di oggi, come ti attaccano e come ti proteggi.</a:t>
            </a:r>
            <a:endParaRPr lang="en-US" sz="1500" dirty="0"/>
          </a:p>
        </p:txBody>
      </p:sp>
      <p:sp>
        <p:nvSpPr>
          <p:cNvPr id="11" name="Meta Essenziale"/>
          <p:cNvSpPr txBox="1"/>
          <p:nvPr/>
        </p:nvSpPr>
        <p:spPr>
          <a:xfrm>
            <a:off x="1005840" y="5486400"/>
            <a:ext cx="278373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chemeClr val="accent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 CAPITOLI · LETTURA 40 MIN</a:t>
            </a:r>
            <a:endParaRPr lang="en-US" sz="1100" dirty="0"/>
          </a:p>
        </p:txBody>
      </p:sp>
      <p:sp>
        <p:nvSpPr>
          <p:cNvPr id="12" name="Livello Avanzato"/>
          <p:cNvSpPr/>
          <p:nvPr/>
        </p:nvSpPr>
        <p:spPr>
          <a:xfrm>
            <a:off x="4383938" y="1828800"/>
            <a:ext cx="3423818" cy="4160520"/>
          </a:xfrm>
          <a:prstGeom prst="roundRect">
            <a:avLst>
              <a:gd name="adj" fmla="val 3739"/>
            </a:avLst>
          </a:prstGeom>
          <a:solidFill>
            <a:srgbClr val="FFFFFF"/>
          </a:solidFill>
          <a:ln w="12700">
            <a:solidFill>
              <a:srgbClr val="E4E8EE"/>
            </a:solidFill>
            <a:prstDash val="solid"/>
          </a:ln>
        </p:spPr>
      </p:sp>
      <p:sp>
        <p:nvSpPr>
          <p:cNvPr id="13" name="Icona Avanzato fondo"/>
          <p:cNvSpPr/>
          <p:nvPr/>
        </p:nvSpPr>
        <p:spPr>
          <a:xfrm>
            <a:off x="4703978" y="2148840"/>
            <a:ext cx="640080" cy="640080"/>
          </a:xfrm>
          <a:prstGeom prst="roundRect">
            <a:avLst>
              <a:gd name="adj" fmla="val 20000"/>
            </a:avLst>
          </a:prstGeom>
          <a:solidFill>
            <a:srgbClr val="EAF2FC"/>
          </a:solidFill>
          <a:ln w="12700">
            <a:solidFill>
              <a:srgbClr val="EAF2FC"/>
            </a:solidFill>
            <a:prstDash val="solid"/>
          </a:ln>
        </p:spPr>
      </p:sp>
      <p:pic>
        <p:nvPicPr>
          <p:cNvPr id="14" name="Icona Avanzato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57598" y="2302459"/>
            <a:ext cx="332842" cy="332842"/>
          </a:xfrm>
          <a:prstGeom prst="rect">
            <a:avLst/>
          </a:prstGeom>
        </p:spPr>
      </p:pic>
      <p:sp>
        <p:nvSpPr>
          <p:cNvPr id="15" name="Badge Avanzato"/>
          <p:cNvSpPr txBox="1"/>
          <p:nvPr/>
        </p:nvSpPr>
        <p:spPr>
          <a:xfrm>
            <a:off x="5526938" y="2286000"/>
            <a:ext cx="205221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chemeClr val="accent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 SEI ESPOSTO</a:t>
            </a:r>
            <a:endParaRPr lang="en-US" sz="1100" dirty="0"/>
          </a:p>
        </p:txBody>
      </p:sp>
      <p:sp>
        <p:nvSpPr>
          <p:cNvPr id="16" name="Nome Avanzato"/>
          <p:cNvSpPr txBox="1"/>
          <p:nvPr/>
        </p:nvSpPr>
        <p:spPr>
          <a:xfrm>
            <a:off x="4703978" y="2971800"/>
            <a:ext cx="278373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Avanzato</a:t>
            </a:r>
            <a:endParaRPr lang="en-US" sz="2400" dirty="0"/>
          </a:p>
        </p:txBody>
      </p:sp>
      <p:sp>
        <p:nvSpPr>
          <p:cNvPr id="17" name="Per chi Avanzato"/>
          <p:cNvSpPr txBox="1"/>
          <p:nvPr/>
        </p:nvSpPr>
        <p:spPr>
          <a:xfrm>
            <a:off x="4703978" y="3520440"/>
            <a:ext cx="278373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Dirigenti, pagamenti, crypto, profilo pubblico</a:t>
            </a:r>
            <a:endParaRPr lang="en-US" sz="1500" dirty="0"/>
          </a:p>
        </p:txBody>
      </p:sp>
      <p:sp>
        <p:nvSpPr>
          <p:cNvPr id="18" name="Cosa Avanzato"/>
          <p:cNvSpPr txBox="1"/>
          <p:nvPr/>
        </p:nvSpPr>
        <p:spPr>
          <a:xfrm>
            <a:off x="4703978" y="4297680"/>
            <a:ext cx="278373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Numero di telefono, email per ruolo, recupero degli account, custodia, coercizione.</a:t>
            </a:r>
            <a:endParaRPr lang="en-US" sz="1500" dirty="0"/>
          </a:p>
        </p:txBody>
      </p:sp>
      <p:sp>
        <p:nvSpPr>
          <p:cNvPr id="19" name="Meta Avanzato"/>
          <p:cNvSpPr txBox="1"/>
          <p:nvPr/>
        </p:nvSpPr>
        <p:spPr>
          <a:xfrm>
            <a:off x="4703978" y="5486400"/>
            <a:ext cx="278373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chemeClr val="accent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 CAPITOLI · LETTURA 40 MIN</a:t>
            </a:r>
            <a:endParaRPr lang="en-US" sz="1100" dirty="0"/>
          </a:p>
        </p:txBody>
      </p:sp>
      <p:sp>
        <p:nvSpPr>
          <p:cNvPr id="20" name="Livello Cypherpunk"/>
          <p:cNvSpPr/>
          <p:nvPr/>
        </p:nvSpPr>
        <p:spPr>
          <a:xfrm>
            <a:off x="8082077" y="1828800"/>
            <a:ext cx="3423818" cy="4160520"/>
          </a:xfrm>
          <a:prstGeom prst="roundRect">
            <a:avLst>
              <a:gd name="adj" fmla="val 3739"/>
            </a:avLst>
          </a:prstGeom>
          <a:solidFill>
            <a:srgbClr val="FFFFFF"/>
          </a:solidFill>
          <a:ln w="12700">
            <a:solidFill>
              <a:srgbClr val="E4E8EE"/>
            </a:solidFill>
            <a:prstDash val="solid"/>
          </a:ln>
        </p:spPr>
      </p:sp>
      <p:sp>
        <p:nvSpPr>
          <p:cNvPr id="21" name="Icona Cypherpunk fondo"/>
          <p:cNvSpPr/>
          <p:nvPr/>
        </p:nvSpPr>
        <p:spPr>
          <a:xfrm>
            <a:off x="8402117" y="2148840"/>
            <a:ext cx="640080" cy="640080"/>
          </a:xfrm>
          <a:prstGeom prst="roundRect">
            <a:avLst>
              <a:gd name="adj" fmla="val 20000"/>
            </a:avLst>
          </a:prstGeom>
          <a:solidFill>
            <a:srgbClr val="EAF2FC"/>
          </a:solidFill>
          <a:ln w="12700">
            <a:solidFill>
              <a:srgbClr val="EAF2FC"/>
            </a:solidFill>
            <a:prstDash val="solid"/>
          </a:ln>
        </p:spPr>
      </p:sp>
      <p:pic>
        <p:nvPicPr>
          <p:cNvPr id="22" name="Icona Cypherpunk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55736" y="2302459"/>
            <a:ext cx="332842" cy="332842"/>
          </a:xfrm>
          <a:prstGeom prst="rect">
            <a:avLst/>
          </a:prstGeom>
        </p:spPr>
      </p:pic>
      <p:sp>
        <p:nvSpPr>
          <p:cNvPr id="23" name="Badge Cypherpunk"/>
          <p:cNvSpPr txBox="1"/>
          <p:nvPr/>
        </p:nvSpPr>
        <p:spPr>
          <a:xfrm>
            <a:off x="9225077" y="2286000"/>
            <a:ext cx="205221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chemeClr val="accent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FACOLTATIVO</a:t>
            </a:r>
            <a:endParaRPr lang="en-US" sz="1100" dirty="0"/>
          </a:p>
        </p:txBody>
      </p:sp>
      <p:sp>
        <p:nvSpPr>
          <p:cNvPr id="24" name="Nome Cypherpunk"/>
          <p:cNvSpPr txBox="1"/>
          <p:nvPr/>
        </p:nvSpPr>
        <p:spPr>
          <a:xfrm>
            <a:off x="8402117" y="2971800"/>
            <a:ext cx="278373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Cypherpunk</a:t>
            </a:r>
            <a:endParaRPr lang="en-US" sz="2400" dirty="0"/>
          </a:p>
        </p:txBody>
      </p:sp>
      <p:sp>
        <p:nvSpPr>
          <p:cNvPr id="25" name="Per chi Cypherpunk"/>
          <p:cNvSpPr txBox="1"/>
          <p:nvPr/>
        </p:nvSpPr>
        <p:spPr>
          <a:xfrm>
            <a:off x="8402117" y="3520440"/>
            <a:ext cx="278373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 chi vuole la privacy massima</a:t>
            </a:r>
            <a:endParaRPr lang="en-US" sz="1500" dirty="0"/>
          </a:p>
        </p:txBody>
      </p:sp>
      <p:sp>
        <p:nvSpPr>
          <p:cNvPr id="26" name="Cosa Cypherpunk"/>
          <p:cNvSpPr txBox="1"/>
          <p:nvPr/>
        </p:nvSpPr>
        <p:spPr>
          <a:xfrm>
            <a:off x="8402117" y="4297680"/>
            <a:ext cx="278373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GrapheneOS, Linux, rete e servizi privati, rimozione dei tuoi dati personali.</a:t>
            </a:r>
            <a:endParaRPr lang="en-US" sz="1500" dirty="0"/>
          </a:p>
        </p:txBody>
      </p:sp>
      <p:sp>
        <p:nvSpPr>
          <p:cNvPr id="27" name="Meta Cypherpunk"/>
          <p:cNvSpPr txBox="1"/>
          <p:nvPr/>
        </p:nvSpPr>
        <p:spPr>
          <a:xfrm>
            <a:off x="8402117" y="5486400"/>
            <a:ext cx="278373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chemeClr val="accent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 CAPITOLI · LETTURA 45 MIN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57255" y="6382512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200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LIVELLO 1 · ESSENZIALE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04672"/>
            <a:ext cx="108200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Cosa trovi nel livello 1</a:t>
            </a:r>
            <a:endParaRPr lang="en-US" sz="3400" dirty="0"/>
          </a:p>
        </p:txBody>
      </p:sp>
      <p:sp>
        <p:nvSpPr>
          <p:cNvPr id="4" name="Sezione Rischi e attacchi"/>
          <p:cNvSpPr/>
          <p:nvPr/>
        </p:nvSpPr>
        <p:spPr>
          <a:xfrm>
            <a:off x="685800" y="1828800"/>
            <a:ext cx="2657153" cy="3657600"/>
          </a:xfrm>
          <a:prstGeom prst="roundRect">
            <a:avLst>
              <a:gd name="adj" fmla="val 4818"/>
            </a:avLst>
          </a:prstGeom>
          <a:solidFill>
            <a:srgbClr val="F6F8FB"/>
          </a:solidFill>
          <a:ln w="12700">
            <a:solidFill>
              <a:srgbClr val="E4E8EE"/>
            </a:solidFill>
            <a:prstDash val="solid"/>
          </a:ln>
        </p:spPr>
      </p:sp>
      <p:sp>
        <p:nvSpPr>
          <p:cNvPr id="5" name="Etichetta Rischi e attacchi"/>
          <p:cNvSpPr txBox="1"/>
          <p:nvPr/>
        </p:nvSpPr>
        <p:spPr>
          <a:xfrm>
            <a:off x="941832" y="2057400"/>
            <a:ext cx="2145089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SEZIONE A</a:t>
            </a:r>
            <a:endParaRPr lang="en-US" sz="1100" dirty="0"/>
          </a:p>
        </p:txBody>
      </p:sp>
      <p:sp>
        <p:nvSpPr>
          <p:cNvPr id="6" name="Nome Rischi e attacchi"/>
          <p:cNvSpPr txBox="1"/>
          <p:nvPr/>
        </p:nvSpPr>
        <p:spPr>
          <a:xfrm>
            <a:off x="941832" y="2331720"/>
            <a:ext cx="2145089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Rischi e attacchi</a:t>
            </a:r>
            <a:endParaRPr lang="en-US" sz="1800" dirty="0"/>
          </a:p>
        </p:txBody>
      </p:sp>
      <p:sp>
        <p:nvSpPr>
          <p:cNvPr id="7" name="Cap 1"/>
          <p:cNvSpPr txBox="1"/>
          <p:nvPr/>
        </p:nvSpPr>
        <p:spPr>
          <a:xfrm>
            <a:off x="941832" y="2880360"/>
            <a:ext cx="3474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8" name="Capitolo I rischi reali, oggi"/>
          <p:cNvSpPr txBox="1"/>
          <p:nvPr/>
        </p:nvSpPr>
        <p:spPr>
          <a:xfrm>
            <a:off x="1307592" y="2880360"/>
            <a:ext cx="1687889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 rischi reali, oggi</a:t>
            </a:r>
            <a:endParaRPr lang="en-US" sz="1400" dirty="0"/>
          </a:p>
        </p:txBody>
      </p:sp>
      <p:sp>
        <p:nvSpPr>
          <p:cNvPr id="9" name="Cap 2"/>
          <p:cNvSpPr txBox="1"/>
          <p:nvPr/>
        </p:nvSpPr>
        <p:spPr>
          <a:xfrm>
            <a:off x="941832" y="3383280"/>
            <a:ext cx="3474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10" name="Capitolo Come ti attaccano: prova tu"/>
          <p:cNvSpPr txBox="1"/>
          <p:nvPr/>
        </p:nvSpPr>
        <p:spPr>
          <a:xfrm>
            <a:off x="1307592" y="3383280"/>
            <a:ext cx="1687889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Come ti attaccano: prova tu</a:t>
            </a:r>
            <a:endParaRPr lang="en-US" sz="1400" dirty="0"/>
          </a:p>
        </p:txBody>
      </p:sp>
      <p:sp>
        <p:nvSpPr>
          <p:cNvPr id="11" name="Cap 3"/>
          <p:cNvSpPr txBox="1"/>
          <p:nvPr/>
        </p:nvSpPr>
        <p:spPr>
          <a:xfrm>
            <a:off x="941832" y="3886200"/>
            <a:ext cx="3474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12" name="Capitolo Riconoscere la trappola: i 7 segnali"/>
          <p:cNvSpPr txBox="1"/>
          <p:nvPr/>
        </p:nvSpPr>
        <p:spPr>
          <a:xfrm>
            <a:off x="1307592" y="3886200"/>
            <a:ext cx="1687889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Riconoscere la trappola: i 7 segnali</a:t>
            </a:r>
            <a:endParaRPr lang="en-US" sz="1400" dirty="0"/>
          </a:p>
        </p:txBody>
      </p:sp>
      <p:sp>
        <p:nvSpPr>
          <p:cNvPr id="13" name="Sezione Le basi"/>
          <p:cNvSpPr/>
          <p:nvPr/>
        </p:nvSpPr>
        <p:spPr>
          <a:xfrm>
            <a:off x="3571553" y="1828800"/>
            <a:ext cx="5048590" cy="3657600"/>
          </a:xfrm>
          <a:prstGeom prst="roundRect">
            <a:avLst>
              <a:gd name="adj" fmla="val 3500"/>
            </a:avLst>
          </a:prstGeom>
          <a:solidFill>
            <a:srgbClr val="EAF2FC"/>
          </a:solidFill>
          <a:ln w="12700">
            <a:solidFill>
              <a:srgbClr val="1B4D89"/>
            </a:solidFill>
            <a:prstDash val="solid"/>
          </a:ln>
        </p:spPr>
      </p:sp>
      <p:sp>
        <p:nvSpPr>
          <p:cNvPr id="14" name="Etichetta Le basi"/>
          <p:cNvSpPr txBox="1"/>
          <p:nvPr/>
        </p:nvSpPr>
        <p:spPr>
          <a:xfrm>
            <a:off x="3827585" y="2057400"/>
            <a:ext cx="453652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SEZIONE B</a:t>
            </a:r>
            <a:endParaRPr lang="en-US" sz="1100" dirty="0"/>
          </a:p>
        </p:txBody>
      </p:sp>
      <p:sp>
        <p:nvSpPr>
          <p:cNvPr id="15" name="Nome Le basi"/>
          <p:cNvSpPr txBox="1"/>
          <p:nvPr/>
        </p:nvSpPr>
        <p:spPr>
          <a:xfrm>
            <a:off x="3827585" y="2331720"/>
            <a:ext cx="453652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 basi</a:t>
            </a:r>
            <a:endParaRPr lang="en-US" sz="1800" dirty="0"/>
          </a:p>
        </p:txBody>
      </p:sp>
      <p:sp>
        <p:nvSpPr>
          <p:cNvPr id="16" name="Cap 4"/>
          <p:cNvSpPr txBox="1"/>
          <p:nvPr/>
        </p:nvSpPr>
        <p:spPr>
          <a:xfrm>
            <a:off x="3827585" y="2880360"/>
            <a:ext cx="3474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200" dirty="0"/>
          </a:p>
        </p:txBody>
      </p:sp>
      <p:sp>
        <p:nvSpPr>
          <p:cNvPr id="17" name="Capitolo Account ed email: come funzionano"/>
          <p:cNvSpPr txBox="1"/>
          <p:nvPr/>
        </p:nvSpPr>
        <p:spPr>
          <a:xfrm>
            <a:off x="4193345" y="2880360"/>
            <a:ext cx="1811063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Account ed email: come funzionano</a:t>
            </a:r>
            <a:endParaRPr lang="en-US" sz="1400" dirty="0"/>
          </a:p>
        </p:txBody>
      </p:sp>
      <p:sp>
        <p:nvSpPr>
          <p:cNvPr id="18" name="Cap 5"/>
          <p:cNvSpPr txBox="1"/>
          <p:nvPr/>
        </p:nvSpPr>
        <p:spPr>
          <a:xfrm>
            <a:off x="3827585" y="3383280"/>
            <a:ext cx="3474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200" dirty="0"/>
          </a:p>
        </p:txBody>
      </p:sp>
      <p:sp>
        <p:nvSpPr>
          <p:cNvPr id="19" name="Capitolo App, siti, account e file: dove vive cosa"/>
          <p:cNvSpPr txBox="1"/>
          <p:nvPr/>
        </p:nvSpPr>
        <p:spPr>
          <a:xfrm>
            <a:off x="4193345" y="3383280"/>
            <a:ext cx="1811063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App, siti, account e file: dove vive cosa</a:t>
            </a:r>
            <a:endParaRPr lang="en-US" sz="1400" dirty="0"/>
          </a:p>
        </p:txBody>
      </p:sp>
      <p:sp>
        <p:nvSpPr>
          <p:cNvPr id="20" name="Cap 6"/>
          <p:cNvSpPr txBox="1"/>
          <p:nvPr/>
        </p:nvSpPr>
        <p:spPr>
          <a:xfrm>
            <a:off x="3827585" y="3886200"/>
            <a:ext cx="3474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200" dirty="0"/>
          </a:p>
        </p:txBody>
      </p:sp>
      <p:sp>
        <p:nvSpPr>
          <p:cNvPr id="21" name="Capitolo Password e password manager"/>
          <p:cNvSpPr txBox="1"/>
          <p:nvPr/>
        </p:nvSpPr>
        <p:spPr>
          <a:xfrm>
            <a:off x="4193345" y="3886200"/>
            <a:ext cx="1811063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Password e password manager</a:t>
            </a:r>
            <a:endParaRPr lang="en-US" sz="1400" dirty="0"/>
          </a:p>
        </p:txBody>
      </p:sp>
      <p:sp>
        <p:nvSpPr>
          <p:cNvPr id="22" name="Cap 7"/>
          <p:cNvSpPr txBox="1"/>
          <p:nvPr/>
        </p:nvSpPr>
        <p:spPr>
          <a:xfrm>
            <a:off x="3827585" y="4389120"/>
            <a:ext cx="3474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200" dirty="0"/>
          </a:p>
        </p:txBody>
      </p:sp>
      <p:sp>
        <p:nvSpPr>
          <p:cNvPr id="23" name="Capitolo 2FA, passkey e chiavi hardware"/>
          <p:cNvSpPr txBox="1"/>
          <p:nvPr/>
        </p:nvSpPr>
        <p:spPr>
          <a:xfrm>
            <a:off x="4193345" y="4389120"/>
            <a:ext cx="1811063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2FA, passkey e chiavi hardware</a:t>
            </a:r>
            <a:endParaRPr lang="en-US" sz="1400" dirty="0"/>
          </a:p>
        </p:txBody>
      </p:sp>
      <p:sp>
        <p:nvSpPr>
          <p:cNvPr id="24" name="Cap 8"/>
          <p:cNvSpPr txBox="1"/>
          <p:nvPr/>
        </p:nvSpPr>
        <p:spPr>
          <a:xfrm>
            <a:off x="6095848" y="2880360"/>
            <a:ext cx="3474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200" dirty="0"/>
          </a:p>
        </p:txBody>
      </p:sp>
      <p:sp>
        <p:nvSpPr>
          <p:cNvPr id="25" name="Capitolo Il browser e i link"/>
          <p:cNvSpPr txBox="1"/>
          <p:nvPr/>
        </p:nvSpPr>
        <p:spPr>
          <a:xfrm>
            <a:off x="6461608" y="2880360"/>
            <a:ext cx="1811063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Il browser e i link</a:t>
            </a:r>
            <a:endParaRPr lang="en-US" sz="1400" dirty="0"/>
          </a:p>
        </p:txBody>
      </p:sp>
      <p:sp>
        <p:nvSpPr>
          <p:cNvPr id="26" name="Cap 9"/>
          <p:cNvSpPr txBox="1"/>
          <p:nvPr/>
        </p:nvSpPr>
        <p:spPr>
          <a:xfrm>
            <a:off x="6095848" y="3383280"/>
            <a:ext cx="3474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1200" dirty="0"/>
          </a:p>
        </p:txBody>
      </p:sp>
      <p:sp>
        <p:nvSpPr>
          <p:cNvPr id="27" name="Capitolo Condividere: chi vede cosa"/>
          <p:cNvSpPr txBox="1"/>
          <p:nvPr/>
        </p:nvSpPr>
        <p:spPr>
          <a:xfrm>
            <a:off x="6461608" y="3383280"/>
            <a:ext cx="1811063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Condividere: chi vede cosa</a:t>
            </a:r>
            <a:endParaRPr lang="en-US" sz="1400" dirty="0"/>
          </a:p>
        </p:txBody>
      </p:sp>
      <p:sp>
        <p:nvSpPr>
          <p:cNvPr id="28" name="Cap 10"/>
          <p:cNvSpPr txBox="1"/>
          <p:nvPr/>
        </p:nvSpPr>
        <p:spPr>
          <a:xfrm>
            <a:off x="6095848" y="3886200"/>
            <a:ext cx="3474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200" dirty="0"/>
          </a:p>
        </p:txBody>
      </p:sp>
      <p:sp>
        <p:nvSpPr>
          <p:cNvPr id="29" name="Capitolo Computer e telefono"/>
          <p:cNvSpPr txBox="1"/>
          <p:nvPr/>
        </p:nvSpPr>
        <p:spPr>
          <a:xfrm>
            <a:off x="6461608" y="3886200"/>
            <a:ext cx="1811063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Computer e telefono</a:t>
            </a:r>
            <a:endParaRPr lang="en-US" sz="1400" dirty="0"/>
          </a:p>
        </p:txBody>
      </p:sp>
      <p:sp>
        <p:nvSpPr>
          <p:cNvPr id="30" name="Cap 11"/>
          <p:cNvSpPr txBox="1"/>
          <p:nvPr/>
        </p:nvSpPr>
        <p:spPr>
          <a:xfrm>
            <a:off x="6095848" y="4389120"/>
            <a:ext cx="3474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200" dirty="0"/>
          </a:p>
        </p:txBody>
      </p:sp>
      <p:sp>
        <p:nvSpPr>
          <p:cNvPr id="31" name="Capitolo Backup"/>
          <p:cNvSpPr txBox="1"/>
          <p:nvPr/>
        </p:nvSpPr>
        <p:spPr>
          <a:xfrm>
            <a:off x="6461608" y="4389120"/>
            <a:ext cx="1811063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Backup</a:t>
            </a:r>
            <a:endParaRPr lang="en-US" sz="1400" dirty="0"/>
          </a:p>
        </p:txBody>
      </p:sp>
      <p:sp>
        <p:nvSpPr>
          <p:cNvPr id="32" name="Tag Da zero"/>
          <p:cNvSpPr/>
          <p:nvPr/>
        </p:nvSpPr>
        <p:spPr>
          <a:xfrm>
            <a:off x="7449711" y="2011680"/>
            <a:ext cx="941832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B4D89"/>
            </a:solidFill>
            <a:prstDash val="solid"/>
          </a:ln>
        </p:spPr>
      </p:sp>
      <p:sp>
        <p:nvSpPr>
          <p:cNvPr id="33" name="Tag testo"/>
          <p:cNvSpPr txBox="1"/>
          <p:nvPr/>
        </p:nvSpPr>
        <p:spPr>
          <a:xfrm>
            <a:off x="7449711" y="2011680"/>
            <a:ext cx="9418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 zero</a:t>
            </a:r>
            <a:endParaRPr lang="en-US" sz="1100" dirty="0"/>
          </a:p>
        </p:txBody>
      </p:sp>
      <p:sp>
        <p:nvSpPr>
          <p:cNvPr id="34" name="Sezione Strumenti e verifica"/>
          <p:cNvSpPr/>
          <p:nvPr/>
        </p:nvSpPr>
        <p:spPr>
          <a:xfrm>
            <a:off x="8848743" y="1828800"/>
            <a:ext cx="2657153" cy="3657600"/>
          </a:xfrm>
          <a:prstGeom prst="roundRect">
            <a:avLst>
              <a:gd name="adj" fmla="val 4818"/>
            </a:avLst>
          </a:prstGeom>
          <a:solidFill>
            <a:srgbClr val="F6F8FB"/>
          </a:solidFill>
          <a:ln w="12700">
            <a:solidFill>
              <a:srgbClr val="E4E8EE"/>
            </a:solidFill>
            <a:prstDash val="solid"/>
          </a:ln>
        </p:spPr>
      </p:sp>
      <p:sp>
        <p:nvSpPr>
          <p:cNvPr id="35" name="Etichetta Strumenti e verifica"/>
          <p:cNvSpPr txBox="1"/>
          <p:nvPr/>
        </p:nvSpPr>
        <p:spPr>
          <a:xfrm>
            <a:off x="9104775" y="2057400"/>
            <a:ext cx="2145089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SEZIONE C</a:t>
            </a:r>
            <a:endParaRPr lang="en-US" sz="1100" dirty="0"/>
          </a:p>
        </p:txBody>
      </p:sp>
      <p:sp>
        <p:nvSpPr>
          <p:cNvPr id="36" name="Nome Strumenti e verifica"/>
          <p:cNvSpPr txBox="1"/>
          <p:nvPr/>
        </p:nvSpPr>
        <p:spPr>
          <a:xfrm>
            <a:off x="9104775" y="2331720"/>
            <a:ext cx="2145089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Strumenti e verifica</a:t>
            </a:r>
            <a:endParaRPr lang="en-US" sz="1800" dirty="0"/>
          </a:p>
        </p:txBody>
      </p:sp>
      <p:sp>
        <p:nvSpPr>
          <p:cNvPr id="37" name="Cap 12"/>
          <p:cNvSpPr txBox="1"/>
          <p:nvPr/>
        </p:nvSpPr>
        <p:spPr>
          <a:xfrm>
            <a:off x="9104775" y="2880360"/>
            <a:ext cx="3474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1200" dirty="0"/>
          </a:p>
        </p:txBody>
      </p:sp>
      <p:sp>
        <p:nvSpPr>
          <p:cNvPr id="38" name="Capitolo Tech stack personale"/>
          <p:cNvSpPr txBox="1"/>
          <p:nvPr/>
        </p:nvSpPr>
        <p:spPr>
          <a:xfrm>
            <a:off x="9470535" y="2880360"/>
            <a:ext cx="1687889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Tech stack personale</a:t>
            </a:r>
            <a:endParaRPr lang="en-US" sz="1400" dirty="0"/>
          </a:p>
        </p:txBody>
      </p:sp>
      <p:sp>
        <p:nvSpPr>
          <p:cNvPr id="39" name="Cap 13"/>
          <p:cNvSpPr txBox="1"/>
          <p:nvPr/>
        </p:nvSpPr>
        <p:spPr>
          <a:xfrm>
            <a:off x="9104775" y="3383280"/>
            <a:ext cx="3474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1200" dirty="0"/>
          </a:p>
        </p:txBody>
      </p:sp>
      <p:sp>
        <p:nvSpPr>
          <p:cNvPr id="40" name="Capitolo Checklist"/>
          <p:cNvSpPr txBox="1"/>
          <p:nvPr/>
        </p:nvSpPr>
        <p:spPr>
          <a:xfrm>
            <a:off x="9470535" y="3383280"/>
            <a:ext cx="1687889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Checklist</a:t>
            </a:r>
            <a:endParaRPr lang="en-US" sz="1400" dirty="0"/>
          </a:p>
        </p:txBody>
      </p:sp>
      <p:sp>
        <p:nvSpPr>
          <p:cNvPr id="41" name="Cap 14"/>
          <p:cNvSpPr txBox="1"/>
          <p:nvPr/>
        </p:nvSpPr>
        <p:spPr>
          <a:xfrm>
            <a:off x="9104775" y="3886200"/>
            <a:ext cx="3474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1200" dirty="0"/>
          </a:p>
        </p:txBody>
      </p:sp>
      <p:sp>
        <p:nvSpPr>
          <p:cNvPr id="42" name="Capitolo Mettiti alla prova"/>
          <p:cNvSpPr txBox="1"/>
          <p:nvPr/>
        </p:nvSpPr>
        <p:spPr>
          <a:xfrm>
            <a:off x="9470535" y="3886200"/>
            <a:ext cx="1687889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Mettiti alla prova</a:t>
            </a:r>
            <a:endParaRPr lang="en-US" sz="1400" dirty="0"/>
          </a:p>
        </p:txBody>
      </p:sp>
      <p:sp>
        <p:nvSpPr>
          <p:cNvPr id="43" name="Cap 15"/>
          <p:cNvSpPr txBox="1"/>
          <p:nvPr/>
        </p:nvSpPr>
        <p:spPr>
          <a:xfrm>
            <a:off x="9104775" y="4389120"/>
            <a:ext cx="3474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1200" dirty="0"/>
          </a:p>
        </p:txBody>
      </p:sp>
      <p:sp>
        <p:nvSpPr>
          <p:cNvPr id="44" name="Capitolo Glossario"/>
          <p:cNvSpPr txBox="1"/>
          <p:nvPr/>
        </p:nvSpPr>
        <p:spPr>
          <a:xfrm>
            <a:off x="9470535" y="4389120"/>
            <a:ext cx="1687889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Glossario</a:t>
            </a:r>
            <a:endParaRPr lang="en-US" sz="1400" dirty="0"/>
          </a:p>
        </p:txBody>
      </p:sp>
      <p:sp>
        <p:nvSpPr>
          <p:cNvPr id="45" name="Cap 16"/>
          <p:cNvSpPr txBox="1"/>
          <p:nvPr/>
        </p:nvSpPr>
        <p:spPr>
          <a:xfrm>
            <a:off x="9104775" y="4892040"/>
            <a:ext cx="3474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</a:t>
            </a:r>
            <a:endParaRPr lang="en-US" sz="1200" dirty="0"/>
          </a:p>
        </p:txBody>
      </p:sp>
      <p:sp>
        <p:nvSpPr>
          <p:cNvPr id="46" name="Capitolo Fonti"/>
          <p:cNvSpPr txBox="1"/>
          <p:nvPr/>
        </p:nvSpPr>
        <p:spPr>
          <a:xfrm>
            <a:off x="9470535" y="4892040"/>
            <a:ext cx="1687889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Fonti</a:t>
            </a:r>
            <a:endParaRPr lang="en-US" sz="1400" dirty="0"/>
          </a:p>
        </p:txBody>
      </p:sp>
      <p:sp>
        <p:nvSpPr>
          <p:cNvPr id="47" name="nota Già pratico?"/>
          <p:cNvSpPr/>
          <p:nvPr/>
        </p:nvSpPr>
        <p:spPr>
          <a:xfrm>
            <a:off x="685800" y="5650992"/>
            <a:ext cx="10820095" cy="566928"/>
          </a:xfrm>
          <a:prstGeom prst="roundRect">
            <a:avLst>
              <a:gd name="adj" fmla="val 22581"/>
            </a:avLst>
          </a:prstGeom>
          <a:solidFill>
            <a:srgbClr val="F6F8FB"/>
          </a:solidFill>
          <a:ln w="12700">
            <a:solidFill>
              <a:srgbClr val="F6F8FB"/>
            </a:solidFill>
            <a:prstDash val="solid"/>
          </a:ln>
        </p:spPr>
      </p:sp>
      <p:pic>
        <p:nvPicPr>
          <p:cNvPr id="48" name="nota icona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0" y="5769864"/>
            <a:ext cx="329184" cy="329184"/>
          </a:xfrm>
          <a:prstGeom prst="rect">
            <a:avLst/>
          </a:prstGeom>
        </p:spPr>
      </p:pic>
      <p:sp>
        <p:nvSpPr>
          <p:cNvPr id="49" name="nota testo"/>
          <p:cNvSpPr txBox="1"/>
          <p:nvPr/>
        </p:nvSpPr>
        <p:spPr>
          <a:xfrm>
            <a:off x="1417320" y="5650992"/>
            <a:ext cx="985997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4D8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Già pratico? </a:t>
            </a:r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Salta i capitoli “Da zero” e vai dritto a strumenti, checklist da 22 punti e test da 10 domande.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57255" y="6382512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200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ADESSO, INSIEME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04672"/>
            <a:ext cx="108200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Tre cose da fare in 10 minuti</a:t>
            </a:r>
            <a:endParaRPr lang="en-US" sz="3400" dirty="0"/>
          </a:p>
        </p:txBody>
      </p:sp>
      <p:sp>
        <p:nvSpPr>
          <p:cNvPr id="4" name="Tempo"/>
          <p:cNvSpPr/>
          <p:nvPr/>
        </p:nvSpPr>
        <p:spPr>
          <a:xfrm>
            <a:off x="9905695" y="868680"/>
            <a:ext cx="1600200" cy="457200"/>
          </a:xfrm>
          <a:prstGeom prst="roundRect">
            <a:avLst>
              <a:gd name="adj" fmla="val 50000"/>
            </a:avLst>
          </a:prstGeom>
          <a:solidFill>
            <a:srgbClr val="ECFDF3"/>
          </a:solidFill>
          <a:ln w="12700">
            <a:solidFill>
              <a:srgbClr val="ECFDF3"/>
            </a:solidFill>
            <a:prstDash val="solid"/>
          </a:ln>
        </p:spPr>
      </p:sp>
      <p:pic>
        <p:nvPicPr>
          <p:cNvPr id="5" name="Tempo icona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88575" y="978408"/>
            <a:ext cx="237744" cy="237744"/>
          </a:xfrm>
          <a:prstGeom prst="rect">
            <a:avLst/>
          </a:prstGeom>
        </p:spPr>
      </p:pic>
      <p:sp>
        <p:nvSpPr>
          <p:cNvPr id="6" name="Tempo testo"/>
          <p:cNvSpPr txBox="1"/>
          <p:nvPr/>
        </p:nvSpPr>
        <p:spPr>
          <a:xfrm>
            <a:off x="10362895" y="868680"/>
            <a:ext cx="1051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minuti</a:t>
            </a:r>
            <a:endParaRPr lang="en-US" sz="1400" dirty="0"/>
          </a:p>
        </p:txBody>
      </p:sp>
      <p:sp>
        <p:nvSpPr>
          <p:cNvPr id="7" name="Azione 1"/>
          <p:cNvSpPr/>
          <p:nvPr/>
        </p:nvSpPr>
        <p:spPr>
          <a:xfrm>
            <a:off x="685800" y="1828800"/>
            <a:ext cx="10820095" cy="1188720"/>
          </a:xfrm>
          <a:prstGeom prst="roundRect">
            <a:avLst>
              <a:gd name="adj" fmla="val 10769"/>
            </a:avLst>
          </a:prstGeom>
          <a:solidFill>
            <a:srgbClr val="F6F8FB"/>
          </a:solidFill>
          <a:ln w="12700">
            <a:solidFill>
              <a:srgbClr val="E4E8EE"/>
            </a:solidFill>
            <a:prstDash val="solid"/>
          </a:ln>
        </p:spPr>
      </p:sp>
      <p:sp>
        <p:nvSpPr>
          <p:cNvPr id="8" name="numero 1"/>
          <p:cNvSpPr/>
          <p:nvPr/>
        </p:nvSpPr>
        <p:spPr>
          <a:xfrm>
            <a:off x="960120" y="2167128"/>
            <a:ext cx="512064" cy="512064"/>
          </a:xfrm>
          <a:prstGeom prst="ellipse">
            <a:avLst/>
          </a:prstGeom>
          <a:solidFill>
            <a:srgbClr val="1B4D89"/>
          </a:solidFill>
          <a:ln w="12700">
            <a:solidFill>
              <a:srgbClr val="1B4D89"/>
            </a:solidFill>
            <a:prstDash val="solid"/>
          </a:ln>
        </p:spPr>
      </p:sp>
      <p:sp>
        <p:nvSpPr>
          <p:cNvPr id="9" name="numero testo 1"/>
          <p:cNvSpPr txBox="1"/>
          <p:nvPr/>
        </p:nvSpPr>
        <p:spPr>
          <a:xfrm>
            <a:off x="960120" y="2167128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800" dirty="0"/>
          </a:p>
        </p:txBody>
      </p:sp>
      <p:sp>
        <p:nvSpPr>
          <p:cNvPr id="10" name="Icona azione 1 fondo"/>
          <p:cNvSpPr/>
          <p:nvPr/>
        </p:nvSpPr>
        <p:spPr>
          <a:xfrm>
            <a:off x="1691640" y="2103120"/>
            <a:ext cx="640080" cy="640080"/>
          </a:xfrm>
          <a:prstGeom prst="roundRect">
            <a:avLst>
              <a:gd name="adj" fmla="val 20000"/>
            </a:avLst>
          </a:prstGeom>
          <a:solidFill>
            <a:srgbClr val="EAF2FC"/>
          </a:solidFill>
          <a:ln w="12700">
            <a:solidFill>
              <a:srgbClr val="EAF2FC"/>
            </a:solidFill>
            <a:prstDash val="solid"/>
          </a:ln>
        </p:spPr>
      </p:sp>
      <p:pic>
        <p:nvPicPr>
          <p:cNvPr id="11" name="Icona azion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45259" y="2256739"/>
            <a:ext cx="332842" cy="332842"/>
          </a:xfrm>
          <a:prstGeom prst="rect">
            <a:avLst/>
          </a:prstGeom>
        </p:spPr>
      </p:pic>
      <p:sp>
        <p:nvSpPr>
          <p:cNvPr id="12" name="Azione titolo 1"/>
          <p:cNvSpPr txBox="1"/>
          <p:nvPr/>
        </p:nvSpPr>
        <p:spPr>
          <a:xfrm>
            <a:off x="2560320" y="2011680"/>
            <a:ext cx="862553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Attiva la verifica in due passaggi sulla tua email principale</a:t>
            </a:r>
            <a:endParaRPr lang="en-US" sz="2000" dirty="0"/>
          </a:p>
        </p:txBody>
      </p:sp>
      <p:sp>
        <p:nvSpPr>
          <p:cNvPr id="13" name="Azione testo 1"/>
          <p:cNvSpPr txBox="1"/>
          <p:nvPr/>
        </p:nvSpPr>
        <p:spPr>
          <a:xfrm>
            <a:off x="2560320" y="2450592"/>
            <a:ext cx="86255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Impostazioni dell’account, sezione Sicurezza. Meglio un’app di autenticazione o una passkey dell’SMS.</a:t>
            </a:r>
            <a:endParaRPr lang="en-US" sz="1500" dirty="0"/>
          </a:p>
        </p:txBody>
      </p:sp>
      <p:sp>
        <p:nvSpPr>
          <p:cNvPr id="14" name="Azione 2"/>
          <p:cNvSpPr/>
          <p:nvPr/>
        </p:nvSpPr>
        <p:spPr>
          <a:xfrm>
            <a:off x="685800" y="3200400"/>
            <a:ext cx="10820095" cy="1188720"/>
          </a:xfrm>
          <a:prstGeom prst="roundRect">
            <a:avLst>
              <a:gd name="adj" fmla="val 10769"/>
            </a:avLst>
          </a:prstGeom>
          <a:solidFill>
            <a:srgbClr val="F6F8FB"/>
          </a:solidFill>
          <a:ln w="12700">
            <a:solidFill>
              <a:srgbClr val="E4E8EE"/>
            </a:solidFill>
            <a:prstDash val="solid"/>
          </a:ln>
        </p:spPr>
      </p:sp>
      <p:sp>
        <p:nvSpPr>
          <p:cNvPr id="15" name="numero 2"/>
          <p:cNvSpPr/>
          <p:nvPr/>
        </p:nvSpPr>
        <p:spPr>
          <a:xfrm>
            <a:off x="960120" y="3538728"/>
            <a:ext cx="512064" cy="512064"/>
          </a:xfrm>
          <a:prstGeom prst="ellipse">
            <a:avLst/>
          </a:prstGeom>
          <a:solidFill>
            <a:srgbClr val="1B4D89"/>
          </a:solidFill>
          <a:ln w="12700">
            <a:solidFill>
              <a:srgbClr val="1B4D89"/>
            </a:solidFill>
            <a:prstDash val="solid"/>
          </a:ln>
        </p:spPr>
      </p:sp>
      <p:sp>
        <p:nvSpPr>
          <p:cNvPr id="16" name="numero testo 2"/>
          <p:cNvSpPr txBox="1"/>
          <p:nvPr/>
        </p:nvSpPr>
        <p:spPr>
          <a:xfrm>
            <a:off x="960120" y="3538728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800" dirty="0"/>
          </a:p>
        </p:txBody>
      </p:sp>
      <p:sp>
        <p:nvSpPr>
          <p:cNvPr id="17" name="Icona azione 2 fondo"/>
          <p:cNvSpPr/>
          <p:nvPr/>
        </p:nvSpPr>
        <p:spPr>
          <a:xfrm>
            <a:off x="1691640" y="3474720"/>
            <a:ext cx="640080" cy="640080"/>
          </a:xfrm>
          <a:prstGeom prst="roundRect">
            <a:avLst>
              <a:gd name="adj" fmla="val 20000"/>
            </a:avLst>
          </a:prstGeom>
          <a:solidFill>
            <a:srgbClr val="EAF2FC"/>
          </a:solidFill>
          <a:ln w="12700">
            <a:solidFill>
              <a:srgbClr val="EAF2FC"/>
            </a:solidFill>
            <a:prstDash val="solid"/>
          </a:ln>
        </p:spPr>
      </p:sp>
      <p:pic>
        <p:nvPicPr>
          <p:cNvPr id="18" name="Icona azion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45259" y="3628339"/>
            <a:ext cx="332842" cy="332842"/>
          </a:xfrm>
          <a:prstGeom prst="rect">
            <a:avLst/>
          </a:prstGeom>
        </p:spPr>
      </p:pic>
      <p:sp>
        <p:nvSpPr>
          <p:cNvPr id="19" name="Azione titolo 2"/>
          <p:cNvSpPr txBox="1"/>
          <p:nvPr/>
        </p:nvSpPr>
        <p:spPr>
          <a:xfrm>
            <a:off x="2560320" y="3383280"/>
            <a:ext cx="862553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Controlla se la tua email è finita in una fuga di dati</a:t>
            </a:r>
            <a:endParaRPr lang="en-US" sz="2000" dirty="0"/>
          </a:p>
        </p:txBody>
      </p:sp>
      <p:sp>
        <p:nvSpPr>
          <p:cNvPr id="20" name="Azione testo 2"/>
          <p:cNvSpPr txBox="1"/>
          <p:nvPr/>
        </p:nvSpPr>
        <p:spPr>
          <a:xfrm>
            <a:off x="2560320" y="3822192"/>
            <a:ext cx="86255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 haveibeenpwned.com. Se compare, cambia la password di quel servizio e di ogni sito dove l’avevi riusata.</a:t>
            </a:r>
            <a:endParaRPr lang="en-US" sz="1500" dirty="0"/>
          </a:p>
        </p:txBody>
      </p:sp>
      <p:sp>
        <p:nvSpPr>
          <p:cNvPr id="21" name="Azione 3"/>
          <p:cNvSpPr/>
          <p:nvPr/>
        </p:nvSpPr>
        <p:spPr>
          <a:xfrm>
            <a:off x="685800" y="4572000"/>
            <a:ext cx="10820095" cy="1188720"/>
          </a:xfrm>
          <a:prstGeom prst="roundRect">
            <a:avLst>
              <a:gd name="adj" fmla="val 10769"/>
            </a:avLst>
          </a:prstGeom>
          <a:solidFill>
            <a:srgbClr val="F6F8FB"/>
          </a:solidFill>
          <a:ln w="12700">
            <a:solidFill>
              <a:srgbClr val="E4E8EE"/>
            </a:solidFill>
            <a:prstDash val="solid"/>
          </a:ln>
        </p:spPr>
      </p:sp>
      <p:sp>
        <p:nvSpPr>
          <p:cNvPr id="22" name="numero 3"/>
          <p:cNvSpPr/>
          <p:nvPr/>
        </p:nvSpPr>
        <p:spPr>
          <a:xfrm>
            <a:off x="960120" y="4910328"/>
            <a:ext cx="512064" cy="512064"/>
          </a:xfrm>
          <a:prstGeom prst="ellipse">
            <a:avLst/>
          </a:prstGeom>
          <a:solidFill>
            <a:srgbClr val="1B4D89"/>
          </a:solidFill>
          <a:ln w="12700">
            <a:solidFill>
              <a:srgbClr val="1B4D89"/>
            </a:solidFill>
            <a:prstDash val="solid"/>
          </a:ln>
        </p:spPr>
      </p:sp>
      <p:sp>
        <p:nvSpPr>
          <p:cNvPr id="23" name="numero testo 3"/>
          <p:cNvSpPr txBox="1"/>
          <p:nvPr/>
        </p:nvSpPr>
        <p:spPr>
          <a:xfrm>
            <a:off x="960120" y="4910328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800" dirty="0"/>
          </a:p>
        </p:txBody>
      </p:sp>
      <p:sp>
        <p:nvSpPr>
          <p:cNvPr id="24" name="Icona azione 3 fondo"/>
          <p:cNvSpPr/>
          <p:nvPr/>
        </p:nvSpPr>
        <p:spPr>
          <a:xfrm>
            <a:off x="1691640" y="4846320"/>
            <a:ext cx="640080" cy="640080"/>
          </a:xfrm>
          <a:prstGeom prst="roundRect">
            <a:avLst>
              <a:gd name="adj" fmla="val 20000"/>
            </a:avLst>
          </a:prstGeom>
          <a:solidFill>
            <a:srgbClr val="EAF2FC"/>
          </a:solidFill>
          <a:ln w="12700">
            <a:solidFill>
              <a:srgbClr val="EAF2FC"/>
            </a:solidFill>
            <a:prstDash val="solid"/>
          </a:ln>
        </p:spPr>
      </p:sp>
      <p:pic>
        <p:nvPicPr>
          <p:cNvPr id="25" name="Icona azion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45259" y="4999939"/>
            <a:ext cx="332842" cy="332842"/>
          </a:xfrm>
          <a:prstGeom prst="rect">
            <a:avLst/>
          </a:prstGeom>
        </p:spPr>
      </p:pic>
      <p:sp>
        <p:nvSpPr>
          <p:cNvPr id="26" name="Azione titolo 3"/>
          <p:cNvSpPr txBox="1"/>
          <p:nvPr/>
        </p:nvSpPr>
        <p:spPr>
          <a:xfrm>
            <a:off x="2560320" y="4754880"/>
            <a:ext cx="862553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Aggiorna telefono e browser</a:t>
            </a:r>
            <a:endParaRPr lang="en-US" sz="2000" dirty="0"/>
          </a:p>
        </p:txBody>
      </p:sp>
      <p:sp>
        <p:nvSpPr>
          <p:cNvPr id="27" name="Azione testo 3"/>
          <p:cNvSpPr txBox="1"/>
          <p:nvPr/>
        </p:nvSpPr>
        <p:spPr>
          <a:xfrm>
            <a:off x="2560320" y="5193792"/>
            <a:ext cx="86255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Dalle impostazioni del telefono e del browser. Mai da un avviso che compare su una pagina web.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57255" y="6382512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200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DOPO L’INCONTRO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04672"/>
            <a:ext cx="108200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Il resto lo leggi con calma</a:t>
            </a:r>
            <a:endParaRPr lang="en-US" sz="3400" dirty="0"/>
          </a:p>
        </p:txBody>
      </p:sp>
      <p:sp>
        <p:nvSpPr>
          <p:cNvPr id="4" name="Come si usa"/>
          <p:cNvSpPr/>
          <p:nvPr/>
        </p:nvSpPr>
        <p:spPr>
          <a:xfrm>
            <a:off x="685800" y="1828800"/>
            <a:ext cx="4983480" cy="4206240"/>
          </a:xfrm>
          <a:prstGeom prst="roundRect">
            <a:avLst>
              <a:gd name="adj" fmla="val 3043"/>
            </a:avLst>
          </a:prstGeom>
          <a:solidFill>
            <a:srgbClr val="F6F8FB"/>
          </a:solidFill>
          <a:ln w="12700">
            <a:solidFill>
              <a:srgbClr val="E4E8EE"/>
            </a:solidFill>
            <a:prstDash val="solid"/>
          </a:ln>
        </p:spPr>
      </p:sp>
      <p:sp>
        <p:nvSpPr>
          <p:cNvPr id="5" name="Come si usa titolo"/>
          <p:cNvSpPr txBox="1"/>
          <p:nvPr/>
        </p:nvSpPr>
        <p:spPr>
          <a:xfrm>
            <a:off x="1005840" y="2103120"/>
            <a:ext cx="4343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COME SI USA IL MATERIALE</a:t>
            </a:r>
            <a:endParaRPr lang="en-US" sz="1200" dirty="0"/>
          </a:p>
        </p:txBody>
      </p:sp>
      <p:sp>
        <p:nvSpPr>
          <p:cNvPr id="6" name="Uso 0 fondo"/>
          <p:cNvSpPr/>
          <p:nvPr/>
        </p:nvSpPr>
        <p:spPr>
          <a:xfrm>
            <a:off x="1005840" y="2606040"/>
            <a:ext cx="502920" cy="50292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7" name="Uso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26541" y="2726741"/>
            <a:ext cx="261518" cy="261518"/>
          </a:xfrm>
          <a:prstGeom prst="rect">
            <a:avLst/>
          </a:prstGeom>
        </p:spPr>
      </p:pic>
      <p:sp>
        <p:nvSpPr>
          <p:cNvPr id="8" name="Uso testo 0"/>
          <p:cNvSpPr txBox="1"/>
          <p:nvPr/>
        </p:nvSpPr>
        <p:spPr>
          <a:xfrm>
            <a:off x="1691640" y="2560320"/>
            <a:ext cx="3657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Apri il file nel browser, anche dal telefono</a:t>
            </a:r>
            <a:endParaRPr lang="en-US" sz="1500" dirty="0"/>
          </a:p>
        </p:txBody>
      </p:sp>
      <p:sp>
        <p:nvSpPr>
          <p:cNvPr id="9" name="Uso 1 fondo"/>
          <p:cNvSpPr/>
          <p:nvPr/>
        </p:nvSpPr>
        <p:spPr>
          <a:xfrm>
            <a:off x="1005840" y="3429000"/>
            <a:ext cx="502920" cy="50292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10" name="Uso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6541" y="3549701"/>
            <a:ext cx="261518" cy="261518"/>
          </a:xfrm>
          <a:prstGeom prst="rect">
            <a:avLst/>
          </a:prstGeom>
        </p:spPr>
      </p:pic>
      <p:sp>
        <p:nvSpPr>
          <p:cNvPr id="11" name="Uso testo 1"/>
          <p:cNvSpPr txBox="1"/>
          <p:nvPr/>
        </p:nvSpPr>
        <p:spPr>
          <a:xfrm>
            <a:off x="1691640" y="3383280"/>
            <a:ext cx="3657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Italiano o inglese: interruttore in alto a destra</a:t>
            </a:r>
            <a:endParaRPr lang="en-US" sz="1500" dirty="0"/>
          </a:p>
        </p:txBody>
      </p:sp>
      <p:sp>
        <p:nvSpPr>
          <p:cNvPr id="12" name="Uso 2 fondo"/>
          <p:cNvSpPr/>
          <p:nvPr/>
        </p:nvSpPr>
        <p:spPr>
          <a:xfrm>
            <a:off x="1005840" y="4251960"/>
            <a:ext cx="502920" cy="50292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13" name="Uso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6541" y="4372661"/>
            <a:ext cx="261518" cy="261518"/>
          </a:xfrm>
          <a:prstGeom prst="rect">
            <a:avLst/>
          </a:prstGeom>
        </p:spPr>
      </p:pic>
      <p:sp>
        <p:nvSpPr>
          <p:cNvPr id="14" name="Uso testo 2"/>
          <p:cNvSpPr txBox="1"/>
          <p:nvPr/>
        </p:nvSpPr>
        <p:spPr>
          <a:xfrm>
            <a:off x="1691640" y="4206240"/>
            <a:ext cx="3657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Capitoli nel menu a sinistra, ognuno con il riassunto in cima</a:t>
            </a:r>
            <a:endParaRPr lang="en-US" sz="1500" dirty="0"/>
          </a:p>
        </p:txBody>
      </p:sp>
      <p:sp>
        <p:nvSpPr>
          <p:cNvPr id="15" name="Uso 3 fondo"/>
          <p:cNvSpPr/>
          <p:nvPr/>
        </p:nvSpPr>
        <p:spPr>
          <a:xfrm>
            <a:off x="1005840" y="5074920"/>
            <a:ext cx="502920" cy="50292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16" name="Uso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26541" y="5195621"/>
            <a:ext cx="261518" cy="261518"/>
          </a:xfrm>
          <a:prstGeom prst="rect">
            <a:avLst/>
          </a:prstGeom>
        </p:spPr>
      </p:pic>
      <p:sp>
        <p:nvSpPr>
          <p:cNvPr id="17" name="Uso testo 3"/>
          <p:cNvSpPr txBox="1"/>
          <p:nvPr/>
        </p:nvSpPr>
        <p:spPr>
          <a:xfrm>
            <a:off x="1691640" y="5029200"/>
            <a:ext cx="3657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checklist si salva da sola sul tuo dispositivo</a:t>
            </a:r>
            <a:endParaRPr lang="en-US" sz="1500" dirty="0"/>
          </a:p>
        </p:txBody>
      </p:sp>
      <p:sp>
        <p:nvSpPr>
          <p:cNvPr id="18" name="Programma titolo"/>
          <p:cNvSpPr txBox="1"/>
          <p:nvPr/>
        </p:nvSpPr>
        <p:spPr>
          <a:xfrm>
            <a:off x="5989320" y="2103120"/>
            <a:ext cx="55165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IL TUO PROGRAMMA</a:t>
            </a:r>
            <a:endParaRPr lang="en-US" sz="1200" dirty="0"/>
          </a:p>
        </p:txBody>
      </p:sp>
      <p:sp>
        <p:nvSpPr>
          <p:cNvPr id="19" name="Linea programma"/>
          <p:cNvSpPr/>
          <p:nvPr/>
        </p:nvSpPr>
        <p:spPr>
          <a:xfrm>
            <a:off x="6117336" y="2697480"/>
            <a:ext cx="0" cy="2346960"/>
          </a:xfrm>
          <a:prstGeom prst="line">
            <a:avLst/>
          </a:prstGeom>
          <a:noFill/>
          <a:ln w="25400">
            <a:solidFill>
              <a:srgbClr val="E4E8EE"/>
            </a:solidFill>
            <a:prstDash val="solid"/>
          </a:ln>
        </p:spPr>
      </p:sp>
      <p:sp>
        <p:nvSpPr>
          <p:cNvPr id="20" name="Punto Entro una settimana"/>
          <p:cNvSpPr/>
          <p:nvPr/>
        </p:nvSpPr>
        <p:spPr>
          <a:xfrm>
            <a:off x="5989320" y="2624328"/>
            <a:ext cx="256032" cy="256032"/>
          </a:xfrm>
          <a:prstGeom prst="ellipse">
            <a:avLst/>
          </a:prstGeom>
          <a:solidFill>
            <a:srgbClr val="1B4D89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21" name="Quando Entro una settimana"/>
          <p:cNvSpPr txBox="1"/>
          <p:nvPr/>
        </p:nvSpPr>
        <p:spPr>
          <a:xfrm>
            <a:off x="6492240" y="2560320"/>
            <a:ext cx="501365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Entro una settimana</a:t>
            </a:r>
            <a:endParaRPr lang="en-US" sz="1600" dirty="0"/>
          </a:p>
        </p:txBody>
      </p:sp>
      <p:sp>
        <p:nvSpPr>
          <p:cNvPr id="22" name="Cosa Entro una settimana"/>
          <p:cNvSpPr txBox="1"/>
          <p:nvPr/>
        </p:nvSpPr>
        <p:spPr>
          <a:xfrm>
            <a:off x="6492240" y="2907792"/>
            <a:ext cx="5013655" cy="789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Leggi il livello 1. Circa 40 minuti, anche in più volte.</a:t>
            </a:r>
            <a:endParaRPr lang="en-US" sz="1500" dirty="0"/>
          </a:p>
        </p:txBody>
      </p:sp>
      <p:sp>
        <p:nvSpPr>
          <p:cNvPr id="23" name="Punto Entro due settimane"/>
          <p:cNvSpPr/>
          <p:nvPr/>
        </p:nvSpPr>
        <p:spPr>
          <a:xfrm>
            <a:off x="5989320" y="3797808"/>
            <a:ext cx="256032" cy="256032"/>
          </a:xfrm>
          <a:prstGeom prst="ellipse">
            <a:avLst/>
          </a:prstGeom>
          <a:solidFill>
            <a:srgbClr val="1B4D89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24" name="Quando Entro due settimane"/>
          <p:cNvSpPr txBox="1"/>
          <p:nvPr/>
        </p:nvSpPr>
        <p:spPr>
          <a:xfrm>
            <a:off x="6492240" y="3733800"/>
            <a:ext cx="501365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Entro due settimane</a:t>
            </a:r>
            <a:endParaRPr lang="en-US" sz="1600" dirty="0"/>
          </a:p>
        </p:txBody>
      </p:sp>
      <p:sp>
        <p:nvSpPr>
          <p:cNvPr id="25" name="Cosa Entro due settimane"/>
          <p:cNvSpPr txBox="1"/>
          <p:nvPr/>
        </p:nvSpPr>
        <p:spPr>
          <a:xfrm>
            <a:off x="6492240" y="4081272"/>
            <a:ext cx="5013655" cy="789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Completa la checklist da 22 punti e supera il test. Circa 2 ore di pratica.</a:t>
            </a:r>
            <a:endParaRPr lang="en-US" sz="1500" dirty="0"/>
          </a:p>
        </p:txBody>
      </p:sp>
      <p:sp>
        <p:nvSpPr>
          <p:cNvPr id="26" name="Punto Poi"/>
          <p:cNvSpPr/>
          <p:nvPr/>
        </p:nvSpPr>
        <p:spPr>
          <a:xfrm>
            <a:off x="5989320" y="4971288"/>
            <a:ext cx="256032" cy="256032"/>
          </a:xfrm>
          <a:prstGeom prst="ellipse">
            <a:avLst/>
          </a:prstGeom>
          <a:solidFill>
            <a:srgbClr val="1B4D89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27" name="Quando Poi"/>
          <p:cNvSpPr txBox="1"/>
          <p:nvPr/>
        </p:nvSpPr>
        <p:spPr>
          <a:xfrm>
            <a:off x="6492240" y="4907280"/>
            <a:ext cx="501365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Poi</a:t>
            </a:r>
            <a:endParaRPr lang="en-US" sz="1600" dirty="0"/>
          </a:p>
        </p:txBody>
      </p:sp>
      <p:sp>
        <p:nvSpPr>
          <p:cNvPr id="28" name="Cosa Poi"/>
          <p:cNvSpPr txBox="1"/>
          <p:nvPr/>
        </p:nvSpPr>
        <p:spPr>
          <a:xfrm>
            <a:off x="6492240" y="5254752"/>
            <a:ext cx="5013655" cy="789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Parte 2, obbligatoria: regole e processi aziendali. Il livello 2 se sei esposto.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57255" y="6382512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685800"/>
            <a:ext cx="108200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 CHIUDERE</a:t>
            </a:r>
            <a:endParaRPr lang="en-US" sz="1200" dirty="0"/>
          </a:p>
        </p:txBody>
      </p:sp>
      <p:sp>
        <p:nvSpPr>
          <p:cNvPr id="3" name="Domande"/>
          <p:cNvSpPr txBox="1"/>
          <p:nvPr/>
        </p:nvSpPr>
        <p:spPr>
          <a:xfrm>
            <a:off x="685800" y="1051560"/>
            <a:ext cx="108200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400" b="1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Domande?</a:t>
            </a:r>
            <a:endParaRPr lang="en-US" sz="5400" dirty="0"/>
          </a:p>
        </p:txBody>
      </p:sp>
      <p:sp>
        <p:nvSpPr>
          <p:cNvPr id="4" name="Da portare a casa"/>
          <p:cNvSpPr txBox="1"/>
          <p:nvPr/>
        </p:nvSpPr>
        <p:spPr>
          <a:xfrm>
            <a:off x="685800" y="2286000"/>
            <a:ext cx="108200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 PORTARE A CASA</a:t>
            </a:r>
            <a:endParaRPr lang="en-US" sz="1200" dirty="0"/>
          </a:p>
        </p:txBody>
      </p:sp>
      <p:pic>
        <p:nvPicPr>
          <p:cNvPr id="5" name="Spunta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2761488"/>
            <a:ext cx="329184" cy="329184"/>
          </a:xfrm>
          <a:prstGeom prst="rect">
            <a:avLst/>
          </a:prstGeom>
        </p:spPr>
      </p:pic>
      <p:sp>
        <p:nvSpPr>
          <p:cNvPr id="6" name="Punto 0"/>
          <p:cNvSpPr txBox="1"/>
          <p:nvPr/>
        </p:nvSpPr>
        <p:spPr>
          <a:xfrm>
            <a:off x="1234440" y="2697480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Il numero di telefono e l’email principale sono chiavi: proteggile per prime</a:t>
            </a:r>
            <a:endParaRPr lang="en-US" sz="2100" dirty="0"/>
          </a:p>
        </p:txBody>
      </p:sp>
      <p:pic>
        <p:nvPicPr>
          <p:cNvPr id="7" name="Spunta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3419856"/>
            <a:ext cx="329184" cy="329184"/>
          </a:xfrm>
          <a:prstGeom prst="rect">
            <a:avLst/>
          </a:prstGeom>
        </p:spPr>
      </p:pic>
      <p:sp>
        <p:nvSpPr>
          <p:cNvPr id="8" name="Punto 1"/>
          <p:cNvSpPr txBox="1"/>
          <p:nvPr/>
        </p:nvSpPr>
        <p:spPr>
          <a:xfrm>
            <a:off x="1234440" y="3355848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Chi ti mette fretta ti sta manipolando: fermati e verifica</a:t>
            </a:r>
            <a:endParaRPr lang="en-US" sz="2100" dirty="0"/>
          </a:p>
        </p:txBody>
      </p:sp>
      <p:pic>
        <p:nvPicPr>
          <p:cNvPr id="9" name="Spunta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4078224"/>
            <a:ext cx="329184" cy="329184"/>
          </a:xfrm>
          <a:prstGeom prst="rect">
            <a:avLst/>
          </a:prstGeom>
        </p:spPr>
      </p:pic>
      <p:sp>
        <p:nvSpPr>
          <p:cNvPr id="10" name="Punto 2"/>
          <p:cNvSpPr txBox="1"/>
          <p:nvPr/>
        </p:nvSpPr>
        <p:spPr>
          <a:xfrm>
            <a:off x="1234440" y="4014216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Prima di scrivere una password, leggi il dominio. Nel dubbio, chiedi</a:t>
            </a:r>
            <a:endParaRPr lang="en-US" sz="2100" dirty="0"/>
          </a:p>
        </p:txBody>
      </p:sp>
      <p:sp>
        <p:nvSpPr>
          <p:cNvPr id="11" name="Se succede"/>
          <p:cNvSpPr/>
          <p:nvPr/>
        </p:nvSpPr>
        <p:spPr>
          <a:xfrm>
            <a:off x="685800" y="4892040"/>
            <a:ext cx="10820095" cy="96012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12" name="Telefono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05840" y="5166360"/>
            <a:ext cx="411480" cy="411480"/>
          </a:xfrm>
          <a:prstGeom prst="rect">
            <a:avLst/>
          </a:prstGeom>
        </p:spPr>
      </p:pic>
      <p:sp>
        <p:nvSpPr>
          <p:cNvPr id="13" name="Se succede testo"/>
          <p:cNvSpPr txBox="1"/>
          <p:nvPr/>
        </p:nvSpPr>
        <p:spPr>
          <a:xfrm>
            <a:off x="1645920" y="4892040"/>
            <a:ext cx="958565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B423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 succede al lavoro: </a:t>
            </a:r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avvisa subito il referente IT della tua azienda. Prima lo fai, meglio è. Senza vergogna.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57255" y="6382512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200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FONTI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04672"/>
            <a:ext cx="108200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 dove vengono i dati</a:t>
            </a:r>
            <a:endParaRPr lang="en-US" sz="3400" dirty="0"/>
          </a:p>
        </p:txBody>
      </p:sp>
      <p:sp>
        <p:nvSpPr>
          <p:cNvPr id="4" name="Fonte UFCS, bilancio 2025"/>
          <p:cNvSpPr txBox="1"/>
          <p:nvPr/>
        </p:nvSpPr>
        <p:spPr>
          <a:xfrm>
            <a:off x="685800" y="1828800"/>
            <a:ext cx="5227168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UFCS, bilancio 2025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circa 65’000 segnalazioni, finte autorità 26%</a:t>
            </a:r>
            <a:endParaRPr lang="en-US" sz="1300" dirty="0"/>
          </a:p>
          <a:p>
            <a:pPr indent="0" marL="0">
              <a:buNone/>
            </a:pPr>
            <a:r>
              <a:rPr lang="en-US" sz="1100" u="sng" dirty="0">
                <a:solidFill>
                  <a:srgbClr val="2D6CB5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bacs.admin.ch</a:t>
            </a:r>
            <a:endParaRPr lang="en-US" sz="1300" dirty="0"/>
          </a:p>
        </p:txBody>
      </p:sp>
      <p:sp>
        <p:nvSpPr>
          <p:cNvPr id="5" name="Fonte Verizon DBIR 2026"/>
          <p:cNvSpPr txBox="1"/>
          <p:nvPr/>
        </p:nvSpPr>
        <p:spPr>
          <a:xfrm>
            <a:off x="685800" y="2670048"/>
            <a:ext cx="5227168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Verizon DBIR 2026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62% delle violazioni passa da una persona</a:t>
            </a:r>
            <a:endParaRPr lang="en-US" sz="1300" dirty="0"/>
          </a:p>
          <a:p>
            <a:pPr indent="0" marL="0">
              <a:buNone/>
            </a:pPr>
            <a:r>
              <a:rPr lang="en-US" sz="1100" u="sng" dirty="0">
                <a:solidFill>
                  <a:srgbClr val="2D6CB5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verizon.com</a:t>
            </a:r>
            <a:endParaRPr lang="en-US" sz="1300" dirty="0"/>
          </a:p>
        </p:txBody>
      </p:sp>
      <p:sp>
        <p:nvSpPr>
          <p:cNvPr id="6" name="Fonte Verizon DBIR 2025"/>
          <p:cNvSpPr txBox="1"/>
          <p:nvPr/>
        </p:nvSpPr>
        <p:spPr>
          <a:xfrm>
            <a:off x="685800" y="3511296"/>
            <a:ext cx="5227168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Verizon DBIR 2025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testo AI nelle email truffa raddoppiato</a:t>
            </a:r>
            <a:endParaRPr lang="en-US" sz="1300" dirty="0"/>
          </a:p>
          <a:p>
            <a:pPr indent="0" marL="0">
              <a:buNone/>
            </a:pPr>
            <a:r>
              <a:rPr lang="en-US" sz="1100" u="sng" dirty="0">
                <a:solidFill>
                  <a:srgbClr val="2D6CB5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verizon.com</a:t>
            </a:r>
            <a:endParaRPr lang="en-US" sz="1300" dirty="0"/>
          </a:p>
        </p:txBody>
      </p:sp>
      <p:sp>
        <p:nvSpPr>
          <p:cNvPr id="7" name="Fonte FBI IC3, rapporto 2025"/>
          <p:cNvSpPr txBox="1"/>
          <p:nvPr/>
        </p:nvSpPr>
        <p:spPr>
          <a:xfrm>
            <a:off x="6278728" y="1828800"/>
            <a:ext cx="5227168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FBI IC3, rapporto 2025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20,9 miliardi di dollari di perdite denunciate</a:t>
            </a:r>
            <a:endParaRPr lang="en-US" sz="1300" dirty="0"/>
          </a:p>
          <a:p>
            <a:pPr indent="0" marL="0">
              <a:buNone/>
            </a:pPr>
            <a:r>
              <a:rPr lang="en-US" sz="1100" u="sng" dirty="0">
                <a:solidFill>
                  <a:srgbClr val="2D6CB5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4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ic3.gov</a:t>
            </a:r>
            <a:endParaRPr lang="en-US" sz="1300" dirty="0"/>
          </a:p>
        </p:txBody>
      </p:sp>
      <p:sp>
        <p:nvSpPr>
          <p:cNvPr id="8" name="Fonte TechCrunch, 30.08.2019"/>
          <p:cNvSpPr txBox="1"/>
          <p:nvPr/>
        </p:nvSpPr>
        <p:spPr>
          <a:xfrm>
            <a:off x="6278728" y="2670048"/>
            <a:ext cx="5227168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TechCrunch, 30.08.2019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l’account di Jack Dorsey e il SIM swap</a:t>
            </a:r>
            <a:endParaRPr lang="en-US" sz="1300" dirty="0"/>
          </a:p>
          <a:p>
            <a:pPr indent="0" marL="0">
              <a:buNone/>
            </a:pPr>
            <a:r>
              <a:rPr lang="en-US" sz="1100" u="sng" dirty="0">
                <a:solidFill>
                  <a:srgbClr val="2D6CB5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5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techcrunch.com</a:t>
            </a:r>
            <a:endParaRPr lang="en-US" sz="1300" dirty="0"/>
          </a:p>
        </p:txBody>
      </p:sp>
      <p:sp>
        <p:nvSpPr>
          <p:cNvPr id="9" name="Nota fonti"/>
          <p:cNvSpPr txBox="1"/>
          <p:nvPr/>
        </p:nvSpPr>
        <p:spPr>
          <a:xfrm>
            <a:off x="685800" y="5989320"/>
            <a:ext cx="1082009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Tutte le fonti, con i link, sono anche nell’ultimo capitolo del materiale.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57255" y="6382512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icurezza e AI">
  <a:themeElements>
    <a:clrScheme name="Sicurezza e AI">
      <a:dk1>
        <a:srgbClr val="111827"/>
      </a:dk1>
      <a:lt1>
        <a:srgbClr val="FFFFFF"/>
      </a:lt1>
      <a:dk2>
        <a:srgbClr val="1B4D89"/>
      </a:dk2>
      <a:lt2>
        <a:srgbClr val="EAF2FC"/>
      </a:lt2>
      <a:accent1>
        <a:srgbClr val="1B4D89"/>
      </a:accent1>
      <a:accent2>
        <a:srgbClr val="2D6CB5"/>
      </a:accent2>
      <a:accent3>
        <a:srgbClr val="067647"/>
      </a:accent3>
      <a:accent4>
        <a:srgbClr val="A15C07"/>
      </a:accent4>
      <a:accent5>
        <a:srgbClr val="B42318"/>
      </a:accent5>
      <a:accent6>
        <a:srgbClr val="6B7280"/>
      </a:accent6>
      <a:hlink>
        <a:srgbClr val="2D6CB5"/>
      </a:hlink>
      <a:folHlink>
        <a:srgbClr val="1B4D89"/>
      </a:folHlink>
    </a:clrScheme>
    <a:fontScheme name="Sicurezza e AI">
      <a:majorFont>
        <a:latin typeface="Georg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Sicurezza e AI, materiale formativo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Sicurezza · Parte 1 · Capire e proteggersi</dc:title>
  <dc:subject>PptxGenJS Presentation</dc:subject>
  <dc:creator>Aron Clementi</dc:creator>
  <cp:lastModifiedBy>Aron Clementi</cp:lastModifiedBy>
  <cp:revision>1</cp:revision>
  <dcterms:created xsi:type="dcterms:W3CDTF">2026-10-06T13:14:15Z</dcterms:created>
  <dcterms:modified xsi:type="dcterms:W3CDTF">2026-10-06T13:14:15Z</dcterms:modified>
</cp:coreProperties>
</file>