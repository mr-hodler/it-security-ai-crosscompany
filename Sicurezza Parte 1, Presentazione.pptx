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c9110cd-1833-69af-cf4f-a7d03176b59a}">
          <p14:sldIdLst>
            <p14:sldId id="256"/>
            <p14:sldId id="257"/>
          </p14:sldIdLst>
        </p14:section>
        <p14:section name="Perché" id="{5dbec7d1-80c1-ab5e-7ba2-ffd4066f7d3a}">
          <p14:sldIdLst>
            <p14:sldId id="258"/>
            <p14:sldId id="259"/>
            <p14:sldId id="260"/>
          </p14:sldIdLst>
        </p14:section>
        <p14:section name="Le basi" id="{ceb036d1-138d-4572-5d21-3fee7f30c6bf}">
          <p14:sldIdLst>
            <p14:sldId id="261"/>
            <p14:sldId id="262"/>
            <p14:sldId id="263"/>
          </p14:sldIdLst>
        </p14:section>
        <p14:section name="Il materiale" id="{1178f9c2-07c1-0843-be44-debe44ec184c}">
          <p14:sldIdLst>
            <p14:sldId id="264"/>
            <p14:sldId id="265"/>
          </p14:sldIdLst>
        </p14:section>
        <p14:section name="Adesso" id="{fd947f3e-1a42-3075-de88-39516fda0638}">
          <p14:sldIdLst>
            <p14:sldId id="266"/>
            <p14:sldId id="267"/>
          </p14:sldIdLst>
        </p14:section>
        <p14:section name="Chiusura" id="{89c719bd-50a9-a4c8-5947-43c4830d451f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Benvenuti. In 25 minuti vediamo tre cose: perché il tema riguarda tutti, le basi degli strumenti che usiamo ogni giorno e cosa fare subito. Il resto è nel materiale, da leggere con calma dopo l’incontro. Non serve nessuna base tecnica.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Partiamo dalle basi, come un corso di informatica: prima come funzionano le cose che usiamo ogni giorno, poi come ci attaccano, poi come proteggerci. Chi è già pratico può saltare i capitoli “Da zero” del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tutta la Parte 1. Entrare in un sistema ben protetto è difficile; convincere una persona a cliccare, dare un codice o fare un bonifico è molto più facile. Quasi due violazioni su tre passano da una persona. La buona notizia: si impara a riconoscerle.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è un problema lontano. In Svizzera l’Ufficio federale della cibersicurezza ha ricevuto circa 65’000 segnalazioni nel 2025, e la truffa più frequente è la telefonata di un finto poliziotto, procuratore o funzionario. E con l’AI le email truffa sono scritte meglio: niente più errori di grammatica a tradirle.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 ma semplice. Dorsey non ha cliccato niente di strano: i criminali hanno convinto il suo operatore a trasferire il numero, e Twitter ha confermato la svista dell’operatore. Il punto per noi: il telefono non è solo un telefono, è la chiave di molti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Informatica di base, ed è la cosa più importante da capire. Foto, posta e documenti non stanno nel telefono: stanno su un server, e telefono, computer e sito sono solo finestre. Conseguenza: perdere il telefono è un fastidio, perdere l’account è un disastro. Un file salvato solo sul computer, invece, esiste solo lì: se il computer si rompe, è perso.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Seconda base. L’email è il tuo nome utente quasi ovunque e, soprattutto, la porta di recupero di tutti gli altri account. Chi entra nella tua email clicca “password dimenticata” su banca e social e reimposta tutto. Per questo la prima cosa che faremo tra poco riguarda proprio l’email.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basi che evitano la maggior parte dei guai. Password diverse per ogni sito: dopo una violazione i criminali provano la stessa email e password ovunque. Il dominio: l’unica parte dell’indirizzo che non si può falsificare. La sincronizzazione: comoda, ma copia anche gli errori e i file cifrati da un ransomware. Il resto è nella sezione B del livello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della Parte 1 è una sola pagina con tre livelli, uno per scheda. Tutti partono dal primo. Il secondo è per chi è più esposto: pagamenti, ruolo dirigenziale, crypto o profilo pubblico. Il terzo è facoltativo, per chi vuole il controllo totale della propria privacy.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Così è costruito il livello 1. La sezione A spiega i 12 rischi di oggi e fa provare cinque attacchi simulati, senza rischi. La sezione B è il corso di informatica di base: account, email, cloud, password, verifica in due passaggi, browser, condivisione, dispositivi e backup. La sezione C chiude con strumenti consigliati,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adesso, insieme, con il telefono in mano. Chi ha difficoltà alzi la mano: ci aiutiamo. Sono le tre azioni con il miglior rapporto tra tempo e protezione. Gli aggiornamenti si fanno sempre dalle impostazioni: una pagina web che vi dice di aggiornare è quasi sempre una trappola.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E una regola: se succede qualcosa, avvisare subito è sempre giusto. Nessuno viene rimproverato per aver segnalato un errore; i danni veri arrivano quando si aspetta.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bacs.admin.ch/it/25w52-it" TargetMode="External"/><Relationship Id="rId2" Type="http://schemas.openxmlformats.org/officeDocument/2006/relationships/hyperlink" Target="https://www.verizon.com/business/resources/T161/reports/2026-dbir-data-breach-investigations-report.pdf" TargetMode="External"/><Relationship Id="rId3" Type="http://schemas.openxmlformats.org/officeDocument/2006/relationships/hyperlink" Target="https://www.verizon.com/business/resources/reports/2025-dbir-data-breach-investigations-report.pdf" TargetMode="External"/><Relationship Id="rId4" Type="http://schemas.openxmlformats.org/officeDocument/2006/relationships/hyperlink" Target="https://www.ic3.gov/AnnualReport/Reports/2025_IC3Report.pdf" TargetMode="External"/><Relationship Id="rId5" Type="http://schemas.openxmlformats.org/officeDocument/2006/relationships/hyperlink" Target="https://techcrunch.com/2019/08/30/someone-hacked-jack-dorseys-own-twitter-account/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Capire e proteggersi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gli strumenti che usi ogni giorno, come ti attaccano e come ti difendi.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essuna base tecnica"/>
          <p:cNvSpPr/>
          <p:nvPr/>
        </p:nvSpPr>
        <p:spPr>
          <a:xfrm>
            <a:off x="2061972" y="489204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essuna base tecnica"/>
          <p:cNvSpPr txBox="1"/>
          <p:nvPr/>
        </p:nvSpPr>
        <p:spPr>
          <a:xfrm>
            <a:off x="2061972" y="489204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Nessuna base tecnica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4393692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4393692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3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Dato testo 3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livelli, dal più semplice al più completo</a:t>
            </a:r>
            <a:endParaRPr lang="en-US" sz="1400" dirty="0"/>
          </a:p>
        </p:txBody>
      </p:sp>
      <p:sp>
        <p:nvSpPr>
          <p:cNvPr id="17" name="Dato 42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endParaRPr lang="en-US" sz="3400" dirty="0"/>
          </a:p>
        </p:txBody>
      </p:sp>
      <p:sp>
        <p:nvSpPr>
          <p:cNvPr id="18" name="Dato testo 42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in tutto</a:t>
            </a:r>
            <a:endParaRPr lang="en-US" sz="1400" dirty="0"/>
          </a:p>
        </p:txBody>
      </p:sp>
      <p:sp>
        <p:nvSpPr>
          <p:cNvPr id="19" name="Dato 40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min</a:t>
            </a:r>
            <a:endParaRPr lang="en-US" sz="3400" dirty="0"/>
          </a:p>
        </p:txBody>
      </p:sp>
      <p:sp>
        <p:nvSpPr>
          <p:cNvPr id="20" name="Dato testo 40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leggere il livello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account, email, cloud, telefono e computer. Dove stanno davvero i tuoi dati.</a:t>
            </a:r>
            <a:endParaRPr lang="en-US" sz="1600" dirty="0"/>
          </a:p>
        </p:txBody>
      </p:sp>
      <p:sp>
        <p:nvSpPr>
          <p:cNvPr id="9" name="Scheda Riconoscere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Riconoscere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Riconoscer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Riconoscere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</a:t>
            </a:r>
            <a:endParaRPr lang="en-US" sz="2100" dirty="0"/>
          </a:p>
        </p:txBody>
      </p:sp>
      <p:sp>
        <p:nvSpPr>
          <p:cNvPr id="13" name="Testo Riconoscere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truffe più comuni e i segnali che le tradiscono, prima di cliccare o rispondere.</a:t>
            </a:r>
            <a:endParaRPr lang="en-US" sz="1600" dirty="0"/>
          </a:p>
        </p:txBody>
      </p:sp>
      <p:sp>
        <p:nvSpPr>
          <p:cNvPr id="14" name="Scheda Proteggersi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Proteggersi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Proteggers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Proteggersi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Proteggersi</a:t>
            </a:r>
            <a:endParaRPr lang="en-US" sz="2100" dirty="0"/>
          </a:p>
        </p:txBody>
      </p:sp>
      <p:sp>
        <p:nvSpPr>
          <p:cNvPr id="18" name="Testo Proteggersi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Poche abitudini e pochi strumenti che chiudono le porte principali, al lavoro e a casa.</a:t>
            </a:r>
            <a:endParaRPr lang="en-US" sz="1600" dirty="0"/>
          </a:p>
        </p:txBody>
      </p:sp>
      <p:sp>
        <p:nvSpPr>
          <p:cNvPr id="19" name="nota Non serve essere tecnici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essere tecnici.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usi, dove stanno i tuoi dati e chi ha le chiavi.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truffatori non forzano i computer.</a:t>
            </a:r>
            <a:endParaRPr lang="en-US" sz="3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Ingannano le persone.</a:t>
            </a:r>
            <a:endParaRPr lang="en-US" sz="38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6670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la prima difesa sei tu: capire cosa usi e accorgerti quando qualcosa non torna.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62%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2560320" y="4800600"/>
            <a:ext cx="8671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delle violazioni di dati passa da una persona: un errore o una manipolazione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Succede qui, e succede spesso</a:t>
            </a:r>
            <a:endParaRPr lang="en-US" sz="3400" dirty="0"/>
          </a:p>
        </p:txBody>
      </p:sp>
      <p:sp>
        <p:nvSpPr>
          <p:cNvPr id="4" name="Numero 65’000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5’000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65’000</a:t>
            </a:r>
            <a:endParaRPr lang="en-US" sz="5000" dirty="0"/>
          </a:p>
        </p:txBody>
      </p:sp>
      <p:sp>
        <p:nvSpPr>
          <p:cNvPr id="6" name="Etichetta 65’000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segnalazioni all’Ufficio federale della cibersicurezza nel 2025</a:t>
            </a:r>
            <a:endParaRPr lang="en-US" sz="1700" dirty="0"/>
          </a:p>
        </p:txBody>
      </p:sp>
      <p:sp>
        <p:nvSpPr>
          <p:cNvPr id="7" name="Fonte 65’000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 · cifra arrotondata</a:t>
            </a:r>
            <a:endParaRPr lang="en-US" sz="1100" dirty="0"/>
          </a:p>
        </p:txBody>
      </p:sp>
      <p:sp>
        <p:nvSpPr>
          <p:cNvPr id="8" name="Numero 26%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6%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26%</a:t>
            </a:r>
            <a:endParaRPr lang="en-US" sz="5000" dirty="0"/>
          </a:p>
        </p:txBody>
      </p:sp>
      <p:sp>
        <p:nvSpPr>
          <p:cNvPr id="10" name="Etichetta 26%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telefonate di finte autorità: la truffa più segnalata in Svizzera</a:t>
            </a:r>
            <a:endParaRPr lang="en-US" sz="1700" dirty="0"/>
          </a:p>
        </p:txBody>
      </p:sp>
      <p:sp>
        <p:nvSpPr>
          <p:cNvPr id="11" name="Fonte 26%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</a:t>
            </a:r>
            <a:endParaRPr lang="en-US" sz="1100" dirty="0"/>
          </a:p>
        </p:txBody>
      </p:sp>
      <p:sp>
        <p:nvSpPr>
          <p:cNvPr id="12" name="Numero 20,9 mld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20,9 mld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20,9 mld</a:t>
            </a:r>
            <a:endParaRPr lang="en-US" sz="3800" dirty="0"/>
          </a:p>
        </p:txBody>
      </p:sp>
      <p:sp>
        <p:nvSpPr>
          <p:cNvPr id="14" name="Etichetta 20,9 mld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dollari di perdite denunciate all’FBI nel 2025</a:t>
            </a:r>
            <a:endParaRPr lang="en-US" sz="1700" dirty="0"/>
          </a:p>
        </p:txBody>
      </p:sp>
      <p:sp>
        <p:nvSpPr>
          <p:cNvPr id="15" name="Fonte 20,9 mld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 2025</a:t>
            </a:r>
            <a:endParaRPr lang="en-US" sz="1100" dirty="0"/>
          </a:p>
        </p:txBody>
      </p:sp>
      <p:sp>
        <p:nvSpPr>
          <p:cNvPr id="16" name="nota E l’AI aiuta i truffatori: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l’AI aiuta i truffatori: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testo delle email truffa scritto dall’AI è raddoppiato in due anni (Verizon DBIR 2025).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Gli hanno preso il numero, non il telefono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30 agosto 2019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30 agosto 2019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AGOSTO 2019</a:t>
            </a:r>
            <a:endParaRPr lang="en-US" sz="1200" dirty="0"/>
          </a:p>
        </p:txBody>
      </p:sp>
      <p:sp>
        <p:nvSpPr>
          <p:cNvPr id="7" name="Fatto 30 agosto 2019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Twitter di Jack Dorsey, cofondatore e capo di Twitter, pubblica messaggi offensivi.</a:t>
            </a:r>
            <a:endParaRPr lang="en-US" sz="1700" dirty="0"/>
          </a:p>
        </p:txBody>
      </p:sp>
      <p:sp>
        <p:nvSpPr>
          <p:cNvPr id="8" name="Punto Come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Come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</a:t>
            </a:r>
            <a:endParaRPr lang="en-US" sz="1200" dirty="0"/>
          </a:p>
        </p:txBody>
      </p:sp>
      <p:sp>
        <p:nvSpPr>
          <p:cNvPr id="10" name="Fatto Come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Nessuno ha violato Twitter. I criminali hanno ottenuto dall’operatore telefonico il suo numero su un’altra SIM.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il suo numero potevano scrivere a suo nome via SMS. Si chiama SIM swap e colpisce anche persone comuni.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è una chiave: qui è bastato per scrivere a suo nome. Se un account si recupera con un SMS, chi prende il numero entra al posto tuo.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1, capitolo 7: verifica in due passaggi più sicura degli SMS. Livello 2, capitolo 2: un numero solo per il recupero.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TechCrunch, 30.08.2019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tuoi dati stanno su un server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85720"/>
            <a:ext cx="7040880" cy="273812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Sito e app sono solo finestre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e app sono solo finestre</a:t>
            </a:r>
            <a:endParaRPr lang="en-US" sz="1800" dirty="0"/>
          </a:p>
        </p:txBody>
      </p:sp>
      <p:sp>
        <p:nvSpPr>
          <p:cNvPr id="7" name="Testo Sito e app sono solo finestre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 telefono o sul computer mostrano lo stesso account, che vive su un server. Cambi da una parte, lo vedi ovunque.</a:t>
            </a:r>
            <a:endParaRPr lang="en-US" sz="1500" dirty="0"/>
          </a:p>
        </p:txBody>
      </p:sp>
      <p:sp>
        <p:nvSpPr>
          <p:cNvPr id="8" name="Punto Chi entra nell’account vede tutto"/>
          <p:cNvSpPr txBox="1"/>
          <p:nvPr/>
        </p:nvSpPr>
        <p:spPr>
          <a:xfrm>
            <a:off x="8412480" y="4111752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entra nell’account vede tutto</a:t>
            </a:r>
            <a:endParaRPr lang="en-US" sz="1800" dirty="0"/>
          </a:p>
        </p:txBody>
      </p:sp>
      <p:sp>
        <p:nvSpPr>
          <p:cNvPr id="9" name="Testo Chi entra nell’account vede tutto"/>
          <p:cNvSpPr txBox="1"/>
          <p:nvPr/>
        </p:nvSpPr>
        <p:spPr>
          <a:xfrm>
            <a:off x="8412480" y="4797552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qualsiasi parte del mondo, senza toccare il tuo telefono. Per questo contano password e 2FA.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5: “App, siti, account e file: dove vive cosa”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L’email principale apre tutto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996438"/>
            <a:ext cx="7040880" cy="1916684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Ogni “password dimenticata” arriva lì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“password dimenticata” arriva lì</a:t>
            </a:r>
            <a:endParaRPr lang="en-US" sz="1800" dirty="0"/>
          </a:p>
        </p:txBody>
      </p:sp>
      <p:sp>
        <p:nvSpPr>
          <p:cNvPr id="7" name="Testo Ogni “password dimenticata” arriva lì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Banca, social, lavoro, negozi: per recuperare l’accesso ti mandano un link a quella email.</a:t>
            </a:r>
            <a:endParaRPr lang="en-US" sz="1500" dirty="0"/>
          </a:p>
        </p:txBody>
      </p:sp>
      <p:sp>
        <p:nvSpPr>
          <p:cNvPr id="8" name="Punto Proteggila più di tutto"/>
          <p:cNvSpPr txBox="1"/>
          <p:nvPr/>
        </p:nvSpPr>
        <p:spPr>
          <a:xfrm>
            <a:off x="8412480" y="4111752"/>
            <a:ext cx="28190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Proteggila più di tutto</a:t>
            </a:r>
            <a:endParaRPr lang="en-US" sz="1800" dirty="0"/>
          </a:p>
        </p:txBody>
      </p:sp>
      <p:sp>
        <p:nvSpPr>
          <p:cNvPr id="9" name="Testo Proteggila più di tutto"/>
          <p:cNvSpPr txBox="1"/>
          <p:nvPr/>
        </p:nvSpPr>
        <p:spPr>
          <a:xfrm>
            <a:off x="8412480" y="4518660"/>
            <a:ext cx="281909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la prende, prende anche il resto. Password unica e verifica in due passaggi.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4: “Account ed email: come funzionano”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regole che ti salvano</a:t>
            </a:r>
            <a:endParaRPr lang="en-US" sz="3400" dirty="0"/>
          </a:p>
        </p:txBody>
      </p:sp>
      <p:sp>
        <p:nvSpPr>
          <p:cNvPr id="4" name="Scheda Una password per ogni sito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Una password per ogni sito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Una password per ogni si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Una password per ogni sito"/>
          <p:cNvSpPr txBox="1"/>
          <p:nvPr/>
        </p:nvSpPr>
        <p:spPr>
          <a:xfrm>
            <a:off x="1005840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password per ogni sito</a:t>
            </a:r>
            <a:endParaRPr lang="en-US" sz="2100" dirty="0"/>
          </a:p>
        </p:txBody>
      </p:sp>
      <p:sp>
        <p:nvSpPr>
          <p:cNvPr id="8" name="Testo Una password per ogni sito"/>
          <p:cNvSpPr txBox="1"/>
          <p:nvPr/>
        </p:nvSpPr>
        <p:spPr>
          <a:xfrm>
            <a:off x="1005840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usi la stessa ovunque, un sito violato apre tutti gli altri. Il password manager le ricorda per te.</a:t>
            </a:r>
            <a:endParaRPr lang="en-US" sz="1600" dirty="0"/>
          </a:p>
        </p:txBody>
      </p:sp>
      <p:sp>
        <p:nvSpPr>
          <p:cNvPr id="9" name="Scheda Leggi il dominio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Leggi il dominio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Leggi il domini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Leggi il dominio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dominio</a:t>
            </a:r>
            <a:endParaRPr lang="en-US" sz="2100" dirty="0"/>
          </a:p>
        </p:txBody>
      </p:sp>
      <p:sp>
        <p:nvSpPr>
          <p:cNvPr id="13" name="Testo Leggi il dominio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 guarda il nome prima della prima barra: postfinance.ch. Il resto si può inventare.</a:t>
            </a:r>
            <a:endParaRPr lang="en-US" sz="1600" dirty="0"/>
          </a:p>
        </p:txBody>
      </p:sp>
      <p:sp>
        <p:nvSpPr>
          <p:cNvPr id="14" name="Scheda Sincronizzato non è backup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Sincronizzato non è backup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Sincronizzato non è backu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Sincronizzato non è backup"/>
          <p:cNvSpPr txBox="1"/>
          <p:nvPr/>
        </p:nvSpPr>
        <p:spPr>
          <a:xfrm>
            <a:off x="8402117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Sincronizzato non è backup</a:t>
            </a:r>
            <a:endParaRPr lang="en-US" sz="2100" dirty="0"/>
          </a:p>
        </p:txBody>
      </p:sp>
      <p:sp>
        <p:nvSpPr>
          <p:cNvPr id="18" name="Testo Sincronizzato non è backup"/>
          <p:cNvSpPr txBox="1"/>
          <p:nvPr/>
        </p:nvSpPr>
        <p:spPr>
          <a:xfrm>
            <a:off x="8402117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file cancellato o cifrato da un virus viene copiato ovunque in pochi secondi. Serve una copia separata.</a:t>
            </a:r>
            <a:endParaRPr lang="en-US" sz="1600" dirty="0"/>
          </a:p>
        </p:txBody>
      </p:sp>
      <p:sp>
        <p:nvSpPr>
          <p:cNvPr id="19" name="nota Il resto delle basi è nel livello 1: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resto delle basi è nel livello 1: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condivisione, computer e telefono, passkey e chiavi hardware.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livelli: parti dal primo</a:t>
            </a:r>
            <a:endParaRPr lang="en-US" sz="3400" dirty="0"/>
          </a:p>
        </p:txBody>
      </p:sp>
      <p:sp>
        <p:nvSpPr>
          <p:cNvPr id="4" name="Livello Essenziale"/>
          <p:cNvSpPr/>
          <p:nvPr/>
        </p:nvSpPr>
        <p:spPr>
          <a:xfrm>
            <a:off x="685800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Icona Essenziale fondo"/>
          <p:cNvSpPr/>
          <p:nvPr/>
        </p:nvSpPr>
        <p:spPr>
          <a:xfrm>
            <a:off x="1005840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a Essenzia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9459" y="2302459"/>
            <a:ext cx="332842" cy="332842"/>
          </a:xfrm>
          <a:prstGeom prst="rect">
            <a:avLst/>
          </a:prstGeom>
        </p:spPr>
      </p:pic>
      <p:sp>
        <p:nvSpPr>
          <p:cNvPr id="7" name="Badge Essenziale"/>
          <p:cNvSpPr txBox="1"/>
          <p:nvPr/>
        </p:nvSpPr>
        <p:spPr>
          <a:xfrm>
            <a:off x="1828800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INIZIARE</a:t>
            </a:r>
            <a:endParaRPr lang="en-US" sz="1100" dirty="0"/>
          </a:p>
        </p:txBody>
      </p:sp>
      <p:sp>
        <p:nvSpPr>
          <p:cNvPr id="8" name="Nome Essenziale"/>
          <p:cNvSpPr txBox="1"/>
          <p:nvPr/>
        </p:nvSpPr>
        <p:spPr>
          <a:xfrm>
            <a:off x="1005840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Essenziale</a:t>
            </a:r>
            <a:endParaRPr lang="en-US" sz="2400" dirty="0"/>
          </a:p>
        </p:txBody>
      </p:sp>
      <p:sp>
        <p:nvSpPr>
          <p:cNvPr id="9" name="Per chi Essenziale"/>
          <p:cNvSpPr txBox="1"/>
          <p:nvPr/>
        </p:nvSpPr>
        <p:spPr>
          <a:xfrm>
            <a:off x="1005840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anche da zero</a:t>
            </a:r>
            <a:endParaRPr lang="en-US" sz="1500" dirty="0"/>
          </a:p>
        </p:txBody>
      </p:sp>
      <p:sp>
        <p:nvSpPr>
          <p:cNvPr id="10" name="Cosa Essenziale"/>
          <p:cNvSpPr txBox="1"/>
          <p:nvPr/>
        </p:nvSpPr>
        <p:spPr>
          <a:xfrm>
            <a:off x="1005840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 di informatica, i rischi di oggi, come ti attaccano e come ti proteggi.</a:t>
            </a:r>
            <a:endParaRPr lang="en-US" sz="1500" dirty="0"/>
          </a:p>
        </p:txBody>
      </p:sp>
      <p:sp>
        <p:nvSpPr>
          <p:cNvPr id="11" name="Meta Essenziale"/>
          <p:cNvSpPr txBox="1"/>
          <p:nvPr/>
        </p:nvSpPr>
        <p:spPr>
          <a:xfrm>
            <a:off x="1005840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CAPITOLI · LETTURA 40 MIN</a:t>
            </a:r>
            <a:endParaRPr lang="en-US" sz="1100" dirty="0"/>
          </a:p>
        </p:txBody>
      </p:sp>
      <p:sp>
        <p:nvSpPr>
          <p:cNvPr id="12" name="Livello Avanzato"/>
          <p:cNvSpPr/>
          <p:nvPr/>
        </p:nvSpPr>
        <p:spPr>
          <a:xfrm>
            <a:off x="4383938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Icona Avanzato fondo"/>
          <p:cNvSpPr/>
          <p:nvPr/>
        </p:nvSpPr>
        <p:spPr>
          <a:xfrm>
            <a:off x="4703978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4" name="Icona Avanza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598" y="2302459"/>
            <a:ext cx="332842" cy="332842"/>
          </a:xfrm>
          <a:prstGeom prst="rect">
            <a:avLst/>
          </a:prstGeom>
        </p:spPr>
      </p:pic>
      <p:sp>
        <p:nvSpPr>
          <p:cNvPr id="15" name="Badge Avanzato"/>
          <p:cNvSpPr txBox="1"/>
          <p:nvPr/>
        </p:nvSpPr>
        <p:spPr>
          <a:xfrm>
            <a:off x="5526938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SEI ESPOSTO</a:t>
            </a:r>
            <a:endParaRPr lang="en-US" sz="1100" dirty="0"/>
          </a:p>
        </p:txBody>
      </p:sp>
      <p:sp>
        <p:nvSpPr>
          <p:cNvPr id="16" name="Nome Avanzato"/>
          <p:cNvSpPr txBox="1"/>
          <p:nvPr/>
        </p:nvSpPr>
        <p:spPr>
          <a:xfrm>
            <a:off x="4703978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Avanzato</a:t>
            </a:r>
            <a:endParaRPr lang="en-US" sz="2400" dirty="0"/>
          </a:p>
        </p:txBody>
      </p:sp>
      <p:sp>
        <p:nvSpPr>
          <p:cNvPr id="17" name="Per chi Avanzato"/>
          <p:cNvSpPr txBox="1"/>
          <p:nvPr/>
        </p:nvSpPr>
        <p:spPr>
          <a:xfrm>
            <a:off x="4703978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Dirigenti, pagamenti, crypto, profilo pubblico</a:t>
            </a:r>
            <a:endParaRPr lang="en-US" sz="1500" dirty="0"/>
          </a:p>
        </p:txBody>
      </p:sp>
      <p:sp>
        <p:nvSpPr>
          <p:cNvPr id="18" name="Cosa Avanzato"/>
          <p:cNvSpPr txBox="1"/>
          <p:nvPr/>
        </p:nvSpPr>
        <p:spPr>
          <a:xfrm>
            <a:off x="4703978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Numero di telefono, email per ruolo, recupero degli account, custodia, coercizione.</a:t>
            </a:r>
            <a:endParaRPr lang="en-US" sz="1500" dirty="0"/>
          </a:p>
        </p:txBody>
      </p:sp>
      <p:sp>
        <p:nvSpPr>
          <p:cNvPr id="19" name="Meta Avanzato"/>
          <p:cNvSpPr txBox="1"/>
          <p:nvPr/>
        </p:nvSpPr>
        <p:spPr>
          <a:xfrm>
            <a:off x="4703978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40 MIN</a:t>
            </a:r>
            <a:endParaRPr lang="en-US" sz="1100" dirty="0"/>
          </a:p>
        </p:txBody>
      </p:sp>
      <p:sp>
        <p:nvSpPr>
          <p:cNvPr id="20" name="Livello Cypherpunk"/>
          <p:cNvSpPr/>
          <p:nvPr/>
        </p:nvSpPr>
        <p:spPr>
          <a:xfrm>
            <a:off x="8082077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Icona Cypherpunk fondo"/>
          <p:cNvSpPr/>
          <p:nvPr/>
        </p:nvSpPr>
        <p:spPr>
          <a:xfrm>
            <a:off x="8402117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2" name="Icona Cypherpun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302459"/>
            <a:ext cx="332842" cy="332842"/>
          </a:xfrm>
          <a:prstGeom prst="rect">
            <a:avLst/>
          </a:prstGeom>
        </p:spPr>
      </p:pic>
      <p:sp>
        <p:nvSpPr>
          <p:cNvPr id="23" name="Badge Cypherpunk"/>
          <p:cNvSpPr txBox="1"/>
          <p:nvPr/>
        </p:nvSpPr>
        <p:spPr>
          <a:xfrm>
            <a:off x="9225077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FACOLTATIVO</a:t>
            </a:r>
            <a:endParaRPr lang="en-US" sz="1100" dirty="0"/>
          </a:p>
        </p:txBody>
      </p:sp>
      <p:sp>
        <p:nvSpPr>
          <p:cNvPr id="24" name="Nome Cypherpunk"/>
          <p:cNvSpPr txBox="1"/>
          <p:nvPr/>
        </p:nvSpPr>
        <p:spPr>
          <a:xfrm>
            <a:off x="8402117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Cypherpunk</a:t>
            </a:r>
            <a:endParaRPr lang="en-US" sz="2400" dirty="0"/>
          </a:p>
        </p:txBody>
      </p:sp>
      <p:sp>
        <p:nvSpPr>
          <p:cNvPr id="25" name="Per chi Cypherpunk"/>
          <p:cNvSpPr txBox="1"/>
          <p:nvPr/>
        </p:nvSpPr>
        <p:spPr>
          <a:xfrm>
            <a:off x="8402117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 vuole la privacy massima</a:t>
            </a:r>
            <a:endParaRPr lang="en-US" sz="1500" dirty="0"/>
          </a:p>
        </p:txBody>
      </p:sp>
      <p:sp>
        <p:nvSpPr>
          <p:cNvPr id="26" name="Cosa Cypherpunk"/>
          <p:cNvSpPr txBox="1"/>
          <p:nvPr/>
        </p:nvSpPr>
        <p:spPr>
          <a:xfrm>
            <a:off x="8402117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GrapheneOS, Linux, rete e servizi privati, rimozione dei tuoi dati personali.</a:t>
            </a:r>
            <a:endParaRPr lang="en-US" sz="1500" dirty="0"/>
          </a:p>
        </p:txBody>
      </p:sp>
      <p:sp>
        <p:nvSpPr>
          <p:cNvPr id="27" name="Meta Cypherpunk"/>
          <p:cNvSpPr txBox="1"/>
          <p:nvPr/>
        </p:nvSpPr>
        <p:spPr>
          <a:xfrm>
            <a:off x="8402117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45 MIN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 · ESSENZIALE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livello 1</a:t>
            </a:r>
            <a:endParaRPr lang="en-US" sz="3400" dirty="0"/>
          </a:p>
        </p:txBody>
      </p:sp>
      <p:sp>
        <p:nvSpPr>
          <p:cNvPr id="4" name="Sezione Rischi e attacchi"/>
          <p:cNvSpPr/>
          <p:nvPr/>
        </p:nvSpPr>
        <p:spPr>
          <a:xfrm>
            <a:off x="68580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Etichetta Rischi e attacchi"/>
          <p:cNvSpPr txBox="1"/>
          <p:nvPr/>
        </p:nvSpPr>
        <p:spPr>
          <a:xfrm>
            <a:off x="94183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ischi e attacchi"/>
          <p:cNvSpPr txBox="1"/>
          <p:nvPr/>
        </p:nvSpPr>
        <p:spPr>
          <a:xfrm>
            <a:off x="94183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 e attacchi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I rischi reali, oggi"/>
          <p:cNvSpPr txBox="1"/>
          <p:nvPr/>
        </p:nvSpPr>
        <p:spPr>
          <a:xfrm>
            <a:off x="130759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rischi reali, oggi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Come ti attaccano: prova tu"/>
          <p:cNvSpPr txBox="1"/>
          <p:nvPr/>
        </p:nvSpPr>
        <p:spPr>
          <a:xfrm>
            <a:off x="130759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ti attaccano: prova tu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Riconoscere la trappola: i 7 segnali"/>
          <p:cNvSpPr txBox="1"/>
          <p:nvPr/>
        </p:nvSpPr>
        <p:spPr>
          <a:xfrm>
            <a:off x="130759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 la trappola: i 7 segnali</a:t>
            </a:r>
            <a:endParaRPr lang="en-US" sz="1400" dirty="0"/>
          </a:p>
        </p:txBody>
      </p:sp>
      <p:sp>
        <p:nvSpPr>
          <p:cNvPr id="13" name="Sezione Le basi"/>
          <p:cNvSpPr/>
          <p:nvPr/>
        </p:nvSpPr>
        <p:spPr>
          <a:xfrm>
            <a:off x="3571553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Etichetta Le basi"/>
          <p:cNvSpPr txBox="1"/>
          <p:nvPr/>
        </p:nvSpPr>
        <p:spPr>
          <a:xfrm>
            <a:off x="3827585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15" name="Nome Le basi"/>
          <p:cNvSpPr txBox="1"/>
          <p:nvPr/>
        </p:nvSpPr>
        <p:spPr>
          <a:xfrm>
            <a:off x="3827585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</a:t>
            </a:r>
            <a:endParaRPr lang="en-US" sz="1800" dirty="0"/>
          </a:p>
        </p:txBody>
      </p:sp>
      <p:sp>
        <p:nvSpPr>
          <p:cNvPr id="16" name="Cap 4"/>
          <p:cNvSpPr txBox="1"/>
          <p:nvPr/>
        </p:nvSpPr>
        <p:spPr>
          <a:xfrm>
            <a:off x="382758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Capitolo Account ed email: come funzionano"/>
          <p:cNvSpPr txBox="1"/>
          <p:nvPr/>
        </p:nvSpPr>
        <p:spPr>
          <a:xfrm>
            <a:off x="419334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ed email: come funzionano</a:t>
            </a:r>
            <a:endParaRPr lang="en-US" sz="1400" dirty="0"/>
          </a:p>
        </p:txBody>
      </p:sp>
      <p:sp>
        <p:nvSpPr>
          <p:cNvPr id="18" name="Cap 5"/>
          <p:cNvSpPr txBox="1"/>
          <p:nvPr/>
        </p:nvSpPr>
        <p:spPr>
          <a:xfrm>
            <a:off x="382758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Capitolo App, siti, account e file: dove vive cosa"/>
          <p:cNvSpPr txBox="1"/>
          <p:nvPr/>
        </p:nvSpPr>
        <p:spPr>
          <a:xfrm>
            <a:off x="419334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App, siti, account e file: dove vive cosa</a:t>
            </a:r>
            <a:endParaRPr lang="en-US" sz="1400" dirty="0"/>
          </a:p>
        </p:txBody>
      </p:sp>
      <p:sp>
        <p:nvSpPr>
          <p:cNvPr id="20" name="Cap 6"/>
          <p:cNvSpPr txBox="1"/>
          <p:nvPr/>
        </p:nvSpPr>
        <p:spPr>
          <a:xfrm>
            <a:off x="382758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Capitolo Password e password manager"/>
          <p:cNvSpPr txBox="1"/>
          <p:nvPr/>
        </p:nvSpPr>
        <p:spPr>
          <a:xfrm>
            <a:off x="419334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e password manager</a:t>
            </a:r>
            <a:endParaRPr lang="en-US" sz="1400" dirty="0"/>
          </a:p>
        </p:txBody>
      </p:sp>
      <p:sp>
        <p:nvSpPr>
          <p:cNvPr id="22" name="Cap 7"/>
          <p:cNvSpPr txBox="1"/>
          <p:nvPr/>
        </p:nvSpPr>
        <p:spPr>
          <a:xfrm>
            <a:off x="382758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Capitolo 2FA, passkey e chiavi hardware"/>
          <p:cNvSpPr txBox="1"/>
          <p:nvPr/>
        </p:nvSpPr>
        <p:spPr>
          <a:xfrm>
            <a:off x="419334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2FA, passkey e chiavi hardware</a:t>
            </a:r>
            <a:endParaRPr lang="en-US" sz="1400" dirty="0"/>
          </a:p>
        </p:txBody>
      </p:sp>
      <p:sp>
        <p:nvSpPr>
          <p:cNvPr id="24" name="Cap 8"/>
          <p:cNvSpPr txBox="1"/>
          <p:nvPr/>
        </p:nvSpPr>
        <p:spPr>
          <a:xfrm>
            <a:off x="6095848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Capitolo Il browser e i link"/>
          <p:cNvSpPr txBox="1"/>
          <p:nvPr/>
        </p:nvSpPr>
        <p:spPr>
          <a:xfrm>
            <a:off x="6461608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browser e i link</a:t>
            </a:r>
            <a:endParaRPr lang="en-US" sz="1400" dirty="0"/>
          </a:p>
        </p:txBody>
      </p:sp>
      <p:sp>
        <p:nvSpPr>
          <p:cNvPr id="26" name="Cap 9"/>
          <p:cNvSpPr txBox="1"/>
          <p:nvPr/>
        </p:nvSpPr>
        <p:spPr>
          <a:xfrm>
            <a:off x="6095848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Condividere: chi vede cosa"/>
          <p:cNvSpPr txBox="1"/>
          <p:nvPr/>
        </p:nvSpPr>
        <p:spPr>
          <a:xfrm>
            <a:off x="6461608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Condividere: chi vede cosa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095848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Computer e telefono"/>
          <p:cNvSpPr txBox="1"/>
          <p:nvPr/>
        </p:nvSpPr>
        <p:spPr>
          <a:xfrm>
            <a:off x="6461608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e telefono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095848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Backup"/>
          <p:cNvSpPr txBox="1"/>
          <p:nvPr/>
        </p:nvSpPr>
        <p:spPr>
          <a:xfrm>
            <a:off x="6461608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</a:t>
            </a:r>
            <a:endParaRPr lang="en-US" sz="1400" dirty="0"/>
          </a:p>
        </p:txBody>
      </p:sp>
      <p:sp>
        <p:nvSpPr>
          <p:cNvPr id="32" name="Tag Da zero"/>
          <p:cNvSpPr/>
          <p:nvPr/>
        </p:nvSpPr>
        <p:spPr>
          <a:xfrm>
            <a:off x="7449711" y="2011680"/>
            <a:ext cx="9418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33" name="Tag testo"/>
          <p:cNvSpPr txBox="1"/>
          <p:nvPr/>
        </p:nvSpPr>
        <p:spPr>
          <a:xfrm>
            <a:off x="7449711" y="2011680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zero</a:t>
            </a:r>
            <a:endParaRPr lang="en-US" sz="1100" dirty="0"/>
          </a:p>
        </p:txBody>
      </p:sp>
      <p:sp>
        <p:nvSpPr>
          <p:cNvPr id="34" name="Sezione Strumenti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5" name="Etichetta Strumenti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6" name="Nome Strumenti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800" dirty="0"/>
          </a:p>
        </p:txBody>
      </p:sp>
      <p:sp>
        <p:nvSpPr>
          <p:cNvPr id="37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8" name="Capitolo Tech stack personal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personale</a:t>
            </a:r>
            <a:endParaRPr lang="en-US" sz="1400" dirty="0"/>
          </a:p>
        </p:txBody>
      </p:sp>
      <p:sp>
        <p:nvSpPr>
          <p:cNvPr id="39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40" name="Capitolo Checklist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1400" dirty="0"/>
          </a:p>
        </p:txBody>
      </p:sp>
      <p:sp>
        <p:nvSpPr>
          <p:cNvPr id="41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2" name="Capitolo Mettiti alla prov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Mettiti alla prova</a:t>
            </a:r>
            <a:endParaRPr lang="en-US" sz="1400" dirty="0"/>
          </a:p>
        </p:txBody>
      </p:sp>
      <p:sp>
        <p:nvSpPr>
          <p:cNvPr id="43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Capitolo Glossario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</a:t>
            </a:r>
            <a:endParaRPr lang="en-US" sz="1400" dirty="0"/>
          </a:p>
        </p:txBody>
      </p:sp>
      <p:sp>
        <p:nvSpPr>
          <p:cNvPr id="45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6" name="Capitolo Fo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47" name="nota Già pratico?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8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9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Già pratico?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Salta i capitoli “Da zero” e vai dritto a strumenti, checklist da 22 punti e test da 10 domande.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Attiva la verifica in due passaggi sulla tua email principale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Impostazioni dell’account, sezione Sicurezza. Meglio un’app di autenticazione o una passkey dell’SMS.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Controlla se la tua email è finita in una fuga di dati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haveibeenpwned.com. Se compare, cambia la password di quel servizio e di ogni sito dove l’avevi riusata.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Aggiorna telefono e browser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Dalle impostazioni del telefono e del browser. Mai da un avviso che compare su una pagina web.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livello 1. Circa 40 minuti, anche in più volte.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la checklist da 22 punti e supera il test. Circa 2 ore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Parte 2, obbligatoria: regole e processi aziendali. Il livello 2 se sei esposto.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e l’email principale sono chiavi: proteggile per prime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ti mette fretta ti sta manipolando: fermati e verifica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password, leggi il dominio. Nel dubbio, chiedi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 al lavoro: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UFCS, bilancio 2025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UFCS, bilancio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circa 65’000 segnalazioni, finte autorità 26%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bacs.admin.ch</a:t>
            </a:r>
            <a:endParaRPr lang="en-US" sz="1300" dirty="0"/>
          </a:p>
        </p:txBody>
      </p:sp>
      <p:sp>
        <p:nvSpPr>
          <p:cNvPr id="5" name="Fonte Verizon DBIR 2026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 delle violazioni passa da una persona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Verizon DBIR 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7" name="Fonte FBI IC3, rapporto 2025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IC3, rapporto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20,9 miliardi di dollari di perdite denunciate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ic3.gov</a:t>
            </a:r>
            <a:endParaRPr lang="en-US" sz="1300" dirty="0"/>
          </a:p>
        </p:txBody>
      </p:sp>
      <p:sp>
        <p:nvSpPr>
          <p:cNvPr id="8" name="Fonte TechCrunch, 30.08.2019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30.08.2019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di Jack Dorsey e il SIM swap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techcrunch.com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10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1 · Capire e proteggersi</dc:title>
  <dc:subject>PptxGenJS Presentation</dc:subject>
  <dc:creator>Aron Clementi</dc:creator>
  <cp:lastModifiedBy>Aron Clementi</cp:lastModifiedBy>
  <cp:revision>1</cp:revision>
  <dcterms:created xsi:type="dcterms:W3CDTF">2026-10-08T09:27:20Z</dcterms:created>
  <dcterms:modified xsi:type="dcterms:W3CDTF">2026-10-08T09:27:20Z</dcterms:modified>
</cp:coreProperties>
</file>