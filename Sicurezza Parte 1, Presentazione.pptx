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d09f2b7-abad-bfa7-be3e-b44fa05742c0}">
          <p14:sldIdLst>
            <p14:sldId id="256"/>
            <p14:sldId id="257"/>
          </p14:sldIdLst>
        </p14:section>
        <p14:section name="Perché" id="{25bd3fd8-0df8-74f0-2666-d3ec19711281}">
          <p14:sldIdLst>
            <p14:sldId id="258"/>
            <p14:sldId id="259"/>
            <p14:sldId id="260"/>
          </p14:sldIdLst>
        </p14:section>
        <p14:section name="Le basi" id="{a7e1c1b4-1301-1c66-aeb5-a34c96541ac7}">
          <p14:sldIdLst>
            <p14:sldId id="261"/>
            <p14:sldId id="262"/>
            <p14:sldId id="263"/>
          </p14:sldIdLst>
        </p14:section>
        <p14:section name="Il materiale" id="{db38f948-beb9-5aea-58ee-e7afa7528b55}">
          <p14:sldIdLst>
            <p14:sldId id="264"/>
            <p14:sldId id="265"/>
          </p14:sldIdLst>
        </p14:section>
        <p14:section name="Adesso" id="{1ff590cc-96b7-4f59-4363-777fc8e17451}">
          <p14:sldIdLst>
            <p14:sldId id="266"/>
            <p14:sldId id="267"/>
          </p14:sldIdLst>
        </p14:section>
        <p14:section name="Chiusura" id="{eac31c15-6881-9064-c80a-10f4242f96b1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Benvenuti. In 25 minuti vediamo tre cose: perché il tema riguarda tutti, le basi degli strumenti che usiamo ogni giorno e cosa fare subito. Il resto è nel materiale, da leggere con calma dopo l’incontro. Non serve nessuna base tecnica.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Partiamo dalle basi, come un corso di informatica: prima come funzionano le cose che usiamo ogni giorno, poi come ci attaccano, poi come proteggerci. Chi è già pratico può saltare i capitoli “Da zero” del materiale.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messaggio di tutta la Parte 1. Entrare in un sistema ben protetto è difficile; convincere una persona a cliccare, dare un codice o fare un bonifico è molto più facile. Quasi due violazioni su tre passano da una persona. La buona notizia: si impara a riconoscerle.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è un problema lontano. In Svizzera l’Ufficio federale della cibersicurezza ha ricevuto circa 65’000 segnalazioni nel 2025, e la truffa più frequente è la telefonata di un finto poliziotto, procuratore o funzionario. E con l’AI le email truffa sono scritte meglio: niente più errori di grammatica a tradirle.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caso famoso ma semplice. Dorsey non ha cliccato niente di strano: i criminali hanno convinto il suo operatore a trasferire il numero, e Twitter ha confermato la svista dell’operatore. Il punto per noi: il telefono non è solo un telefono, è la chiave di molti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Informatica di base, ed è la cosa più importante da capire. Foto, posta e documenti non stanno nel telefono: stanno su un server, e telefono, computer e sito sono solo finestre. Conseguenza: perdere il telefono è un fastidio, perdere l’account è un disastro. Un file salvato solo sul computer, invece, esiste solo lì: se il computer si rompe, è perso.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 base. L’email è il tuo nome utente quasi ovunque e, soprattutto, la porta di recupero di tutti gli altri account. Chi entra nella tua email clicca “password dimenticata” su banca e social e reimposta tutto. Per questo la prima cosa che faremo tra poco riguarda proprio l’email.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basi che evitano la maggior parte dei guai. Password diverse per ogni sito: dopo una violazione i criminali provano la stessa email e password ovunque. Il dominio: l’unica parte dell’indirizzo che non si può falsificare. La sincronizzazione: comoda, ma copia anche gli errori e i file cifrati da un ransomware. Il resto è nella sezione B del livello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materiale della Parte 1 è una sola pagina con tre livelli, uno per scheda. Tutti partono dal primo. Il secondo è per chi è più esposto: pagamenti, ruolo dirigenziale, crypto o profilo pubblico. Il terzo è facoltativo, per chi vuole il controllo totale della propria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Così è costruito il livello 1. La sezione A spiega i 12 rischi di oggi e fa provare cinque attacchi simulati, senza rischi. La sezione B è il corso di informatica di base: account, email, cloud, password, verifica in due passaggi, browser, condivisione, dispositivi e backup. La sezione C chiude con strumenti consigliati, checklist 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Facciamolo adesso, insieme, con il telefono in mano. Chi ha difficoltà alzi la mano: ci aiutiamo. Sono le tre azioni con il miglior rapporto tra tempo e protezione. Gli aggiornamenti si fanno sempre dalle impostazioni: una pagina web che vi dice di aggiornare è quasi sempre una trappola.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materiale si apre da un link nel browser, anche dal telefono, e non serve nessun account. Mostrate dal vivo dove sono l’interruttore della lingua, il menu dei capitoli e la checklist. Il programma è indicativo: decidetelo con il vostro responsabile.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frasi da ricordare. E una regola: se succede qualcosa, avvisare subito è sempre giusto. Nessuno viene rimproverato per aver segnalato un errore; i danni veri arrivano quando si aspetta.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fonti dei numeri e dei casi citati. Tutte verificabili, con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828800"/>
            <a:ext cx="66751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611880"/>
            <a:ext cx="6492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685800" y="6382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· Parte 1 · Capire e proteggersi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/>
        </p:nvSpPr>
        <p:spPr>
          <a:xfrm>
            <a:off x="685800" y="6382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· Parte 1 · Capire e proteggersi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acs.admin.ch/it/25w52-it" TargetMode="External"/><Relationship Id="rId2" Type="http://schemas.openxmlformats.org/officeDocument/2006/relationships/hyperlink" Target="https://www.verizon.com/business/resources/T161/reports/2026-dbir-data-breach-investigations-report.pdf" TargetMode="External"/><Relationship Id="rId3" Type="http://schemas.openxmlformats.org/officeDocument/2006/relationships/hyperlink" Target="https://www.verizon.com/business/resources/reports/2025-dbir-data-breach-investigations-report.pdf" TargetMode="External"/><Relationship Id="rId4" Type="http://schemas.openxmlformats.org/officeDocument/2006/relationships/hyperlink" Target="https://www.ic3.gov/AnnualReport/Reports/2025_IC3Report.pdf" TargetMode="External"/><Relationship Id="rId5" Type="http://schemas.openxmlformats.org/officeDocument/2006/relationships/hyperlink" Target="https://techcrunch.com/2019/08/30/someone-hacked-jack-dorseys-own-twitter-account/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chetta"/>
          <p:cNvSpPr txBox="1"/>
          <p:nvPr/>
        </p:nvSpPr>
        <p:spPr>
          <a:xfrm>
            <a:off x="685800" y="1353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· PARTE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828800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Capire e proteggersi</a:t>
            </a:r>
            <a:endParaRPr lang="en-US" sz="5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85800" y="361188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funzionano gli strumenti che usi ogni giorno, come ti attaccano e come ti difendi.</a:t>
            </a:r>
            <a:endParaRPr lang="en-US" sz="2000" dirty="0"/>
          </a:p>
        </p:txBody>
      </p:sp>
      <p:sp>
        <p:nvSpPr>
          <p:cNvPr id="5" name="pill Per tutti"/>
          <p:cNvSpPr/>
          <p:nvPr/>
        </p:nvSpPr>
        <p:spPr>
          <a:xfrm>
            <a:off x="685800" y="4892040"/>
            <a:ext cx="1239012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ill testo Per tutti"/>
          <p:cNvSpPr txBox="1"/>
          <p:nvPr/>
        </p:nvSpPr>
        <p:spPr>
          <a:xfrm>
            <a:off x="685800" y="4892040"/>
            <a:ext cx="12390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tutti</a:t>
            </a:r>
            <a:endParaRPr lang="en-US" sz="1300" dirty="0"/>
          </a:p>
        </p:txBody>
      </p:sp>
      <p:sp>
        <p:nvSpPr>
          <p:cNvPr id="7" name="pill Nessuna base tecnica"/>
          <p:cNvSpPr/>
          <p:nvPr/>
        </p:nvSpPr>
        <p:spPr>
          <a:xfrm>
            <a:off x="2061972" y="489204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pill testo Nessuna base tecnica"/>
          <p:cNvSpPr txBox="1"/>
          <p:nvPr/>
        </p:nvSpPr>
        <p:spPr>
          <a:xfrm>
            <a:off x="2061972" y="48920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base tecnica</a:t>
            </a:r>
            <a:endParaRPr lang="en-US" sz="1300" dirty="0"/>
          </a:p>
        </p:txBody>
      </p:sp>
      <p:sp>
        <p:nvSpPr>
          <p:cNvPr id="9" name="pill 25 minuti + domande"/>
          <p:cNvSpPr/>
          <p:nvPr/>
        </p:nvSpPr>
        <p:spPr>
          <a:xfrm>
            <a:off x="4393692" y="4892040"/>
            <a:ext cx="2107692" cy="402336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pill testo 25 minuti + domande"/>
          <p:cNvSpPr txBox="1"/>
          <p:nvPr/>
        </p:nvSpPr>
        <p:spPr>
          <a:xfrm>
            <a:off x="4393692" y="4892040"/>
            <a:ext cx="21076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minuti + domande</a:t>
            </a:r>
            <a:endParaRPr lang="en-US" sz="1300" dirty="0"/>
          </a:p>
        </p:txBody>
      </p:sp>
      <p:sp>
        <p:nvSpPr>
          <p:cNvPr id="11" name="Firma"/>
          <p:cNvSpPr txBox="1"/>
          <p:nvPr/>
        </p:nvSpPr>
        <p:spPr>
          <a:xfrm>
            <a:off x="685800" y="6172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percorso completo: Sicurezza e AI · materiale da leggere dopo l’incontro</a:t>
            </a:r>
            <a:endParaRPr lang="en-US" sz="1100" dirty="0"/>
          </a:p>
        </p:txBody>
      </p:sp>
      <p:sp>
        <p:nvSpPr>
          <p:cNvPr id="12" name="Pannello"/>
          <p:cNvSpPr/>
          <p:nvPr/>
        </p:nvSpPr>
        <p:spPr>
          <a:xfrm>
            <a:off x="7818120" y="685800"/>
            <a:ext cx="3685032" cy="5486400"/>
          </a:xfrm>
          <a:prstGeom prst="roundRect">
            <a:avLst>
              <a:gd name="adj" fmla="val 347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3" name="Icona copertina fondo"/>
          <p:cNvSpPr/>
          <p:nvPr/>
        </p:nvSpPr>
        <p:spPr>
          <a:xfrm>
            <a:off x="8275320" y="109728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cona coperti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694" y="1349654"/>
            <a:ext cx="546811" cy="546811"/>
          </a:xfrm>
          <a:prstGeom prst="rect">
            <a:avLst/>
          </a:prstGeom>
        </p:spPr>
      </p:pic>
      <p:sp>
        <p:nvSpPr>
          <p:cNvPr id="15" name="Dato 3"/>
          <p:cNvSpPr txBox="1"/>
          <p:nvPr/>
        </p:nvSpPr>
        <p:spPr>
          <a:xfrm>
            <a:off x="8275320" y="2514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Dato testo 3"/>
          <p:cNvSpPr txBox="1"/>
          <p:nvPr/>
        </p:nvSpPr>
        <p:spPr>
          <a:xfrm>
            <a:off x="827532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livelli, dal più semplice al più completo</a:t>
            </a:r>
            <a:endParaRPr lang="en-US" sz="1400" dirty="0"/>
          </a:p>
        </p:txBody>
      </p:sp>
      <p:sp>
        <p:nvSpPr>
          <p:cNvPr id="17" name="Dato 42"/>
          <p:cNvSpPr txBox="1"/>
          <p:nvPr/>
        </p:nvSpPr>
        <p:spPr>
          <a:xfrm>
            <a:off x="8275320" y="3703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400" dirty="0"/>
          </a:p>
        </p:txBody>
      </p:sp>
      <p:sp>
        <p:nvSpPr>
          <p:cNvPr id="18" name="Dato testo 42"/>
          <p:cNvSpPr txBox="1"/>
          <p:nvPr/>
        </p:nvSpPr>
        <p:spPr>
          <a:xfrm>
            <a:off x="827532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 in tutto</a:t>
            </a:r>
            <a:endParaRPr lang="en-US" sz="1400" dirty="0"/>
          </a:p>
        </p:txBody>
      </p:sp>
      <p:sp>
        <p:nvSpPr>
          <p:cNvPr id="19" name="Dato 40 min"/>
          <p:cNvSpPr txBox="1"/>
          <p:nvPr/>
        </p:nvSpPr>
        <p:spPr>
          <a:xfrm>
            <a:off x="8275320" y="4892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min</a:t>
            </a:r>
            <a:endParaRPr lang="en-US" sz="3400" dirty="0"/>
          </a:p>
        </p:txBody>
      </p:sp>
      <p:sp>
        <p:nvSpPr>
          <p:cNvPr id="20" name="Dato testo 40 min"/>
          <p:cNvSpPr txBox="1"/>
          <p:nvPr/>
        </p:nvSpPr>
        <p:spPr>
          <a:xfrm>
            <a:off x="8275320" y="5458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leggere il livello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INTRODUZIONE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cosa parliamo oggi</a:t>
            </a:r>
            <a:endParaRPr lang="en-US" sz="3400" dirty="0"/>
          </a:p>
        </p:txBody>
      </p:sp>
      <p:sp>
        <p:nvSpPr>
          <p:cNvPr id="4" name="Scheda Capire"/>
          <p:cNvSpPr/>
          <p:nvPr/>
        </p:nvSpPr>
        <p:spPr>
          <a:xfrm>
            <a:off x="685800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Icona Capire fondo"/>
          <p:cNvSpPr/>
          <p:nvPr/>
        </p:nvSpPr>
        <p:spPr>
          <a:xfrm>
            <a:off x="1005840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cona Capi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13432"/>
            <a:ext cx="356616" cy="356616"/>
          </a:xfrm>
          <a:prstGeom prst="rect">
            <a:avLst/>
          </a:prstGeom>
        </p:spPr>
      </p:pic>
      <p:sp>
        <p:nvSpPr>
          <p:cNvPr id="7" name="Titolo Capire"/>
          <p:cNvSpPr txBox="1"/>
          <p:nvPr/>
        </p:nvSpPr>
        <p:spPr>
          <a:xfrm>
            <a:off x="1005840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Capire</a:t>
            </a:r>
            <a:endParaRPr lang="en-US" sz="2100" dirty="0"/>
          </a:p>
        </p:txBody>
      </p:sp>
      <p:sp>
        <p:nvSpPr>
          <p:cNvPr id="8" name="Testo Capire"/>
          <p:cNvSpPr txBox="1"/>
          <p:nvPr/>
        </p:nvSpPr>
        <p:spPr>
          <a:xfrm>
            <a:off x="1005840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funzionano account, email, cloud, telefono e computer. Dove stanno davvero i tuoi dati.</a:t>
            </a:r>
            <a:endParaRPr lang="en-US" sz="1600" dirty="0"/>
          </a:p>
        </p:txBody>
      </p:sp>
      <p:sp>
        <p:nvSpPr>
          <p:cNvPr id="9" name="Scheda Riconoscere"/>
          <p:cNvSpPr/>
          <p:nvPr/>
        </p:nvSpPr>
        <p:spPr>
          <a:xfrm>
            <a:off x="4383938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Icona Riconoscere fondo"/>
          <p:cNvSpPr/>
          <p:nvPr/>
        </p:nvSpPr>
        <p:spPr>
          <a:xfrm>
            <a:off x="4703978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Riconosce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570" y="2313432"/>
            <a:ext cx="356616" cy="356616"/>
          </a:xfrm>
          <a:prstGeom prst="rect">
            <a:avLst/>
          </a:prstGeom>
        </p:spPr>
      </p:pic>
      <p:sp>
        <p:nvSpPr>
          <p:cNvPr id="12" name="Titolo Riconoscere"/>
          <p:cNvSpPr txBox="1"/>
          <p:nvPr/>
        </p:nvSpPr>
        <p:spPr>
          <a:xfrm>
            <a:off x="4703978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Riconoscere</a:t>
            </a:r>
            <a:endParaRPr lang="en-US" sz="2100" dirty="0"/>
          </a:p>
        </p:txBody>
      </p:sp>
      <p:sp>
        <p:nvSpPr>
          <p:cNvPr id="13" name="Testo Riconoscere"/>
          <p:cNvSpPr txBox="1"/>
          <p:nvPr/>
        </p:nvSpPr>
        <p:spPr>
          <a:xfrm>
            <a:off x="4703978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truffe più comuni e i segnali che le tradiscono, prima di cliccare o rispondere.</a:t>
            </a:r>
            <a:endParaRPr lang="en-US" sz="1600" dirty="0"/>
          </a:p>
        </p:txBody>
      </p:sp>
      <p:sp>
        <p:nvSpPr>
          <p:cNvPr id="14" name="Scheda Proteggersi"/>
          <p:cNvSpPr/>
          <p:nvPr/>
        </p:nvSpPr>
        <p:spPr>
          <a:xfrm>
            <a:off x="8082077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Icona Proteggersi fondo"/>
          <p:cNvSpPr/>
          <p:nvPr/>
        </p:nvSpPr>
        <p:spPr>
          <a:xfrm>
            <a:off x="8402117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6" name="Icona Proteggers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2313432"/>
            <a:ext cx="356616" cy="356616"/>
          </a:xfrm>
          <a:prstGeom prst="rect">
            <a:avLst/>
          </a:prstGeom>
        </p:spPr>
      </p:pic>
      <p:sp>
        <p:nvSpPr>
          <p:cNvPr id="17" name="Titolo Proteggersi"/>
          <p:cNvSpPr txBox="1"/>
          <p:nvPr/>
        </p:nvSpPr>
        <p:spPr>
          <a:xfrm>
            <a:off x="8402117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Proteggersi</a:t>
            </a:r>
            <a:endParaRPr lang="en-US" sz="2100" dirty="0"/>
          </a:p>
        </p:txBody>
      </p:sp>
      <p:sp>
        <p:nvSpPr>
          <p:cNvPr id="18" name="Testo Proteggersi"/>
          <p:cNvSpPr txBox="1"/>
          <p:nvPr/>
        </p:nvSpPr>
        <p:spPr>
          <a:xfrm>
            <a:off x="8402117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Poche abitudini e pochi strumenti che chiudono le porte principali, al lavoro e a casa.</a:t>
            </a:r>
            <a:endParaRPr lang="en-US" sz="1600" dirty="0"/>
          </a:p>
        </p:txBody>
      </p:sp>
      <p:sp>
        <p:nvSpPr>
          <p:cNvPr id="19" name="nota Non serve essere tecnici.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471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0" name="nota 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36108"/>
            <a:ext cx="329184" cy="329184"/>
          </a:xfrm>
          <a:prstGeom prst="rect">
            <a:avLst/>
          </a:prstGeom>
        </p:spPr>
      </p:pic>
      <p:sp>
        <p:nvSpPr>
          <p:cNvPr id="21" name="nota testo"/>
          <p:cNvSpPr txBox="1"/>
          <p:nvPr/>
        </p:nvSpPr>
        <p:spPr>
          <a:xfrm>
            <a:off x="1417320" y="5212080"/>
            <a:ext cx="9859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serve essere tecnici.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sapere cosa usi, dove stanno i tuoi dati e chi ha le chiavi.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</a:t>
            </a:r>
            <a:endParaRPr lang="en-US" sz="1200" dirty="0"/>
          </a:p>
        </p:txBody>
      </p:sp>
      <p:sp>
        <p:nvSpPr>
          <p:cNvPr id="3" name="Messaggio"/>
          <p:cNvSpPr txBox="1"/>
          <p:nvPr/>
        </p:nvSpPr>
        <p:spPr>
          <a:xfrm>
            <a:off x="685800" y="109728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truffatori non forzano i computer.</a:t>
            </a:r>
            <a:endParaRPr lang="en-US" sz="3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1B4D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Ingannano le persone.</a:t>
            </a:r>
            <a:endParaRPr lang="en-US" sz="3800" dirty="0"/>
          </a:p>
        </p:txBody>
      </p:sp>
      <p:sp>
        <p:nvSpPr>
          <p:cNvPr id="4" name="Sottotesto"/>
          <p:cNvSpPr txBox="1"/>
          <p:nvPr/>
        </p:nvSpPr>
        <p:spPr>
          <a:xfrm>
            <a:off x="685800" y="2667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questo la prima difesa sei tu: capire cosa usi e accorgerti quando qualcosa non torna.</a:t>
            </a:r>
            <a:endParaRPr lang="en-US" sz="2000" dirty="0"/>
          </a:p>
        </p:txBody>
      </p:sp>
      <p:sp>
        <p:nvSpPr>
          <p:cNvPr id="5" name="Dato"/>
          <p:cNvSpPr/>
          <p:nvPr/>
        </p:nvSpPr>
        <p:spPr>
          <a:xfrm>
            <a:off x="685800" y="4800600"/>
            <a:ext cx="10820095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ato numero"/>
          <p:cNvSpPr txBox="1"/>
          <p:nvPr/>
        </p:nvSpPr>
        <p:spPr>
          <a:xfrm>
            <a:off x="1005840" y="4800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3800" dirty="0"/>
          </a:p>
        </p:txBody>
      </p:sp>
      <p:sp>
        <p:nvSpPr>
          <p:cNvPr id="7" name="Dato testo"/>
          <p:cNvSpPr txBox="1"/>
          <p:nvPr/>
        </p:nvSpPr>
        <p:spPr>
          <a:xfrm>
            <a:off x="2560320" y="4800600"/>
            <a:ext cx="8671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delle violazioni di dati passa da una persona: un errore o una manipolazione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2026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NUMERI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Succede qui, e succede spesso</a:t>
            </a:r>
            <a:endParaRPr lang="en-US" sz="3400" dirty="0"/>
          </a:p>
        </p:txBody>
      </p:sp>
      <p:sp>
        <p:nvSpPr>
          <p:cNvPr id="4" name="Numero 65’000"/>
          <p:cNvSpPr/>
          <p:nvPr/>
        </p:nvSpPr>
        <p:spPr>
          <a:xfrm>
            <a:off x="685800" y="1828800"/>
            <a:ext cx="3423818" cy="2971800"/>
          </a:xfrm>
          <a:prstGeom prst="roundRect">
            <a:avLst>
              <a:gd name="adj" fmla="val 430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Cifra 65’000"/>
          <p:cNvSpPr txBox="1"/>
          <p:nvPr/>
        </p:nvSpPr>
        <p:spPr>
          <a:xfrm>
            <a:off x="1051560" y="21031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65’000</a:t>
            </a:r>
            <a:endParaRPr lang="en-US" sz="5000" dirty="0"/>
          </a:p>
        </p:txBody>
      </p:sp>
      <p:sp>
        <p:nvSpPr>
          <p:cNvPr id="6" name="Etichetta 65’000"/>
          <p:cNvSpPr txBox="1"/>
          <p:nvPr/>
        </p:nvSpPr>
        <p:spPr>
          <a:xfrm>
            <a:off x="1051560" y="3108960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segnalazioni all’Ufficio federale della cibersicurezza nel 2025</a:t>
            </a:r>
            <a:endParaRPr lang="en-US" sz="1700" dirty="0"/>
          </a:p>
        </p:txBody>
      </p:sp>
      <p:sp>
        <p:nvSpPr>
          <p:cNvPr id="7" name="Fonte 65’000"/>
          <p:cNvSpPr txBox="1"/>
          <p:nvPr/>
        </p:nvSpPr>
        <p:spPr>
          <a:xfrm>
            <a:off x="1051560" y="4343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UFCS 2025 · cifra arrotondata</a:t>
            </a:r>
            <a:endParaRPr lang="en-US" sz="1100" dirty="0"/>
          </a:p>
        </p:txBody>
      </p:sp>
      <p:sp>
        <p:nvSpPr>
          <p:cNvPr id="8" name="Numero 26%"/>
          <p:cNvSpPr/>
          <p:nvPr/>
        </p:nvSpPr>
        <p:spPr>
          <a:xfrm>
            <a:off x="4383938" y="1828800"/>
            <a:ext cx="3423818" cy="2971800"/>
          </a:xfrm>
          <a:prstGeom prst="roundRect">
            <a:avLst>
              <a:gd name="adj" fmla="val 430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" name="Cifra 26%"/>
          <p:cNvSpPr txBox="1"/>
          <p:nvPr/>
        </p:nvSpPr>
        <p:spPr>
          <a:xfrm>
            <a:off x="4749698" y="21031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5000" dirty="0"/>
          </a:p>
        </p:txBody>
      </p:sp>
      <p:sp>
        <p:nvSpPr>
          <p:cNvPr id="10" name="Etichetta 26%"/>
          <p:cNvSpPr txBox="1"/>
          <p:nvPr/>
        </p:nvSpPr>
        <p:spPr>
          <a:xfrm>
            <a:off x="4749698" y="3108960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 telefonate di finte autorità: la truffa più segnalata in Svizzera</a:t>
            </a:r>
            <a:endParaRPr lang="en-US" sz="1700" dirty="0"/>
          </a:p>
        </p:txBody>
      </p:sp>
      <p:sp>
        <p:nvSpPr>
          <p:cNvPr id="11" name="Fonte 26%"/>
          <p:cNvSpPr txBox="1"/>
          <p:nvPr/>
        </p:nvSpPr>
        <p:spPr>
          <a:xfrm>
            <a:off x="4749698" y="4343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UFCS 2025</a:t>
            </a:r>
            <a:endParaRPr lang="en-US" sz="1100" dirty="0"/>
          </a:p>
        </p:txBody>
      </p:sp>
      <p:sp>
        <p:nvSpPr>
          <p:cNvPr id="12" name="Numero 20,9 mld"/>
          <p:cNvSpPr/>
          <p:nvPr/>
        </p:nvSpPr>
        <p:spPr>
          <a:xfrm>
            <a:off x="8082077" y="1828800"/>
            <a:ext cx="3423818" cy="2971800"/>
          </a:xfrm>
          <a:prstGeom prst="roundRect">
            <a:avLst>
              <a:gd name="adj" fmla="val 430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Cifra 20,9 mld"/>
          <p:cNvSpPr txBox="1"/>
          <p:nvPr/>
        </p:nvSpPr>
        <p:spPr>
          <a:xfrm>
            <a:off x="8447837" y="21031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20,9 mld</a:t>
            </a:r>
            <a:endParaRPr lang="en-US" sz="3800" dirty="0"/>
          </a:p>
        </p:txBody>
      </p:sp>
      <p:sp>
        <p:nvSpPr>
          <p:cNvPr id="14" name="Etichetta 20,9 mld"/>
          <p:cNvSpPr txBox="1"/>
          <p:nvPr/>
        </p:nvSpPr>
        <p:spPr>
          <a:xfrm>
            <a:off x="8447837" y="3108960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dollari di perdite denunciate all’FBI nel 2025</a:t>
            </a:r>
            <a:endParaRPr lang="en-US" sz="1700" dirty="0"/>
          </a:p>
        </p:txBody>
      </p:sp>
      <p:sp>
        <p:nvSpPr>
          <p:cNvPr id="15" name="Fonte 20,9 mld"/>
          <p:cNvSpPr txBox="1"/>
          <p:nvPr/>
        </p:nvSpPr>
        <p:spPr>
          <a:xfrm>
            <a:off x="8447837" y="4343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IC3 2025</a:t>
            </a:r>
            <a:endParaRPr lang="en-US" sz="1100" dirty="0"/>
          </a:p>
        </p:txBody>
      </p:sp>
      <p:sp>
        <p:nvSpPr>
          <p:cNvPr id="16" name="nota E l’AI aiuta i truffatori:"/>
          <p:cNvSpPr/>
          <p:nvPr/>
        </p:nvSpPr>
        <p:spPr>
          <a:xfrm>
            <a:off x="685800" y="5120640"/>
            <a:ext cx="10820095" cy="822960"/>
          </a:xfrm>
          <a:prstGeom prst="roundRect">
            <a:avLst>
              <a:gd name="adj" fmla="val 15556"/>
            </a:avLst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</p:spPr>
      </p:sp>
      <p:pic>
        <p:nvPicPr>
          <p:cNvPr id="17" name="nota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67528"/>
            <a:ext cx="329184" cy="329184"/>
          </a:xfrm>
          <a:prstGeom prst="rect">
            <a:avLst/>
          </a:prstGeom>
        </p:spPr>
      </p:pic>
      <p:sp>
        <p:nvSpPr>
          <p:cNvPr id="18" name="nota testo"/>
          <p:cNvSpPr txBox="1"/>
          <p:nvPr/>
        </p:nvSpPr>
        <p:spPr>
          <a:xfrm>
            <a:off x="1417320" y="512064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5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l’AI aiuta i truffatori: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testo delle email truffa scritto dall’AI è raddoppiato in due anni (Verizon DBIR 2025).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VERO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 hanno preso il numero, non il telefono</a:t>
            </a:r>
            <a:endParaRPr lang="en-US" sz="3400" dirty="0"/>
          </a:p>
        </p:txBody>
      </p:sp>
      <p:sp>
        <p:nvSpPr>
          <p:cNvPr id="4" name="Linea del tempo"/>
          <p:cNvSpPr/>
          <p:nvPr/>
        </p:nvSpPr>
        <p:spPr>
          <a:xfrm>
            <a:off x="804672" y="2057400"/>
            <a:ext cx="0" cy="2596896"/>
          </a:xfrm>
          <a:prstGeom prst="line">
            <a:avLst/>
          </a:prstGeom>
          <a:noFill/>
          <a:ln w="25400">
            <a:solidFill>
              <a:srgbClr val="E4E8EE"/>
            </a:solidFill>
            <a:prstDash val="solid"/>
          </a:ln>
        </p:spPr>
      </p:sp>
      <p:sp>
        <p:nvSpPr>
          <p:cNvPr id="5" name="Punto 30 agosto 2019"/>
          <p:cNvSpPr/>
          <p:nvPr/>
        </p:nvSpPr>
        <p:spPr>
          <a:xfrm>
            <a:off x="685800" y="1938528"/>
            <a:ext cx="237744" cy="237744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Quando 30 agosto 2019"/>
          <p:cNvSpPr txBox="1"/>
          <p:nvPr/>
        </p:nvSpPr>
        <p:spPr>
          <a:xfrm>
            <a:off x="1188720" y="18745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AGOSTO 2019</a:t>
            </a:r>
            <a:endParaRPr lang="en-US" sz="1200" dirty="0"/>
          </a:p>
        </p:txBody>
      </p:sp>
      <p:sp>
        <p:nvSpPr>
          <p:cNvPr id="7" name="Fatto 30 agosto 2019"/>
          <p:cNvSpPr txBox="1"/>
          <p:nvPr/>
        </p:nvSpPr>
        <p:spPr>
          <a:xfrm>
            <a:off x="1188720" y="220370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L’account Twitter di Jack Dorsey, cofondatore e capo di Twitter, pubblica messaggi offensivi.</a:t>
            </a:r>
            <a:endParaRPr lang="en-US" sz="1700" dirty="0"/>
          </a:p>
        </p:txBody>
      </p:sp>
      <p:sp>
        <p:nvSpPr>
          <p:cNvPr id="8" name="Punto Come"/>
          <p:cNvSpPr/>
          <p:nvPr/>
        </p:nvSpPr>
        <p:spPr>
          <a:xfrm>
            <a:off x="685800" y="3236976"/>
            <a:ext cx="237744" cy="237744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Quando Come"/>
          <p:cNvSpPr txBox="1"/>
          <p:nvPr/>
        </p:nvSpPr>
        <p:spPr>
          <a:xfrm>
            <a:off x="1188720" y="3172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</a:t>
            </a:r>
            <a:endParaRPr lang="en-US" sz="1200" dirty="0"/>
          </a:p>
        </p:txBody>
      </p:sp>
      <p:sp>
        <p:nvSpPr>
          <p:cNvPr id="10" name="Fatto Come"/>
          <p:cNvSpPr txBox="1"/>
          <p:nvPr/>
        </p:nvSpPr>
        <p:spPr>
          <a:xfrm>
            <a:off x="1188720" y="350215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Nessuno ha violato Twitter. I criminali hanno ottenuto dall’operatore telefonico il suo numero su un’altra SIM.</a:t>
            </a:r>
            <a:endParaRPr lang="en-US" sz="1700" dirty="0"/>
          </a:p>
        </p:txBody>
      </p:sp>
      <p:sp>
        <p:nvSpPr>
          <p:cNvPr id="11" name="Punto Il risultato"/>
          <p:cNvSpPr/>
          <p:nvPr/>
        </p:nvSpPr>
        <p:spPr>
          <a:xfrm>
            <a:off x="685800" y="4535424"/>
            <a:ext cx="237744" cy="237744"/>
          </a:xfrm>
          <a:prstGeom prst="ellipse">
            <a:avLst/>
          </a:prstGeom>
          <a:solidFill>
            <a:srgbClr val="B423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Quando Il risultato"/>
          <p:cNvSpPr txBox="1"/>
          <p:nvPr/>
        </p:nvSpPr>
        <p:spPr>
          <a:xfrm>
            <a:off x="1188720" y="44714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RISULTATO</a:t>
            </a:r>
            <a:endParaRPr lang="en-US" sz="1200" dirty="0"/>
          </a:p>
        </p:txBody>
      </p:sp>
      <p:sp>
        <p:nvSpPr>
          <p:cNvPr id="13" name="Fatto Il risultato"/>
          <p:cNvSpPr txBox="1"/>
          <p:nvPr/>
        </p:nvSpPr>
        <p:spPr>
          <a:xfrm>
            <a:off x="1188720" y="48006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suo numero potevano scrivere a suo nome via SMS. Si chiama SIM swap e colpisce anche persone comuni.</a:t>
            </a:r>
            <a:endParaRPr lang="en-US" sz="1700" dirty="0"/>
          </a:p>
        </p:txBody>
      </p:sp>
      <p:sp>
        <p:nvSpPr>
          <p:cNvPr id="14" name="Lezione"/>
          <p:cNvSpPr/>
          <p:nvPr/>
        </p:nvSpPr>
        <p:spPr>
          <a:xfrm>
            <a:off x="7589520" y="1828800"/>
            <a:ext cx="3916375" cy="2103120"/>
          </a:xfrm>
          <a:prstGeom prst="roundRect">
            <a:avLst>
              <a:gd name="adj" fmla="val 6087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pic>
        <p:nvPicPr>
          <p:cNvPr id="15" name="Lezione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03120"/>
            <a:ext cx="384048" cy="384048"/>
          </a:xfrm>
          <a:prstGeom prst="rect">
            <a:avLst/>
          </a:prstGeom>
        </p:spPr>
      </p:pic>
      <p:sp>
        <p:nvSpPr>
          <p:cNvPr id="16" name="Lezione titolo"/>
          <p:cNvSpPr txBox="1"/>
          <p:nvPr/>
        </p:nvSpPr>
        <p:spPr>
          <a:xfrm>
            <a:off x="8366760" y="2103120"/>
            <a:ext cx="2864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lezione</a:t>
            </a:r>
            <a:endParaRPr lang="en-US" sz="1900" dirty="0"/>
          </a:p>
        </p:txBody>
      </p:sp>
      <p:sp>
        <p:nvSpPr>
          <p:cNvPr id="17" name="Lezione testo"/>
          <p:cNvSpPr txBox="1"/>
          <p:nvPr/>
        </p:nvSpPr>
        <p:spPr>
          <a:xfrm>
            <a:off x="7863840" y="2633472"/>
            <a:ext cx="33677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numero di telefono è una chiave: qui è bastato per scrivere a suo nome. Se un account si recupera con un SMS, chi prende il numero entra al posto tuo.</a:t>
            </a:r>
            <a:endParaRPr lang="en-US" sz="1600" dirty="0"/>
          </a:p>
        </p:txBody>
      </p:sp>
      <p:sp>
        <p:nvSpPr>
          <p:cNvPr id="18" name="Nel materiale"/>
          <p:cNvSpPr/>
          <p:nvPr/>
        </p:nvSpPr>
        <p:spPr>
          <a:xfrm>
            <a:off x="7589520" y="4114800"/>
            <a:ext cx="3916375" cy="182880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pic>
        <p:nvPicPr>
          <p:cNvPr id="19" name="Materiale 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361688"/>
            <a:ext cx="347472" cy="347472"/>
          </a:xfrm>
          <a:prstGeom prst="rect">
            <a:avLst/>
          </a:prstGeom>
        </p:spPr>
      </p:pic>
      <p:sp>
        <p:nvSpPr>
          <p:cNvPr id="20" name="Materiale titolo"/>
          <p:cNvSpPr txBox="1"/>
          <p:nvPr/>
        </p:nvSpPr>
        <p:spPr>
          <a:xfrm>
            <a:off x="8366760" y="4361688"/>
            <a:ext cx="28648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materiale</a:t>
            </a:r>
            <a:endParaRPr lang="en-US" sz="1600" dirty="0"/>
          </a:p>
        </p:txBody>
      </p:sp>
      <p:sp>
        <p:nvSpPr>
          <p:cNvPr id="21" name="Materiale testo"/>
          <p:cNvSpPr txBox="1"/>
          <p:nvPr/>
        </p:nvSpPr>
        <p:spPr>
          <a:xfrm>
            <a:off x="7863840" y="4800600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Livello 1, capitolo 7: verifica in due passaggi più sicura degli SMS. Livello 2, capitolo 2: un numero solo per il recupero.</a:t>
            </a:r>
            <a:endParaRPr lang="en-US" sz="1400" dirty="0"/>
          </a:p>
        </p:txBody>
      </p:sp>
      <p:sp>
        <p:nvSpPr>
          <p:cNvPr id="22" name="Fonte"/>
          <p:cNvSpPr txBox="1"/>
          <p:nvPr/>
        </p:nvSpPr>
        <p:spPr>
          <a:xfrm>
            <a:off x="685800" y="59893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TechCrunch, 30.08.2019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BASI ·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tuoi dati stanno su un server</a:t>
            </a:r>
            <a:endParaRPr lang="en-US" sz="3400" dirty="0"/>
          </a:p>
        </p:txBody>
      </p:sp>
      <p:pic>
        <p:nvPicPr>
          <p:cNvPr id="4" name="Schema dall’HTM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85720"/>
            <a:ext cx="7040880" cy="2738120"/>
          </a:xfrm>
          <a:prstGeom prst="rect">
            <a:avLst/>
          </a:prstGeom>
        </p:spPr>
      </p:pic>
      <p:sp>
        <p:nvSpPr>
          <p:cNvPr id="5" name="Spiegazione"/>
          <p:cNvSpPr/>
          <p:nvPr/>
        </p:nvSpPr>
        <p:spPr>
          <a:xfrm>
            <a:off x="8138160" y="1828800"/>
            <a:ext cx="3367735" cy="4251960"/>
          </a:xfrm>
          <a:prstGeom prst="roundRect">
            <a:avLst>
              <a:gd name="adj" fmla="val 3801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unto Sito e app sono solo finestre"/>
          <p:cNvSpPr txBox="1"/>
          <p:nvPr/>
        </p:nvSpPr>
        <p:spPr>
          <a:xfrm>
            <a:off x="8412480" y="2148840"/>
            <a:ext cx="28190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Sito e app sono solo finestre</a:t>
            </a:r>
            <a:endParaRPr lang="en-US" sz="1800" dirty="0"/>
          </a:p>
        </p:txBody>
      </p:sp>
      <p:sp>
        <p:nvSpPr>
          <p:cNvPr id="7" name="Testo Sito e app sono solo finestre"/>
          <p:cNvSpPr txBox="1"/>
          <p:nvPr/>
        </p:nvSpPr>
        <p:spPr>
          <a:xfrm>
            <a:off x="8412480" y="2834640"/>
            <a:ext cx="2819095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 telefono o sul computer mostrano lo stesso account, che vive su un server. Cambi da una parte, lo vedi ovunque.</a:t>
            </a:r>
            <a:endParaRPr lang="en-US" sz="1500" dirty="0"/>
          </a:p>
        </p:txBody>
      </p:sp>
      <p:sp>
        <p:nvSpPr>
          <p:cNvPr id="8" name="Punto Chi entra nell’account vede tutto"/>
          <p:cNvSpPr txBox="1"/>
          <p:nvPr/>
        </p:nvSpPr>
        <p:spPr>
          <a:xfrm>
            <a:off x="8412480" y="4111752"/>
            <a:ext cx="28190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entra nell’account vede tutto</a:t>
            </a:r>
            <a:endParaRPr lang="en-US" sz="1800" dirty="0"/>
          </a:p>
        </p:txBody>
      </p:sp>
      <p:sp>
        <p:nvSpPr>
          <p:cNvPr id="9" name="Testo Chi entra nell’account vede tutto"/>
          <p:cNvSpPr txBox="1"/>
          <p:nvPr/>
        </p:nvSpPr>
        <p:spPr>
          <a:xfrm>
            <a:off x="8412480" y="4797552"/>
            <a:ext cx="2819095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qualsiasi parte del mondo, senza toccare il tuo telefono. Per questo contano password e 2FA.</a:t>
            </a:r>
            <a:endParaRPr lang="en-US" sz="1500" dirty="0"/>
          </a:p>
        </p:txBody>
      </p:sp>
      <p:sp>
        <p:nvSpPr>
          <p:cNvPr id="10" name="Didascalia"/>
          <p:cNvSpPr txBox="1"/>
          <p:nvPr/>
        </p:nvSpPr>
        <p:spPr>
          <a:xfrm>
            <a:off x="685800" y="59893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dal livello 1, capitolo 5: “App, siti, account e file: dove vive cosa”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BASI ·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L’email principale apre tutto</a:t>
            </a:r>
            <a:endParaRPr lang="en-US" sz="3400" dirty="0"/>
          </a:p>
        </p:txBody>
      </p:sp>
      <p:pic>
        <p:nvPicPr>
          <p:cNvPr id="4" name="Schema dall’HTM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96438"/>
            <a:ext cx="7040880" cy="1916684"/>
          </a:xfrm>
          <a:prstGeom prst="rect">
            <a:avLst/>
          </a:prstGeom>
        </p:spPr>
      </p:pic>
      <p:sp>
        <p:nvSpPr>
          <p:cNvPr id="5" name="Spiegazione"/>
          <p:cNvSpPr/>
          <p:nvPr/>
        </p:nvSpPr>
        <p:spPr>
          <a:xfrm>
            <a:off x="8138160" y="1828800"/>
            <a:ext cx="3367735" cy="4251960"/>
          </a:xfrm>
          <a:prstGeom prst="roundRect">
            <a:avLst>
              <a:gd name="adj" fmla="val 3801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Punto Ogni “password dimenticata” arriva lì"/>
          <p:cNvSpPr txBox="1"/>
          <p:nvPr/>
        </p:nvSpPr>
        <p:spPr>
          <a:xfrm>
            <a:off x="8412480" y="2148840"/>
            <a:ext cx="28190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“password dimenticata” arriva lì</a:t>
            </a:r>
            <a:endParaRPr lang="en-US" sz="1800" dirty="0"/>
          </a:p>
        </p:txBody>
      </p:sp>
      <p:sp>
        <p:nvSpPr>
          <p:cNvPr id="7" name="Testo Ogni “password dimenticata” arriva lì"/>
          <p:cNvSpPr txBox="1"/>
          <p:nvPr/>
        </p:nvSpPr>
        <p:spPr>
          <a:xfrm>
            <a:off x="8412480" y="2834640"/>
            <a:ext cx="2819095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Banca, social, lavoro, negozi: per recuperare l’accesso ti mandano un link a quella email.</a:t>
            </a:r>
            <a:endParaRPr lang="en-US" sz="1500" dirty="0"/>
          </a:p>
        </p:txBody>
      </p:sp>
      <p:sp>
        <p:nvSpPr>
          <p:cNvPr id="8" name="Punto Proteggila più di tutto"/>
          <p:cNvSpPr txBox="1"/>
          <p:nvPr/>
        </p:nvSpPr>
        <p:spPr>
          <a:xfrm>
            <a:off x="8412480" y="4111752"/>
            <a:ext cx="28190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Proteggila più di tutto</a:t>
            </a:r>
            <a:endParaRPr lang="en-US" sz="1800" dirty="0"/>
          </a:p>
        </p:txBody>
      </p:sp>
      <p:sp>
        <p:nvSpPr>
          <p:cNvPr id="9" name="Testo Proteggila più di tutto"/>
          <p:cNvSpPr txBox="1"/>
          <p:nvPr/>
        </p:nvSpPr>
        <p:spPr>
          <a:xfrm>
            <a:off x="8412480" y="4518660"/>
            <a:ext cx="2819095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la prende, prende anche il resto. Password unica e verifica in due passaggi.</a:t>
            </a:r>
            <a:endParaRPr lang="en-US" sz="1500" dirty="0"/>
          </a:p>
        </p:txBody>
      </p:sp>
      <p:sp>
        <p:nvSpPr>
          <p:cNvPr id="10" name="Didascalia"/>
          <p:cNvSpPr txBox="1"/>
          <p:nvPr/>
        </p:nvSpPr>
        <p:spPr>
          <a:xfrm>
            <a:off x="685800" y="59893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dal livello 1, capitolo 4: “Account ed email: come funzionano”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BASI ·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regole che ti salvano</a:t>
            </a:r>
            <a:endParaRPr lang="en-US" sz="3400" dirty="0"/>
          </a:p>
        </p:txBody>
      </p:sp>
      <p:sp>
        <p:nvSpPr>
          <p:cNvPr id="4" name="Scheda Una password per ogni sito"/>
          <p:cNvSpPr/>
          <p:nvPr/>
        </p:nvSpPr>
        <p:spPr>
          <a:xfrm>
            <a:off x="685800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Icona Una password per ogni sito fondo"/>
          <p:cNvSpPr/>
          <p:nvPr/>
        </p:nvSpPr>
        <p:spPr>
          <a:xfrm>
            <a:off x="1005840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cona Una password per ogni si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13432"/>
            <a:ext cx="356616" cy="356616"/>
          </a:xfrm>
          <a:prstGeom prst="rect">
            <a:avLst/>
          </a:prstGeom>
        </p:spPr>
      </p:pic>
      <p:sp>
        <p:nvSpPr>
          <p:cNvPr id="7" name="Titolo Una password per ogni sito"/>
          <p:cNvSpPr txBox="1"/>
          <p:nvPr/>
        </p:nvSpPr>
        <p:spPr>
          <a:xfrm>
            <a:off x="1005840" y="3017520"/>
            <a:ext cx="2783738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password per ogni sito</a:t>
            </a:r>
            <a:endParaRPr lang="en-US" sz="2100" dirty="0"/>
          </a:p>
        </p:txBody>
      </p:sp>
      <p:sp>
        <p:nvSpPr>
          <p:cNvPr id="8" name="Testo Una password per ogni sito"/>
          <p:cNvSpPr txBox="1"/>
          <p:nvPr/>
        </p:nvSpPr>
        <p:spPr>
          <a:xfrm>
            <a:off x="1005840" y="3796284"/>
            <a:ext cx="2783738" cy="103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usi la stessa ovunque, un sito violato apre tutti gli altri. Il password manager le ricorda per te.</a:t>
            </a:r>
            <a:endParaRPr lang="en-US" sz="1600" dirty="0"/>
          </a:p>
        </p:txBody>
      </p:sp>
      <p:sp>
        <p:nvSpPr>
          <p:cNvPr id="9" name="Scheda Leggi il dominio"/>
          <p:cNvSpPr/>
          <p:nvPr/>
        </p:nvSpPr>
        <p:spPr>
          <a:xfrm>
            <a:off x="4383938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Icona Leggi il dominio fondo"/>
          <p:cNvSpPr/>
          <p:nvPr/>
        </p:nvSpPr>
        <p:spPr>
          <a:xfrm>
            <a:off x="4703978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Leggi il domini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570" y="2313432"/>
            <a:ext cx="356616" cy="356616"/>
          </a:xfrm>
          <a:prstGeom prst="rect">
            <a:avLst/>
          </a:prstGeom>
        </p:spPr>
      </p:pic>
      <p:sp>
        <p:nvSpPr>
          <p:cNvPr id="12" name="Titolo Leggi il dominio"/>
          <p:cNvSpPr txBox="1"/>
          <p:nvPr/>
        </p:nvSpPr>
        <p:spPr>
          <a:xfrm>
            <a:off x="4703978" y="3017520"/>
            <a:ext cx="2783738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il dominio</a:t>
            </a:r>
            <a:endParaRPr lang="en-US" sz="2100" dirty="0"/>
          </a:p>
        </p:txBody>
      </p:sp>
      <p:sp>
        <p:nvSpPr>
          <p:cNvPr id="13" name="Testo Leggi il dominio"/>
          <p:cNvSpPr txBox="1"/>
          <p:nvPr/>
        </p:nvSpPr>
        <p:spPr>
          <a:xfrm>
            <a:off x="4703978" y="3470910"/>
            <a:ext cx="2783738" cy="135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di scrivere una password guarda il nome prima della prima barra: postfinance.ch. Il resto si può inventare.</a:t>
            </a:r>
            <a:endParaRPr lang="en-US" sz="1600" dirty="0"/>
          </a:p>
        </p:txBody>
      </p:sp>
      <p:sp>
        <p:nvSpPr>
          <p:cNvPr id="14" name="Scheda Sincronizzato non è backup"/>
          <p:cNvSpPr/>
          <p:nvPr/>
        </p:nvSpPr>
        <p:spPr>
          <a:xfrm>
            <a:off x="8082077" y="1828800"/>
            <a:ext cx="3423818" cy="3063240"/>
          </a:xfrm>
          <a:prstGeom prst="roundRect">
            <a:avLst>
              <a:gd name="adj" fmla="val 417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Icona Sincronizzato non è backup fondo"/>
          <p:cNvSpPr/>
          <p:nvPr/>
        </p:nvSpPr>
        <p:spPr>
          <a:xfrm>
            <a:off x="8402117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6" name="Icona Sincronizzato non è backu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2313432"/>
            <a:ext cx="356616" cy="356616"/>
          </a:xfrm>
          <a:prstGeom prst="rect">
            <a:avLst/>
          </a:prstGeom>
        </p:spPr>
      </p:pic>
      <p:sp>
        <p:nvSpPr>
          <p:cNvPr id="17" name="Titolo Sincronizzato non è backup"/>
          <p:cNvSpPr txBox="1"/>
          <p:nvPr/>
        </p:nvSpPr>
        <p:spPr>
          <a:xfrm>
            <a:off x="8402117" y="3017520"/>
            <a:ext cx="2783738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Sincronizzato non è backup</a:t>
            </a:r>
            <a:endParaRPr lang="en-US" sz="2100" dirty="0"/>
          </a:p>
        </p:txBody>
      </p:sp>
      <p:sp>
        <p:nvSpPr>
          <p:cNvPr id="18" name="Testo Sincronizzato non è backup"/>
          <p:cNvSpPr txBox="1"/>
          <p:nvPr/>
        </p:nvSpPr>
        <p:spPr>
          <a:xfrm>
            <a:off x="8402117" y="3796284"/>
            <a:ext cx="2783738" cy="103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file cancellato o cifrato da un virus viene copiato ovunque in pochi secondi. Serve una copia separata.</a:t>
            </a:r>
            <a:endParaRPr lang="en-US" sz="1600" dirty="0"/>
          </a:p>
        </p:txBody>
      </p:sp>
      <p:sp>
        <p:nvSpPr>
          <p:cNvPr id="19" name="nota Il resto delle basi è nel livello 1: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471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0" name="nota 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36108"/>
            <a:ext cx="329184" cy="329184"/>
          </a:xfrm>
          <a:prstGeom prst="rect">
            <a:avLst/>
          </a:prstGeom>
        </p:spPr>
      </p:pic>
      <p:sp>
        <p:nvSpPr>
          <p:cNvPr id="21" name="nota testo"/>
          <p:cNvSpPr txBox="1"/>
          <p:nvPr/>
        </p:nvSpPr>
        <p:spPr>
          <a:xfrm>
            <a:off x="1417320" y="5212080"/>
            <a:ext cx="9859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resto delle basi è nel livello 1: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condivisione, computer e telefono, passkey e chiavi hardware.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MATERIALE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livelli: parti dal primo</a:t>
            </a:r>
            <a:endParaRPr lang="en-US" sz="3400" dirty="0"/>
          </a:p>
        </p:txBody>
      </p:sp>
      <p:sp>
        <p:nvSpPr>
          <p:cNvPr id="4" name="Livello Essenziale"/>
          <p:cNvSpPr/>
          <p:nvPr/>
        </p:nvSpPr>
        <p:spPr>
          <a:xfrm>
            <a:off x="685800" y="1828800"/>
            <a:ext cx="3423818" cy="4160520"/>
          </a:xfrm>
          <a:prstGeom prst="roundRect">
            <a:avLst>
              <a:gd name="adj" fmla="val 3739"/>
            </a:avLst>
          </a:prstGeom>
          <a:solidFill>
            <a:srgbClr val="EAF2FC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5" name="Icona Essenziale fondo"/>
          <p:cNvSpPr/>
          <p:nvPr/>
        </p:nvSpPr>
        <p:spPr>
          <a:xfrm>
            <a:off x="1005840" y="2148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a Essenzia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302459"/>
            <a:ext cx="332842" cy="332842"/>
          </a:xfrm>
          <a:prstGeom prst="rect">
            <a:avLst/>
          </a:prstGeom>
        </p:spPr>
      </p:pic>
      <p:sp>
        <p:nvSpPr>
          <p:cNvPr id="7" name="Badge Essenziale"/>
          <p:cNvSpPr txBox="1"/>
          <p:nvPr/>
        </p:nvSpPr>
        <p:spPr>
          <a:xfrm>
            <a:off x="1828800" y="2286000"/>
            <a:ext cx="2052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INIZIARE</a:t>
            </a:r>
            <a:endParaRPr lang="en-US" sz="1100" dirty="0"/>
          </a:p>
        </p:txBody>
      </p:sp>
      <p:sp>
        <p:nvSpPr>
          <p:cNvPr id="8" name="Nome Essenziale"/>
          <p:cNvSpPr txBox="1"/>
          <p:nvPr/>
        </p:nvSpPr>
        <p:spPr>
          <a:xfrm>
            <a:off x="1005840" y="297180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Essenziale</a:t>
            </a:r>
            <a:endParaRPr lang="en-US" sz="2400" dirty="0"/>
          </a:p>
        </p:txBody>
      </p:sp>
      <p:sp>
        <p:nvSpPr>
          <p:cNvPr id="9" name="Per chi Essenziale"/>
          <p:cNvSpPr txBox="1"/>
          <p:nvPr/>
        </p:nvSpPr>
        <p:spPr>
          <a:xfrm>
            <a:off x="1005840" y="352044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tutti, anche da zero</a:t>
            </a:r>
            <a:endParaRPr lang="en-US" sz="1500" dirty="0"/>
          </a:p>
        </p:txBody>
      </p:sp>
      <p:sp>
        <p:nvSpPr>
          <p:cNvPr id="10" name="Cosa Essenziale"/>
          <p:cNvSpPr txBox="1"/>
          <p:nvPr/>
        </p:nvSpPr>
        <p:spPr>
          <a:xfrm>
            <a:off x="1005840" y="4297680"/>
            <a:ext cx="2783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 di informatica, i rischi di oggi, come ti attaccano e come ti proteggi.</a:t>
            </a:r>
            <a:endParaRPr lang="en-US" sz="1500" dirty="0"/>
          </a:p>
        </p:txBody>
      </p:sp>
      <p:sp>
        <p:nvSpPr>
          <p:cNvPr id="11" name="Meta Essenziale"/>
          <p:cNvSpPr txBox="1"/>
          <p:nvPr/>
        </p:nvSpPr>
        <p:spPr>
          <a:xfrm>
            <a:off x="1005840" y="548640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CAPITOLI · LETTURA 40 MIN</a:t>
            </a:r>
            <a:endParaRPr lang="en-US" sz="1100" dirty="0"/>
          </a:p>
        </p:txBody>
      </p:sp>
      <p:sp>
        <p:nvSpPr>
          <p:cNvPr id="12" name="Livello Avanzato"/>
          <p:cNvSpPr/>
          <p:nvPr/>
        </p:nvSpPr>
        <p:spPr>
          <a:xfrm>
            <a:off x="4383938" y="1828800"/>
            <a:ext cx="3423818" cy="4160520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Icona Avanzato fondo"/>
          <p:cNvSpPr/>
          <p:nvPr/>
        </p:nvSpPr>
        <p:spPr>
          <a:xfrm>
            <a:off x="4703978" y="2148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4" name="Icona Avanzat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598" y="2302459"/>
            <a:ext cx="332842" cy="332842"/>
          </a:xfrm>
          <a:prstGeom prst="rect">
            <a:avLst/>
          </a:prstGeom>
        </p:spPr>
      </p:pic>
      <p:sp>
        <p:nvSpPr>
          <p:cNvPr id="15" name="Badge Avanzato"/>
          <p:cNvSpPr txBox="1"/>
          <p:nvPr/>
        </p:nvSpPr>
        <p:spPr>
          <a:xfrm>
            <a:off x="5526938" y="2286000"/>
            <a:ext cx="2052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SEI ESPOSTO</a:t>
            </a:r>
            <a:endParaRPr lang="en-US" sz="1100" dirty="0"/>
          </a:p>
        </p:txBody>
      </p:sp>
      <p:sp>
        <p:nvSpPr>
          <p:cNvPr id="16" name="Nome Avanzato"/>
          <p:cNvSpPr txBox="1"/>
          <p:nvPr/>
        </p:nvSpPr>
        <p:spPr>
          <a:xfrm>
            <a:off x="4703978" y="297180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Avanzato</a:t>
            </a:r>
            <a:endParaRPr lang="en-US" sz="2400" dirty="0"/>
          </a:p>
        </p:txBody>
      </p:sp>
      <p:sp>
        <p:nvSpPr>
          <p:cNvPr id="17" name="Per chi Avanzato"/>
          <p:cNvSpPr txBox="1"/>
          <p:nvPr/>
        </p:nvSpPr>
        <p:spPr>
          <a:xfrm>
            <a:off x="4703978" y="352044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Dirigenti, pagamenti, crypto, profilo pubblico</a:t>
            </a:r>
            <a:endParaRPr lang="en-US" sz="1500" dirty="0"/>
          </a:p>
        </p:txBody>
      </p:sp>
      <p:sp>
        <p:nvSpPr>
          <p:cNvPr id="18" name="Cosa Avanzato"/>
          <p:cNvSpPr txBox="1"/>
          <p:nvPr/>
        </p:nvSpPr>
        <p:spPr>
          <a:xfrm>
            <a:off x="4703978" y="4297680"/>
            <a:ext cx="2783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 di telefono, email per ruolo, recupero degli account, custodia, coercizione.</a:t>
            </a:r>
            <a:endParaRPr lang="en-US" sz="1500" dirty="0"/>
          </a:p>
        </p:txBody>
      </p:sp>
      <p:sp>
        <p:nvSpPr>
          <p:cNvPr id="19" name="Meta Avanzato"/>
          <p:cNvSpPr txBox="1"/>
          <p:nvPr/>
        </p:nvSpPr>
        <p:spPr>
          <a:xfrm>
            <a:off x="4703978" y="548640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CAPITOLI · LETTURA 40 MIN</a:t>
            </a:r>
            <a:endParaRPr lang="en-US" sz="1100" dirty="0"/>
          </a:p>
        </p:txBody>
      </p:sp>
      <p:sp>
        <p:nvSpPr>
          <p:cNvPr id="20" name="Livello Cypherpunk"/>
          <p:cNvSpPr/>
          <p:nvPr/>
        </p:nvSpPr>
        <p:spPr>
          <a:xfrm>
            <a:off x="8082077" y="1828800"/>
            <a:ext cx="3423818" cy="4160520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1" name="Icona Cypherpunk fondo"/>
          <p:cNvSpPr/>
          <p:nvPr/>
        </p:nvSpPr>
        <p:spPr>
          <a:xfrm>
            <a:off x="8402117" y="2148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2" name="Icona Cypherpun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302459"/>
            <a:ext cx="332842" cy="332842"/>
          </a:xfrm>
          <a:prstGeom prst="rect">
            <a:avLst/>
          </a:prstGeom>
        </p:spPr>
      </p:pic>
      <p:sp>
        <p:nvSpPr>
          <p:cNvPr id="23" name="Badge Cypherpunk"/>
          <p:cNvSpPr txBox="1"/>
          <p:nvPr/>
        </p:nvSpPr>
        <p:spPr>
          <a:xfrm>
            <a:off x="9225077" y="2286000"/>
            <a:ext cx="2052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FACOLTATIVO</a:t>
            </a:r>
            <a:endParaRPr lang="en-US" sz="1100" dirty="0"/>
          </a:p>
        </p:txBody>
      </p:sp>
      <p:sp>
        <p:nvSpPr>
          <p:cNvPr id="24" name="Nome Cypherpunk"/>
          <p:cNvSpPr txBox="1"/>
          <p:nvPr/>
        </p:nvSpPr>
        <p:spPr>
          <a:xfrm>
            <a:off x="8402117" y="297180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Cypherpunk</a:t>
            </a:r>
            <a:endParaRPr lang="en-US" sz="2400" dirty="0"/>
          </a:p>
        </p:txBody>
      </p:sp>
      <p:sp>
        <p:nvSpPr>
          <p:cNvPr id="25" name="Per chi Cypherpunk"/>
          <p:cNvSpPr txBox="1"/>
          <p:nvPr/>
        </p:nvSpPr>
        <p:spPr>
          <a:xfrm>
            <a:off x="8402117" y="352044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chi vuole la privacy massima</a:t>
            </a:r>
            <a:endParaRPr lang="en-US" sz="1500" dirty="0"/>
          </a:p>
        </p:txBody>
      </p:sp>
      <p:sp>
        <p:nvSpPr>
          <p:cNvPr id="26" name="Cosa Cypherpunk"/>
          <p:cNvSpPr txBox="1"/>
          <p:nvPr/>
        </p:nvSpPr>
        <p:spPr>
          <a:xfrm>
            <a:off x="8402117" y="4297680"/>
            <a:ext cx="2783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GrapheneOS, Linux, rete e servizi privati, rimozione dei tuoi dati personali.</a:t>
            </a:r>
            <a:endParaRPr lang="en-US" sz="1500" dirty="0"/>
          </a:p>
        </p:txBody>
      </p:sp>
      <p:sp>
        <p:nvSpPr>
          <p:cNvPr id="27" name="Meta Cypherpunk"/>
          <p:cNvSpPr txBox="1"/>
          <p:nvPr/>
        </p:nvSpPr>
        <p:spPr>
          <a:xfrm>
            <a:off x="8402117" y="548640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CAPITOLI · LETTURA 45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LIVELLO 1 · ESSENZIALE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trovi nel livello 1</a:t>
            </a:r>
            <a:endParaRPr lang="en-US" sz="3400" dirty="0"/>
          </a:p>
        </p:txBody>
      </p:sp>
      <p:sp>
        <p:nvSpPr>
          <p:cNvPr id="4" name="Sezione Rischi e attacchi"/>
          <p:cNvSpPr/>
          <p:nvPr/>
        </p:nvSpPr>
        <p:spPr>
          <a:xfrm>
            <a:off x="685800" y="1828800"/>
            <a:ext cx="2657153" cy="3657600"/>
          </a:xfrm>
          <a:prstGeom prst="roundRect">
            <a:avLst>
              <a:gd name="adj" fmla="val 481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Etichetta Rischi e attacchi"/>
          <p:cNvSpPr txBox="1"/>
          <p:nvPr/>
        </p:nvSpPr>
        <p:spPr>
          <a:xfrm>
            <a:off x="941832" y="2057400"/>
            <a:ext cx="21450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A</a:t>
            </a:r>
            <a:endParaRPr lang="en-US" sz="1100" dirty="0"/>
          </a:p>
        </p:txBody>
      </p:sp>
      <p:sp>
        <p:nvSpPr>
          <p:cNvPr id="6" name="Nome Rischi e attacchi"/>
          <p:cNvSpPr txBox="1"/>
          <p:nvPr/>
        </p:nvSpPr>
        <p:spPr>
          <a:xfrm>
            <a:off x="941832" y="2331720"/>
            <a:ext cx="2145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Rischi e attacchi</a:t>
            </a:r>
            <a:endParaRPr lang="en-US" sz="1800" dirty="0"/>
          </a:p>
        </p:txBody>
      </p:sp>
      <p:sp>
        <p:nvSpPr>
          <p:cNvPr id="7" name="Cap 1"/>
          <p:cNvSpPr txBox="1"/>
          <p:nvPr/>
        </p:nvSpPr>
        <p:spPr>
          <a:xfrm>
            <a:off x="941832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Capitolo I rischi reali, oggi"/>
          <p:cNvSpPr txBox="1"/>
          <p:nvPr/>
        </p:nvSpPr>
        <p:spPr>
          <a:xfrm>
            <a:off x="1307592" y="288036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rischi reali, oggi</a:t>
            </a:r>
            <a:endParaRPr lang="en-US" sz="1400" dirty="0"/>
          </a:p>
        </p:txBody>
      </p:sp>
      <p:sp>
        <p:nvSpPr>
          <p:cNvPr id="9" name="Cap 2"/>
          <p:cNvSpPr txBox="1"/>
          <p:nvPr/>
        </p:nvSpPr>
        <p:spPr>
          <a:xfrm>
            <a:off x="941832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Capitolo Come ti attaccano: prova tu"/>
          <p:cNvSpPr txBox="1"/>
          <p:nvPr/>
        </p:nvSpPr>
        <p:spPr>
          <a:xfrm>
            <a:off x="1307592" y="338328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ti attaccano: prova tu</a:t>
            </a:r>
            <a:endParaRPr lang="en-US" sz="1400" dirty="0"/>
          </a:p>
        </p:txBody>
      </p:sp>
      <p:sp>
        <p:nvSpPr>
          <p:cNvPr id="11" name="Cap 3"/>
          <p:cNvSpPr txBox="1"/>
          <p:nvPr/>
        </p:nvSpPr>
        <p:spPr>
          <a:xfrm>
            <a:off x="941832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Capitolo Riconoscere la trappola: i 7 segnali"/>
          <p:cNvSpPr txBox="1"/>
          <p:nvPr/>
        </p:nvSpPr>
        <p:spPr>
          <a:xfrm>
            <a:off x="1307592" y="388620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Riconoscere la trappola: i 7 segnali</a:t>
            </a:r>
            <a:endParaRPr lang="en-US" sz="1400" dirty="0"/>
          </a:p>
        </p:txBody>
      </p:sp>
      <p:sp>
        <p:nvSpPr>
          <p:cNvPr id="13" name="Sezione Le basi"/>
          <p:cNvSpPr/>
          <p:nvPr/>
        </p:nvSpPr>
        <p:spPr>
          <a:xfrm>
            <a:off x="3571553" y="1828800"/>
            <a:ext cx="5048590" cy="3657600"/>
          </a:xfrm>
          <a:prstGeom prst="roundRect">
            <a:avLst>
              <a:gd name="adj" fmla="val 3500"/>
            </a:avLst>
          </a:prstGeom>
          <a:solidFill>
            <a:srgbClr val="EAF2FC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4" name="Etichetta Le basi"/>
          <p:cNvSpPr txBox="1"/>
          <p:nvPr/>
        </p:nvSpPr>
        <p:spPr>
          <a:xfrm>
            <a:off x="3827585" y="2057400"/>
            <a:ext cx="4536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B</a:t>
            </a:r>
            <a:endParaRPr lang="en-US" sz="1100" dirty="0"/>
          </a:p>
        </p:txBody>
      </p:sp>
      <p:sp>
        <p:nvSpPr>
          <p:cNvPr id="15" name="Nome Le basi"/>
          <p:cNvSpPr txBox="1"/>
          <p:nvPr/>
        </p:nvSpPr>
        <p:spPr>
          <a:xfrm>
            <a:off x="3827585" y="2331720"/>
            <a:ext cx="45365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basi</a:t>
            </a:r>
            <a:endParaRPr lang="en-US" sz="1800" dirty="0"/>
          </a:p>
        </p:txBody>
      </p:sp>
      <p:sp>
        <p:nvSpPr>
          <p:cNvPr id="16" name="Cap 4"/>
          <p:cNvSpPr txBox="1"/>
          <p:nvPr/>
        </p:nvSpPr>
        <p:spPr>
          <a:xfrm>
            <a:off x="3827585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Capitolo Account ed email: come funzionano"/>
          <p:cNvSpPr txBox="1"/>
          <p:nvPr/>
        </p:nvSpPr>
        <p:spPr>
          <a:xfrm>
            <a:off x="4193345" y="288036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ed email: come funzionano</a:t>
            </a:r>
            <a:endParaRPr lang="en-US" sz="1400" dirty="0"/>
          </a:p>
        </p:txBody>
      </p:sp>
      <p:sp>
        <p:nvSpPr>
          <p:cNvPr id="18" name="Cap 5"/>
          <p:cNvSpPr txBox="1"/>
          <p:nvPr/>
        </p:nvSpPr>
        <p:spPr>
          <a:xfrm>
            <a:off x="3827585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Capitolo App, siti, account e file: dove vive cosa"/>
          <p:cNvSpPr txBox="1"/>
          <p:nvPr/>
        </p:nvSpPr>
        <p:spPr>
          <a:xfrm>
            <a:off x="4193345" y="338328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App, siti, account e file: dove vive cosa</a:t>
            </a:r>
            <a:endParaRPr lang="en-US" sz="1400" dirty="0"/>
          </a:p>
        </p:txBody>
      </p:sp>
      <p:sp>
        <p:nvSpPr>
          <p:cNvPr id="20" name="Cap 6"/>
          <p:cNvSpPr txBox="1"/>
          <p:nvPr/>
        </p:nvSpPr>
        <p:spPr>
          <a:xfrm>
            <a:off x="3827585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Capitolo Password e password manager"/>
          <p:cNvSpPr txBox="1"/>
          <p:nvPr/>
        </p:nvSpPr>
        <p:spPr>
          <a:xfrm>
            <a:off x="4193345" y="388620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e password manager</a:t>
            </a:r>
            <a:endParaRPr lang="en-US" sz="1400" dirty="0"/>
          </a:p>
        </p:txBody>
      </p:sp>
      <p:sp>
        <p:nvSpPr>
          <p:cNvPr id="22" name="Cap 7"/>
          <p:cNvSpPr txBox="1"/>
          <p:nvPr/>
        </p:nvSpPr>
        <p:spPr>
          <a:xfrm>
            <a:off x="3827585" y="4389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Capitolo 2FA, passkey e chiavi hardware"/>
          <p:cNvSpPr txBox="1"/>
          <p:nvPr/>
        </p:nvSpPr>
        <p:spPr>
          <a:xfrm>
            <a:off x="4193345" y="438912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2FA, passkey e chiavi hardware</a:t>
            </a:r>
            <a:endParaRPr lang="en-US" sz="1400" dirty="0"/>
          </a:p>
        </p:txBody>
      </p:sp>
      <p:sp>
        <p:nvSpPr>
          <p:cNvPr id="24" name="Cap 8"/>
          <p:cNvSpPr txBox="1"/>
          <p:nvPr/>
        </p:nvSpPr>
        <p:spPr>
          <a:xfrm>
            <a:off x="6095848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Capitolo Il browser e i link"/>
          <p:cNvSpPr txBox="1"/>
          <p:nvPr/>
        </p:nvSpPr>
        <p:spPr>
          <a:xfrm>
            <a:off x="6461608" y="288036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browser e i link</a:t>
            </a:r>
            <a:endParaRPr lang="en-US" sz="1400" dirty="0"/>
          </a:p>
        </p:txBody>
      </p:sp>
      <p:sp>
        <p:nvSpPr>
          <p:cNvPr id="26" name="Cap 9"/>
          <p:cNvSpPr txBox="1"/>
          <p:nvPr/>
        </p:nvSpPr>
        <p:spPr>
          <a:xfrm>
            <a:off x="6095848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7" name="Capitolo Condividere: chi vede cosa"/>
          <p:cNvSpPr txBox="1"/>
          <p:nvPr/>
        </p:nvSpPr>
        <p:spPr>
          <a:xfrm>
            <a:off x="6461608" y="338328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Condividere: chi vede cosa</a:t>
            </a:r>
            <a:endParaRPr lang="en-US" sz="1400" dirty="0"/>
          </a:p>
        </p:txBody>
      </p:sp>
      <p:sp>
        <p:nvSpPr>
          <p:cNvPr id="28" name="Cap 10"/>
          <p:cNvSpPr txBox="1"/>
          <p:nvPr/>
        </p:nvSpPr>
        <p:spPr>
          <a:xfrm>
            <a:off x="6095848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9" name="Capitolo Computer e telefono"/>
          <p:cNvSpPr txBox="1"/>
          <p:nvPr/>
        </p:nvSpPr>
        <p:spPr>
          <a:xfrm>
            <a:off x="6461608" y="388620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e telefono</a:t>
            </a:r>
            <a:endParaRPr lang="en-US" sz="1400" dirty="0"/>
          </a:p>
        </p:txBody>
      </p:sp>
      <p:sp>
        <p:nvSpPr>
          <p:cNvPr id="30" name="Cap 11"/>
          <p:cNvSpPr txBox="1"/>
          <p:nvPr/>
        </p:nvSpPr>
        <p:spPr>
          <a:xfrm>
            <a:off x="6095848" y="4389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1" name="Capitolo Backup"/>
          <p:cNvSpPr txBox="1"/>
          <p:nvPr/>
        </p:nvSpPr>
        <p:spPr>
          <a:xfrm>
            <a:off x="6461608" y="4389120"/>
            <a:ext cx="181106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32" name="Tag Da zero"/>
          <p:cNvSpPr/>
          <p:nvPr/>
        </p:nvSpPr>
        <p:spPr>
          <a:xfrm>
            <a:off x="7449711" y="201168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33" name="Tag testo"/>
          <p:cNvSpPr txBox="1"/>
          <p:nvPr/>
        </p:nvSpPr>
        <p:spPr>
          <a:xfrm>
            <a:off x="7449711" y="201168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zero</a:t>
            </a:r>
            <a:endParaRPr lang="en-US" sz="1100" dirty="0"/>
          </a:p>
        </p:txBody>
      </p:sp>
      <p:sp>
        <p:nvSpPr>
          <p:cNvPr id="34" name="Sezione Strumenti e verifica"/>
          <p:cNvSpPr/>
          <p:nvPr/>
        </p:nvSpPr>
        <p:spPr>
          <a:xfrm>
            <a:off x="8848743" y="1828800"/>
            <a:ext cx="2657153" cy="3657600"/>
          </a:xfrm>
          <a:prstGeom prst="roundRect">
            <a:avLst>
              <a:gd name="adj" fmla="val 4818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5" name="Etichetta Strumenti e verifica"/>
          <p:cNvSpPr txBox="1"/>
          <p:nvPr/>
        </p:nvSpPr>
        <p:spPr>
          <a:xfrm>
            <a:off x="9104775" y="2057400"/>
            <a:ext cx="21450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SEZIONE C</a:t>
            </a:r>
            <a:endParaRPr lang="en-US" sz="1100" dirty="0"/>
          </a:p>
        </p:txBody>
      </p:sp>
      <p:sp>
        <p:nvSpPr>
          <p:cNvPr id="36" name="Nome Strumenti e verifica"/>
          <p:cNvSpPr txBox="1"/>
          <p:nvPr/>
        </p:nvSpPr>
        <p:spPr>
          <a:xfrm>
            <a:off x="9104775" y="2331720"/>
            <a:ext cx="21450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 e verifica</a:t>
            </a:r>
            <a:endParaRPr lang="en-US" sz="1800" dirty="0"/>
          </a:p>
        </p:txBody>
      </p:sp>
      <p:sp>
        <p:nvSpPr>
          <p:cNvPr id="37" name="Cap 12"/>
          <p:cNvSpPr txBox="1"/>
          <p:nvPr/>
        </p:nvSpPr>
        <p:spPr>
          <a:xfrm>
            <a:off x="9104775" y="2880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Capitolo Tech stack personale"/>
          <p:cNvSpPr txBox="1"/>
          <p:nvPr/>
        </p:nvSpPr>
        <p:spPr>
          <a:xfrm>
            <a:off x="9470535" y="288036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personale</a:t>
            </a:r>
            <a:endParaRPr lang="en-US" sz="1400" dirty="0"/>
          </a:p>
        </p:txBody>
      </p:sp>
      <p:sp>
        <p:nvSpPr>
          <p:cNvPr id="39" name="Cap 13"/>
          <p:cNvSpPr txBox="1"/>
          <p:nvPr/>
        </p:nvSpPr>
        <p:spPr>
          <a:xfrm>
            <a:off x="9104775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0" name="Capitolo Checklist"/>
          <p:cNvSpPr txBox="1"/>
          <p:nvPr/>
        </p:nvSpPr>
        <p:spPr>
          <a:xfrm>
            <a:off x="9470535" y="338328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41" name="Cap 14"/>
          <p:cNvSpPr txBox="1"/>
          <p:nvPr/>
        </p:nvSpPr>
        <p:spPr>
          <a:xfrm>
            <a:off x="9104775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2" name="Capitolo Mettiti alla prova"/>
          <p:cNvSpPr txBox="1"/>
          <p:nvPr/>
        </p:nvSpPr>
        <p:spPr>
          <a:xfrm>
            <a:off x="9470535" y="388620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Mettiti alla prova</a:t>
            </a:r>
            <a:endParaRPr lang="en-US" sz="1400" dirty="0"/>
          </a:p>
        </p:txBody>
      </p:sp>
      <p:sp>
        <p:nvSpPr>
          <p:cNvPr id="43" name="Cap 15"/>
          <p:cNvSpPr txBox="1"/>
          <p:nvPr/>
        </p:nvSpPr>
        <p:spPr>
          <a:xfrm>
            <a:off x="9104775" y="4389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4" name="Capitolo Glossario"/>
          <p:cNvSpPr txBox="1"/>
          <p:nvPr/>
        </p:nvSpPr>
        <p:spPr>
          <a:xfrm>
            <a:off x="9470535" y="438912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Glossario</a:t>
            </a:r>
            <a:endParaRPr lang="en-US" sz="1400" dirty="0"/>
          </a:p>
        </p:txBody>
      </p:sp>
      <p:sp>
        <p:nvSpPr>
          <p:cNvPr id="45" name="Cap 16"/>
          <p:cNvSpPr txBox="1"/>
          <p:nvPr/>
        </p:nvSpPr>
        <p:spPr>
          <a:xfrm>
            <a:off x="9104775" y="4892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46" name="Capitolo Fonti"/>
          <p:cNvSpPr txBox="1"/>
          <p:nvPr/>
        </p:nvSpPr>
        <p:spPr>
          <a:xfrm>
            <a:off x="9470535" y="4892040"/>
            <a:ext cx="168788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1400" dirty="0"/>
          </a:p>
        </p:txBody>
      </p:sp>
      <p:sp>
        <p:nvSpPr>
          <p:cNvPr id="47" name="nota Già pratico?"/>
          <p:cNvSpPr/>
          <p:nvPr/>
        </p:nvSpPr>
        <p:spPr>
          <a:xfrm>
            <a:off x="685800" y="5650992"/>
            <a:ext cx="10820095" cy="566928"/>
          </a:xfrm>
          <a:prstGeom prst="roundRect">
            <a:avLst>
              <a:gd name="adj" fmla="val 22581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pic>
        <p:nvPicPr>
          <p:cNvPr id="48" name="nota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769864"/>
            <a:ext cx="329184" cy="329184"/>
          </a:xfrm>
          <a:prstGeom prst="rect">
            <a:avLst/>
          </a:prstGeom>
        </p:spPr>
      </p:pic>
      <p:sp>
        <p:nvSpPr>
          <p:cNvPr id="49" name="nota testo"/>
          <p:cNvSpPr txBox="1"/>
          <p:nvPr/>
        </p:nvSpPr>
        <p:spPr>
          <a:xfrm>
            <a:off x="1417320" y="5650992"/>
            <a:ext cx="9859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Già pratico?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 i capitoli “Da zero” e vai dritto a strumenti, checklist da 22 punti e test da 10 domande.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ADESSO, INSIEME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cose da fare in 10 minuti</a:t>
            </a:r>
            <a:endParaRPr lang="en-US" sz="3400" dirty="0"/>
          </a:p>
        </p:txBody>
      </p:sp>
      <p:sp>
        <p:nvSpPr>
          <p:cNvPr id="4" name="Tempo"/>
          <p:cNvSpPr/>
          <p:nvPr/>
        </p:nvSpPr>
        <p:spPr>
          <a:xfrm>
            <a:off x="9905695" y="8686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pic>
        <p:nvPicPr>
          <p:cNvPr id="5" name="Tempo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978408"/>
            <a:ext cx="237744" cy="237744"/>
          </a:xfrm>
          <a:prstGeom prst="rect">
            <a:avLst/>
          </a:prstGeom>
        </p:spPr>
      </p:pic>
      <p:sp>
        <p:nvSpPr>
          <p:cNvPr id="6" name="Tempo testo"/>
          <p:cNvSpPr txBox="1"/>
          <p:nvPr/>
        </p:nvSpPr>
        <p:spPr>
          <a:xfrm>
            <a:off x="10362895" y="868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minuti</a:t>
            </a:r>
            <a:endParaRPr lang="en-US" sz="1400" dirty="0"/>
          </a:p>
        </p:txBody>
      </p:sp>
      <p:sp>
        <p:nvSpPr>
          <p:cNvPr id="7" name="Azione 1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numero 1"/>
          <p:cNvSpPr/>
          <p:nvPr/>
        </p:nvSpPr>
        <p:spPr>
          <a:xfrm>
            <a:off x="960120" y="21671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9" name="numero testo 1"/>
          <p:cNvSpPr txBox="1"/>
          <p:nvPr/>
        </p:nvSpPr>
        <p:spPr>
          <a:xfrm>
            <a:off x="96012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Icona azione 1 fondo"/>
          <p:cNvSpPr/>
          <p:nvPr/>
        </p:nvSpPr>
        <p:spPr>
          <a:xfrm>
            <a:off x="1691640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cona azion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259" y="2256739"/>
            <a:ext cx="332842" cy="332842"/>
          </a:xfrm>
          <a:prstGeom prst="rect">
            <a:avLst/>
          </a:prstGeom>
        </p:spPr>
      </p:pic>
      <p:sp>
        <p:nvSpPr>
          <p:cNvPr id="12" name="Azione titolo 1"/>
          <p:cNvSpPr txBox="1"/>
          <p:nvPr/>
        </p:nvSpPr>
        <p:spPr>
          <a:xfrm>
            <a:off x="2560320" y="20116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Attiva la verifica in due passaggi sulla tua email principale</a:t>
            </a:r>
            <a:endParaRPr lang="en-US" sz="2000" dirty="0"/>
          </a:p>
        </p:txBody>
      </p:sp>
      <p:sp>
        <p:nvSpPr>
          <p:cNvPr id="13" name="Azione testo 1"/>
          <p:cNvSpPr txBox="1"/>
          <p:nvPr/>
        </p:nvSpPr>
        <p:spPr>
          <a:xfrm>
            <a:off x="2560320" y="24505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Impostazioni dell’account, sezione Sicurezza. Meglio un’app di autenticazione o una passkey dell’SMS.</a:t>
            </a:r>
            <a:endParaRPr lang="en-US" sz="1500" dirty="0"/>
          </a:p>
        </p:txBody>
      </p:sp>
      <p:sp>
        <p:nvSpPr>
          <p:cNvPr id="14" name="Azione 2"/>
          <p:cNvSpPr/>
          <p:nvPr/>
        </p:nvSpPr>
        <p:spPr>
          <a:xfrm>
            <a:off x="685800" y="32004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numero 2"/>
          <p:cNvSpPr/>
          <p:nvPr/>
        </p:nvSpPr>
        <p:spPr>
          <a:xfrm>
            <a:off x="960120" y="35387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16" name="numero testo 2"/>
          <p:cNvSpPr txBox="1"/>
          <p:nvPr/>
        </p:nvSpPr>
        <p:spPr>
          <a:xfrm>
            <a:off x="96012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Icona azione 2 fondo"/>
          <p:cNvSpPr/>
          <p:nvPr/>
        </p:nvSpPr>
        <p:spPr>
          <a:xfrm>
            <a:off x="1691640" y="3474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8" name="Icona azion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259" y="3628339"/>
            <a:ext cx="332842" cy="332842"/>
          </a:xfrm>
          <a:prstGeom prst="rect">
            <a:avLst/>
          </a:prstGeom>
        </p:spPr>
      </p:pic>
      <p:sp>
        <p:nvSpPr>
          <p:cNvPr id="19" name="Azione titolo 2"/>
          <p:cNvSpPr txBox="1"/>
          <p:nvPr/>
        </p:nvSpPr>
        <p:spPr>
          <a:xfrm>
            <a:off x="2560320" y="33832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 se la tua email è finita in una fuga di dati</a:t>
            </a:r>
            <a:endParaRPr lang="en-US" sz="2000" dirty="0"/>
          </a:p>
        </p:txBody>
      </p:sp>
      <p:sp>
        <p:nvSpPr>
          <p:cNvPr id="20" name="Azione testo 2"/>
          <p:cNvSpPr txBox="1"/>
          <p:nvPr/>
        </p:nvSpPr>
        <p:spPr>
          <a:xfrm>
            <a:off x="2560320" y="38221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haveibeenpwned.com. Se compare, cambia la password di quel servizio e di ogni sito dove l’avevi riusata.</a:t>
            </a:r>
            <a:endParaRPr lang="en-US" sz="1500" dirty="0"/>
          </a:p>
        </p:txBody>
      </p:sp>
      <p:sp>
        <p:nvSpPr>
          <p:cNvPr id="21" name="Azione 3"/>
          <p:cNvSpPr/>
          <p:nvPr/>
        </p:nvSpPr>
        <p:spPr>
          <a:xfrm>
            <a:off x="685800" y="4572000"/>
            <a:ext cx="10820095" cy="1188720"/>
          </a:xfrm>
          <a:prstGeom prst="roundRect">
            <a:avLst>
              <a:gd name="adj" fmla="val 10769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2" name="numero 3"/>
          <p:cNvSpPr/>
          <p:nvPr/>
        </p:nvSpPr>
        <p:spPr>
          <a:xfrm>
            <a:off x="960120" y="4910328"/>
            <a:ext cx="512064" cy="512064"/>
          </a:xfrm>
          <a:prstGeom prst="ellipse">
            <a:avLst/>
          </a:prstGeom>
          <a:solidFill>
            <a:srgbClr val="1B4D89"/>
          </a:solidFill>
          <a:ln w="12700">
            <a:solidFill>
              <a:srgbClr val="1B4D89"/>
            </a:solidFill>
            <a:prstDash val="solid"/>
          </a:ln>
        </p:spPr>
      </p:sp>
      <p:sp>
        <p:nvSpPr>
          <p:cNvPr id="23" name="numero testo 3"/>
          <p:cNvSpPr txBox="1"/>
          <p:nvPr/>
        </p:nvSpPr>
        <p:spPr>
          <a:xfrm>
            <a:off x="960120" y="4910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Icona azione 3 fondo"/>
          <p:cNvSpPr/>
          <p:nvPr/>
        </p:nvSpPr>
        <p:spPr>
          <a:xfrm>
            <a:off x="1691640" y="48463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5" name="Icona azion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259" y="4999939"/>
            <a:ext cx="332842" cy="332842"/>
          </a:xfrm>
          <a:prstGeom prst="rect">
            <a:avLst/>
          </a:prstGeom>
        </p:spPr>
      </p:pic>
      <p:sp>
        <p:nvSpPr>
          <p:cNvPr id="26" name="Azione titolo 3"/>
          <p:cNvSpPr txBox="1"/>
          <p:nvPr/>
        </p:nvSpPr>
        <p:spPr>
          <a:xfrm>
            <a:off x="2560320" y="4754880"/>
            <a:ext cx="8625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Aggiorna telefono e browser</a:t>
            </a:r>
            <a:endParaRPr lang="en-US" sz="2000" dirty="0"/>
          </a:p>
        </p:txBody>
      </p:sp>
      <p:sp>
        <p:nvSpPr>
          <p:cNvPr id="27" name="Azione testo 3"/>
          <p:cNvSpPr txBox="1"/>
          <p:nvPr/>
        </p:nvSpPr>
        <p:spPr>
          <a:xfrm>
            <a:off x="2560320" y="5193792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Dalle impostazioni del telefono e del browser. Mai da un avviso che compare su una pagina web.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L’INCONTRO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resto lo leggi con calma</a:t>
            </a:r>
            <a:endParaRPr lang="en-US" sz="3400" dirty="0"/>
          </a:p>
        </p:txBody>
      </p:sp>
      <p:sp>
        <p:nvSpPr>
          <p:cNvPr id="4" name="Come si usa"/>
          <p:cNvSpPr/>
          <p:nvPr/>
        </p:nvSpPr>
        <p:spPr>
          <a:xfrm>
            <a:off x="685800" y="1828800"/>
            <a:ext cx="4983480" cy="4206240"/>
          </a:xfrm>
          <a:prstGeom prst="roundRect">
            <a:avLst>
              <a:gd name="adj" fmla="val 3043"/>
            </a:avLst>
          </a:prstGeom>
          <a:solidFill>
            <a:srgbClr val="F6F8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Come si usa titolo"/>
          <p:cNvSpPr txBox="1"/>
          <p:nvPr/>
        </p:nvSpPr>
        <p:spPr>
          <a:xfrm>
            <a:off x="10058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SI USA IL MATERIALE</a:t>
            </a:r>
            <a:endParaRPr lang="en-US" sz="1200" dirty="0"/>
          </a:p>
        </p:txBody>
      </p:sp>
      <p:sp>
        <p:nvSpPr>
          <p:cNvPr id="6" name="Uso 0 fondo"/>
          <p:cNvSpPr/>
          <p:nvPr/>
        </p:nvSpPr>
        <p:spPr>
          <a:xfrm>
            <a:off x="1005840" y="2606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Uso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726741"/>
            <a:ext cx="261518" cy="261518"/>
          </a:xfrm>
          <a:prstGeom prst="rect">
            <a:avLst/>
          </a:prstGeom>
        </p:spPr>
      </p:pic>
      <p:sp>
        <p:nvSpPr>
          <p:cNvPr id="8" name="Uso testo 0"/>
          <p:cNvSpPr txBox="1"/>
          <p:nvPr/>
        </p:nvSpPr>
        <p:spPr>
          <a:xfrm>
            <a:off x="1691640" y="2560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 il link nel browser, anche dal telefono</a:t>
            </a:r>
            <a:endParaRPr lang="en-US" sz="1500" dirty="0"/>
          </a:p>
        </p:txBody>
      </p:sp>
      <p:sp>
        <p:nvSpPr>
          <p:cNvPr id="9" name="Uso 1 fondo"/>
          <p:cNvSpPr/>
          <p:nvPr/>
        </p:nvSpPr>
        <p:spPr>
          <a:xfrm>
            <a:off x="1005840" y="34290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Us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41" y="3549701"/>
            <a:ext cx="261518" cy="261518"/>
          </a:xfrm>
          <a:prstGeom prst="rect">
            <a:avLst/>
          </a:prstGeom>
        </p:spPr>
      </p:pic>
      <p:sp>
        <p:nvSpPr>
          <p:cNvPr id="11" name="Uso testo 1"/>
          <p:cNvSpPr txBox="1"/>
          <p:nvPr/>
        </p:nvSpPr>
        <p:spPr>
          <a:xfrm>
            <a:off x="1691640" y="3383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Italiano o inglese: interruttore in alto a destra</a:t>
            </a:r>
            <a:endParaRPr lang="en-US" sz="1500" dirty="0"/>
          </a:p>
        </p:txBody>
      </p:sp>
      <p:sp>
        <p:nvSpPr>
          <p:cNvPr id="12" name="Uso 2 fondo"/>
          <p:cNvSpPr/>
          <p:nvPr/>
        </p:nvSpPr>
        <p:spPr>
          <a:xfrm>
            <a:off x="1005840" y="42519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Us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4372661"/>
            <a:ext cx="261518" cy="261518"/>
          </a:xfrm>
          <a:prstGeom prst="rect">
            <a:avLst/>
          </a:prstGeom>
        </p:spPr>
      </p:pic>
      <p:sp>
        <p:nvSpPr>
          <p:cNvPr id="14" name="Uso testo 2"/>
          <p:cNvSpPr txBox="1"/>
          <p:nvPr/>
        </p:nvSpPr>
        <p:spPr>
          <a:xfrm>
            <a:off x="169164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 nel menu a sinistra, ognuno con il riassunto in cima</a:t>
            </a:r>
            <a:endParaRPr lang="en-US" sz="1500" dirty="0"/>
          </a:p>
        </p:txBody>
      </p:sp>
      <p:sp>
        <p:nvSpPr>
          <p:cNvPr id="15" name="Uso 3 fondo"/>
          <p:cNvSpPr/>
          <p:nvPr/>
        </p:nvSpPr>
        <p:spPr>
          <a:xfrm>
            <a:off x="1005840" y="5074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Us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1" y="5195621"/>
            <a:ext cx="261518" cy="261518"/>
          </a:xfrm>
          <a:prstGeom prst="rect">
            <a:avLst/>
          </a:prstGeom>
        </p:spPr>
      </p:pic>
      <p:sp>
        <p:nvSpPr>
          <p:cNvPr id="17" name="Uso testo 3"/>
          <p:cNvSpPr txBox="1"/>
          <p:nvPr/>
        </p:nvSpPr>
        <p:spPr>
          <a:xfrm>
            <a:off x="1691640" y="5029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checklist si salva da sola sul tuo dispositivo</a:t>
            </a:r>
            <a:endParaRPr lang="en-US" sz="1500" dirty="0"/>
          </a:p>
        </p:txBody>
      </p:sp>
      <p:sp>
        <p:nvSpPr>
          <p:cNvPr id="18" name="Programma titolo"/>
          <p:cNvSpPr txBox="1"/>
          <p:nvPr/>
        </p:nvSpPr>
        <p:spPr>
          <a:xfrm>
            <a:off x="5989320" y="210312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PROGRAMMA</a:t>
            </a:r>
            <a:endParaRPr lang="en-US" sz="1200" dirty="0"/>
          </a:p>
        </p:txBody>
      </p:sp>
      <p:sp>
        <p:nvSpPr>
          <p:cNvPr id="19" name="Linea programma"/>
          <p:cNvSpPr/>
          <p:nvPr/>
        </p:nvSpPr>
        <p:spPr>
          <a:xfrm>
            <a:off x="6117336" y="2697480"/>
            <a:ext cx="0" cy="2346960"/>
          </a:xfrm>
          <a:prstGeom prst="line">
            <a:avLst/>
          </a:prstGeom>
          <a:noFill/>
          <a:ln w="25400">
            <a:solidFill>
              <a:srgbClr val="E4E8EE"/>
            </a:solidFill>
            <a:prstDash val="solid"/>
          </a:ln>
        </p:spPr>
      </p:sp>
      <p:sp>
        <p:nvSpPr>
          <p:cNvPr id="20" name="Punto Entro una settimana"/>
          <p:cNvSpPr/>
          <p:nvPr/>
        </p:nvSpPr>
        <p:spPr>
          <a:xfrm>
            <a:off x="5989320" y="262432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Quando Entro una settimana"/>
          <p:cNvSpPr txBox="1"/>
          <p:nvPr/>
        </p:nvSpPr>
        <p:spPr>
          <a:xfrm>
            <a:off x="6492240" y="256032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 una settimana</a:t>
            </a:r>
            <a:endParaRPr lang="en-US" sz="1600" dirty="0"/>
          </a:p>
        </p:txBody>
      </p:sp>
      <p:sp>
        <p:nvSpPr>
          <p:cNvPr id="22" name="Cosa Entro una settimana"/>
          <p:cNvSpPr txBox="1"/>
          <p:nvPr/>
        </p:nvSpPr>
        <p:spPr>
          <a:xfrm>
            <a:off x="6492240" y="290779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il livello 1. Circa 40 minuti, anche in più volte.</a:t>
            </a:r>
            <a:endParaRPr lang="en-US" sz="1500" dirty="0"/>
          </a:p>
        </p:txBody>
      </p:sp>
      <p:sp>
        <p:nvSpPr>
          <p:cNvPr id="23" name="Punto Entro due settimane"/>
          <p:cNvSpPr/>
          <p:nvPr/>
        </p:nvSpPr>
        <p:spPr>
          <a:xfrm>
            <a:off x="5989320" y="379780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Quando Entro due settimane"/>
          <p:cNvSpPr txBox="1"/>
          <p:nvPr/>
        </p:nvSpPr>
        <p:spPr>
          <a:xfrm>
            <a:off x="6492240" y="373380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 due settimane</a:t>
            </a:r>
            <a:endParaRPr lang="en-US" sz="1600" dirty="0"/>
          </a:p>
        </p:txBody>
      </p:sp>
      <p:sp>
        <p:nvSpPr>
          <p:cNvPr id="25" name="Cosa Entro due settimane"/>
          <p:cNvSpPr txBox="1"/>
          <p:nvPr/>
        </p:nvSpPr>
        <p:spPr>
          <a:xfrm>
            <a:off x="6492240" y="408127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la checklist da 22 punti e supera il test. Circa 2 ore di pratica.</a:t>
            </a:r>
            <a:endParaRPr lang="en-US" sz="1500" dirty="0"/>
          </a:p>
        </p:txBody>
      </p:sp>
      <p:sp>
        <p:nvSpPr>
          <p:cNvPr id="26" name="Punto Poi"/>
          <p:cNvSpPr/>
          <p:nvPr/>
        </p:nvSpPr>
        <p:spPr>
          <a:xfrm>
            <a:off x="5989320" y="4971288"/>
            <a:ext cx="256032" cy="256032"/>
          </a:xfrm>
          <a:prstGeom prst="ellipse">
            <a:avLst/>
          </a:prstGeom>
          <a:solidFill>
            <a:srgbClr val="1B4D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Quando Poi"/>
          <p:cNvSpPr txBox="1"/>
          <p:nvPr/>
        </p:nvSpPr>
        <p:spPr>
          <a:xfrm>
            <a:off x="6492240" y="4907280"/>
            <a:ext cx="5013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</a:t>
            </a:r>
            <a:endParaRPr lang="en-US" sz="1600" dirty="0"/>
          </a:p>
        </p:txBody>
      </p:sp>
      <p:sp>
        <p:nvSpPr>
          <p:cNvPr id="28" name="Cosa Poi"/>
          <p:cNvSpPr txBox="1"/>
          <p:nvPr/>
        </p:nvSpPr>
        <p:spPr>
          <a:xfrm>
            <a:off x="6492240" y="5254752"/>
            <a:ext cx="5013655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Parte 2, obbligatoria: regole e processi aziendali. Il livello 2 se sei esposto.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CHIUDERE</a:t>
            </a:r>
            <a:endParaRPr lang="en-US" sz="1200" dirty="0"/>
          </a:p>
        </p:txBody>
      </p:sp>
      <p:sp>
        <p:nvSpPr>
          <p:cNvPr id="3" name="Domande"/>
          <p:cNvSpPr txBox="1"/>
          <p:nvPr/>
        </p:nvSpPr>
        <p:spPr>
          <a:xfrm>
            <a:off x="685800" y="10515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5400" dirty="0"/>
          </a:p>
        </p:txBody>
      </p:sp>
      <p:sp>
        <p:nvSpPr>
          <p:cNvPr id="4" name="Da portare a casa"/>
          <p:cNvSpPr txBox="1"/>
          <p:nvPr/>
        </p:nvSpPr>
        <p:spPr>
          <a:xfrm>
            <a:off x="685800" y="22860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A CASA</a:t>
            </a:r>
            <a:endParaRPr lang="en-US" sz="1200" dirty="0"/>
          </a:p>
        </p:txBody>
      </p:sp>
      <p:pic>
        <p:nvPicPr>
          <p:cNvPr id="5" name="Spunta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61488"/>
            <a:ext cx="329184" cy="329184"/>
          </a:xfrm>
          <a:prstGeom prst="rect">
            <a:avLst/>
          </a:prstGeom>
        </p:spPr>
      </p:pic>
      <p:sp>
        <p:nvSpPr>
          <p:cNvPr id="6" name="Punto 0"/>
          <p:cNvSpPr txBox="1"/>
          <p:nvPr/>
        </p:nvSpPr>
        <p:spPr>
          <a:xfrm>
            <a:off x="1234440" y="269748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numero di telefono e l’email principale sono chiavi: proteggile per prime</a:t>
            </a:r>
            <a:endParaRPr lang="en-US" sz="2100" dirty="0"/>
          </a:p>
        </p:txBody>
      </p:sp>
      <p:pic>
        <p:nvPicPr>
          <p:cNvPr id="7" name="Spun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19856"/>
            <a:ext cx="329184" cy="329184"/>
          </a:xfrm>
          <a:prstGeom prst="rect">
            <a:avLst/>
          </a:prstGeom>
        </p:spPr>
      </p:pic>
      <p:sp>
        <p:nvSpPr>
          <p:cNvPr id="8" name="Punto 1"/>
          <p:cNvSpPr txBox="1"/>
          <p:nvPr/>
        </p:nvSpPr>
        <p:spPr>
          <a:xfrm>
            <a:off x="1234440" y="3355848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 mette fretta ti sta manipolando: fermati e verifica</a:t>
            </a:r>
            <a:endParaRPr lang="en-US" sz="2100" dirty="0"/>
          </a:p>
        </p:txBody>
      </p:sp>
      <p:pic>
        <p:nvPicPr>
          <p:cNvPr id="9" name="Spunta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78224"/>
            <a:ext cx="329184" cy="329184"/>
          </a:xfrm>
          <a:prstGeom prst="rect">
            <a:avLst/>
          </a:prstGeom>
        </p:spPr>
      </p:pic>
      <p:sp>
        <p:nvSpPr>
          <p:cNvPr id="10" name="Punto 2"/>
          <p:cNvSpPr txBox="1"/>
          <p:nvPr/>
        </p:nvSpPr>
        <p:spPr>
          <a:xfrm>
            <a:off x="1234440" y="401421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di scrivere una password, leggi il dominio. Nel dubbio, chiedi</a:t>
            </a:r>
            <a:endParaRPr lang="en-US" sz="2100" dirty="0"/>
          </a:p>
        </p:txBody>
      </p:sp>
      <p:sp>
        <p:nvSpPr>
          <p:cNvPr id="11" name="Se succede"/>
          <p:cNvSpPr/>
          <p:nvPr/>
        </p:nvSpPr>
        <p:spPr>
          <a:xfrm>
            <a:off x="685800" y="4892040"/>
            <a:ext cx="1082009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Telef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66360"/>
            <a:ext cx="411480" cy="411480"/>
          </a:xfrm>
          <a:prstGeom prst="rect">
            <a:avLst/>
          </a:prstGeom>
        </p:spPr>
      </p:pic>
      <p:sp>
        <p:nvSpPr>
          <p:cNvPr id="13" name="Se succede testo"/>
          <p:cNvSpPr txBox="1"/>
          <p:nvPr/>
        </p:nvSpPr>
        <p:spPr>
          <a:xfrm>
            <a:off x="1645920" y="4892040"/>
            <a:ext cx="9585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succede al lavoro: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avvisa subito il referente IT della tua azienda. Prima lo fai, meglio è. Senza vergogna.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dove vengono i dati</a:t>
            </a:r>
            <a:endParaRPr lang="en-US" sz="3400" dirty="0"/>
          </a:p>
        </p:txBody>
      </p:sp>
      <p:sp>
        <p:nvSpPr>
          <p:cNvPr id="4" name="Fonte UFCS, bilancio 2025"/>
          <p:cNvSpPr txBox="1"/>
          <p:nvPr/>
        </p:nvSpPr>
        <p:spPr>
          <a:xfrm>
            <a:off x="685800" y="1828800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UFCS, bilancio 2025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65’000 segnalazioni, finte autorità 26%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bacs.admin.ch</a:t>
            </a:r>
            <a:endParaRPr lang="en-US" sz="1300" dirty="0"/>
          </a:p>
        </p:txBody>
      </p:sp>
      <p:sp>
        <p:nvSpPr>
          <p:cNvPr id="5" name="Fonte Verizon DBIR 2026"/>
          <p:cNvSpPr txBox="1"/>
          <p:nvPr/>
        </p:nvSpPr>
        <p:spPr>
          <a:xfrm>
            <a:off x="685800" y="2670048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delle violazioni passa da una persona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verizon.com</a:t>
            </a:r>
            <a:endParaRPr lang="en-US" sz="1300" dirty="0"/>
          </a:p>
        </p:txBody>
      </p:sp>
      <p:sp>
        <p:nvSpPr>
          <p:cNvPr id="6" name="Fonte Verizon DBIR 2025"/>
          <p:cNvSpPr txBox="1"/>
          <p:nvPr/>
        </p:nvSpPr>
        <p:spPr>
          <a:xfrm>
            <a:off x="685800" y="3511296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 AI nelle email truffa raddoppiato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verizon.com</a:t>
            </a:r>
            <a:endParaRPr lang="en-US" sz="1300" dirty="0"/>
          </a:p>
        </p:txBody>
      </p:sp>
      <p:sp>
        <p:nvSpPr>
          <p:cNvPr id="7" name="Fonte FBI IC3, rapporto 2025"/>
          <p:cNvSpPr txBox="1"/>
          <p:nvPr/>
        </p:nvSpPr>
        <p:spPr>
          <a:xfrm>
            <a:off x="6278728" y="1828800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IC3, rapporto 2025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 miliardi di dollari di perdite denunciate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ic3.gov</a:t>
            </a:r>
            <a:endParaRPr lang="en-US" sz="1300" dirty="0"/>
          </a:p>
        </p:txBody>
      </p:sp>
      <p:sp>
        <p:nvSpPr>
          <p:cNvPr id="8" name="Fonte TechCrunch, 30.08.2019"/>
          <p:cNvSpPr txBox="1"/>
          <p:nvPr/>
        </p:nvSpPr>
        <p:spPr>
          <a:xfrm>
            <a:off x="6278728" y="2670048"/>
            <a:ext cx="5227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TechCrunch, 30.08.2019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l’account di Jack Dorsey e il SIM swap</a:t>
            </a:r>
            <a:endParaRPr lang="en-US" sz="13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2D6C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techcrunch.com</a:t>
            </a:r>
            <a:endParaRPr lang="en-US" sz="1300" dirty="0"/>
          </a:p>
        </p:txBody>
      </p:sp>
      <p:sp>
        <p:nvSpPr>
          <p:cNvPr id="9" name="Nota fonti"/>
          <p:cNvSpPr txBox="1"/>
          <p:nvPr/>
        </p:nvSpPr>
        <p:spPr>
          <a:xfrm>
            <a:off x="685800" y="576072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fonti, con i link, sono anche nell’ultimo capitolo del materiale.</a:t>
            </a:r>
            <a:endParaRPr lang="en-US" sz="1100" dirty="0"/>
          </a:p>
        </p:txBody>
      </p:sp>
      <p:sp>
        <p:nvSpPr>
          <p:cNvPr id="10" name="Crediti"/>
          <p:cNvSpPr txBox="1"/>
          <p:nvPr/>
        </p:nvSpPr>
        <p:spPr>
          <a:xfrm>
            <a:off x="685800" y="6016752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Aron Clementi. Materiale formativo a scopo informativo: non sostituisce una consulenza legale o tecnica né le regole della tua azienda. Fonti verificate alla data indicata; strumenti e prezzi cambiano.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8251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urezza e AI">
  <a:themeElements>
    <a:clrScheme name="Sicurezza e AI">
      <a:dk1>
        <a:srgbClr val="111827"/>
      </a:dk1>
      <a:lt1>
        <a:srgbClr val="FFFFFF"/>
      </a:lt1>
      <a:dk2>
        <a:srgbClr val="1B4D89"/>
      </a:dk2>
      <a:lt2>
        <a:srgbClr val="EAF2FC"/>
      </a:lt2>
      <a:accent1>
        <a:srgbClr val="1B4D89"/>
      </a:accent1>
      <a:accent2>
        <a:srgbClr val="2D6CB5"/>
      </a:accent2>
      <a:accent3>
        <a:srgbClr val="067647"/>
      </a:accent3>
      <a:accent4>
        <a:srgbClr val="A15C07"/>
      </a:accent4>
      <a:accent5>
        <a:srgbClr val="B42318"/>
      </a:accent5>
      <a:accent6>
        <a:srgbClr val="6B7280"/>
      </a:accent6>
      <a:hlink>
        <a:srgbClr val="2D6CB5"/>
      </a:hlink>
      <a:folHlink>
        <a:srgbClr val="1B4D89"/>
      </a:folHlink>
    </a:clrScheme>
    <a:fontScheme name="Sicurezza e A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Sicurezza e AI, materiale formativo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Sicurezza · Parte 1 · Capire e proteggersi</dc:title>
  <dc:subject>PptxGenJS Presentation</dc:subject>
  <dc:creator>Aron Clementi</dc:creator>
  <cp:lastModifiedBy>Aron Clementi</cp:lastModifiedBy>
  <cp:revision>1</cp:revision>
  <dcterms:created xsi:type="dcterms:W3CDTF">2026-10-26T22:21:03Z</dcterms:created>
  <dcterms:modified xsi:type="dcterms:W3CDTF">2026-10-26T22:21:03Z</dcterms:modified>
</cp:coreProperties>
</file>